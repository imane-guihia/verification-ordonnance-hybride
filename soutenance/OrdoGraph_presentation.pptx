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1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2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fa57be7559c4647" /><Relationship Type="http://schemas.openxmlformats.org/officeDocument/2006/relationships/extended-properties" Target="/docProps/app.xml" Id="R4b2c8f133faa4dd9" /><Relationship Type="http://schemas.openxmlformats.org/officeDocument/2006/relationships/officeDocument" Target="/ppt/presentation.xml" Id="Rdf4436e670564b7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781187c096d484f"/>
  </p:sldMasterIdLst>
  <p:notesMasterIdLst>
    <p:notesMasterId xmlns:r="http://schemas.openxmlformats.org/officeDocument/2006/relationships" r:id="R01411445798c4520"/>
  </p:notesMasterIdLst>
  <p:sldIdLst>
    <p:sldId xmlns:r="http://schemas.openxmlformats.org/officeDocument/2006/relationships" id="256" r:id="Rea2f42a580f84a64"/>
    <p:sldId xmlns:r="http://schemas.openxmlformats.org/officeDocument/2006/relationships" id="257" r:id="Reb4d4de23d9f4145"/>
    <p:sldId xmlns:r="http://schemas.openxmlformats.org/officeDocument/2006/relationships" id="258" r:id="R5e5b388e8e28422b"/>
    <p:sldId xmlns:r="http://schemas.openxmlformats.org/officeDocument/2006/relationships" id="259" r:id="R0625152229374753"/>
    <p:sldId xmlns:r="http://schemas.openxmlformats.org/officeDocument/2006/relationships" id="260" r:id="R1cd0f15622144df1"/>
    <p:sldId xmlns:r="http://schemas.openxmlformats.org/officeDocument/2006/relationships" id="261" r:id="R1decd16985824a5b"/>
    <p:sldId xmlns:r="http://schemas.openxmlformats.org/officeDocument/2006/relationships" id="262" r:id="R1957058478514792"/>
    <p:sldId xmlns:r="http://schemas.openxmlformats.org/officeDocument/2006/relationships" id="263" r:id="R12c18e4c3c014daf"/>
    <p:sldId xmlns:r="http://schemas.openxmlformats.org/officeDocument/2006/relationships" id="264" r:id="R4f8631bfafea4d40"/>
    <p:sldId xmlns:r="http://schemas.openxmlformats.org/officeDocument/2006/relationships" id="265" r:id="Ree8518190f7f402e"/>
    <p:sldId xmlns:r="http://schemas.openxmlformats.org/officeDocument/2006/relationships" id="266" r:id="R8cc9566e2df942d8"/>
    <p:sldId xmlns:r="http://schemas.openxmlformats.org/officeDocument/2006/relationships" id="267" r:id="Rc863fafbd741437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48333d3568f4a44" /><Relationship Type="http://schemas.openxmlformats.org/officeDocument/2006/relationships/slideMaster" Target="/ppt/slideMasters/slideMaster1.xml" Id="R5781187c096d484f" /><Relationship Type="http://schemas.openxmlformats.org/officeDocument/2006/relationships/notesMaster" Target="/ppt/notesMasters/notesMaster1.xml" Id="R01411445798c4520" /><Relationship Type="http://schemas.openxmlformats.org/officeDocument/2006/relationships/presProps" Target="/ppt/presProps.xml" Id="R1d9b399589434d4e" /><Relationship Type="http://schemas.openxmlformats.org/officeDocument/2006/relationships/tableStyles" Target="/ppt/tableStyles.xml" Id="R8bee51e982254abc" /><Relationship Type="http://schemas.openxmlformats.org/officeDocument/2006/relationships/slide" Target="/ppt/slides/slide1.xml" Id="Rea2f42a580f84a64" /><Relationship Type="http://schemas.openxmlformats.org/officeDocument/2006/relationships/slide" Target="/ppt/slides/slide2.xml" Id="Reb4d4de23d9f4145" /><Relationship Type="http://schemas.openxmlformats.org/officeDocument/2006/relationships/slide" Target="/ppt/slides/slide3.xml" Id="R5e5b388e8e28422b" /><Relationship Type="http://schemas.openxmlformats.org/officeDocument/2006/relationships/slide" Target="/ppt/slides/slide4.xml" Id="R0625152229374753" /><Relationship Type="http://schemas.openxmlformats.org/officeDocument/2006/relationships/slide" Target="/ppt/slides/slide5.xml" Id="R1cd0f15622144df1" /><Relationship Type="http://schemas.openxmlformats.org/officeDocument/2006/relationships/slide" Target="/ppt/slides/slide6.xml" Id="R1decd16985824a5b" /><Relationship Type="http://schemas.openxmlformats.org/officeDocument/2006/relationships/slide" Target="/ppt/slides/slide7.xml" Id="R1957058478514792" /><Relationship Type="http://schemas.openxmlformats.org/officeDocument/2006/relationships/slide" Target="/ppt/slides/slide8.xml" Id="R12c18e4c3c014daf" /><Relationship Type="http://schemas.openxmlformats.org/officeDocument/2006/relationships/slide" Target="/ppt/slides/slide9.xml" Id="R4f8631bfafea4d40" /><Relationship Type="http://schemas.openxmlformats.org/officeDocument/2006/relationships/slide" Target="/ppt/slides/slide10.xml" Id="Ree8518190f7f402e" /><Relationship Type="http://schemas.openxmlformats.org/officeDocument/2006/relationships/slide" Target="/ppt/slides/slide11.xml" Id="R8cc9566e2df942d8" /><Relationship Type="http://schemas.openxmlformats.org/officeDocument/2006/relationships/slide" Target="/ppt/slides/slide12.xml" Id="Rc863fafbd741437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3324e137cb74ab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f2f062cde76413f" /><Relationship Type="http://schemas.openxmlformats.org/officeDocument/2006/relationships/notesMaster" Target="/ppt/notesMasters/notesMaster1.xml" Id="R7bbb702c28be491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1c9eedc2a904741" /><Relationship Type="http://schemas.openxmlformats.org/officeDocument/2006/relationships/notesMaster" Target="/ppt/notesMasters/notesMaster1.xml" Id="Re01eb600ece4407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8720529130b41e4" /><Relationship Type="http://schemas.openxmlformats.org/officeDocument/2006/relationships/notesMaster" Target="/ppt/notesMasters/notesMaster1.xml" Id="R90c68716859a4a1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e06e253f22849e5" /><Relationship Type="http://schemas.openxmlformats.org/officeDocument/2006/relationships/notesMaster" Target="/ppt/notesMasters/notesMaster1.xml" Id="Raf24138d432243f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b14909f871d4439" /><Relationship Type="http://schemas.openxmlformats.org/officeDocument/2006/relationships/notesMaster" Target="/ppt/notesMasters/notesMaster1.xml" Id="R4b1372cec56849f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555e18680784750" /><Relationship Type="http://schemas.openxmlformats.org/officeDocument/2006/relationships/notesMaster" Target="/ppt/notesMasters/notesMaster1.xml" Id="R5212028b4da84b1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852118899eb4332" /><Relationship Type="http://schemas.openxmlformats.org/officeDocument/2006/relationships/notesMaster" Target="/ppt/notesMasters/notesMaster1.xml" Id="R4996b842b441497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a946b2692494f58" /><Relationship Type="http://schemas.openxmlformats.org/officeDocument/2006/relationships/notesMaster" Target="/ppt/notesMasters/notesMaster1.xml" Id="Re2771eb8c933415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1779f1c58924218" /><Relationship Type="http://schemas.openxmlformats.org/officeDocument/2006/relationships/notesMaster" Target="/ppt/notesMasters/notesMaster1.xml" Id="R51dea05f034047e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7eb9beb72684f3a" /><Relationship Type="http://schemas.openxmlformats.org/officeDocument/2006/relationships/notesMaster" Target="/ppt/notesMasters/notesMaster1.xml" Id="Rc6a91f2f201a494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b9e08835c00459b" /><Relationship Type="http://schemas.openxmlformats.org/officeDocument/2006/relationships/notesMaster" Target="/ppt/notesMasters/notesMaster1.xml" Id="R56b9cf9a31d44de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f71180abe3f4a04" /><Relationship Type="http://schemas.openxmlformats.org/officeDocument/2006/relationships/notesMaster" Target="/ppt/notesMasters/notesMaster1.xml" Id="R8313eba0124640c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281ea9ca1bc4db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004efe2d1234ab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211c4fd2dc422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5b730f13fe41f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53a8dfcee04f1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a62b864dcc4cb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9530FD9-3742-46B0-9666-B00C51A870C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772BBE2-9BCE-4FBD-8401-D81611B1DBF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BE28CD92-3E73-4D45-AC63-0D09A5A4F86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A2C13FA-300F-44EC-A4F3-AFEEF0B25F1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8C4566C-23E6-48C3-BF9E-52515C34616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98F95F4-E93A-4E5A-9A5B-E629BB3B247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7CA972F-90FB-4BD7-87B3-B05C55F3763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BF36293C-48B5-4023-9530-029FDF15571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E67F486-B240-425C-B0EA-8B32215B74A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567FA7D-4B05-40FB-A498-7AC5C25584E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c98ebee83af4ee1" /><Relationship Type="http://schemas.openxmlformats.org/officeDocument/2006/relationships/slideLayout" Target="/ppt/slideLayouts/slideLayout1.xml" Id="Rffdca14fda704e88" /><Relationship Type="http://schemas.openxmlformats.org/officeDocument/2006/relationships/slideLayout" Target="/ppt/slideLayouts/slideLayout2.xml" Id="Ra8db311053694e09" /><Relationship Type="http://schemas.openxmlformats.org/officeDocument/2006/relationships/slideLayout" Target="/ppt/slideLayouts/slideLayout3.xml" Id="R000bec69e73b4c46" /><Relationship Type="http://schemas.openxmlformats.org/officeDocument/2006/relationships/slideLayout" Target="/ppt/slideLayouts/slideLayout4.xml" Id="Rb205dc0725f442f9" /><Relationship Type="http://schemas.openxmlformats.org/officeDocument/2006/relationships/slideLayout" Target="/ppt/slideLayouts/slideLayout5.xml" Id="R13c5012b946146d5" /><Relationship Type="http://schemas.openxmlformats.org/officeDocument/2006/relationships/slideLayout" Target="/ppt/slideLayouts/slideLayout6.xml" Id="R6176ecce6ebf494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fdca14fda704e88"/>
    <p:sldLayoutId xmlns:r="http://schemas.openxmlformats.org/officeDocument/2006/relationships" id="2147483650" r:id="Ra8db311053694e09"/>
    <p:sldLayoutId xmlns:r="http://schemas.openxmlformats.org/officeDocument/2006/relationships" id="2147483651" r:id="R000bec69e73b4c46"/>
    <p:sldLayoutId xmlns:r="http://schemas.openxmlformats.org/officeDocument/2006/relationships" id="2147483652" r:id="Rb205dc0725f442f9"/>
    <p:sldLayoutId xmlns:r="http://schemas.openxmlformats.org/officeDocument/2006/relationships" id="2147483653" r:id="R13c5012b946146d5"/>
    <p:sldLayoutId xmlns:r="http://schemas.openxmlformats.org/officeDocument/2006/relationships" id="2147483654" r:id="R6176ecce6ebf494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75b6c8dfdce4729" /><Relationship Type="http://schemas.openxmlformats.org/officeDocument/2006/relationships/notesSlide" Target="/ppt/notesSlides/notesSlide1.xml" Id="R2ae4031f2638443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d02775b1ec04cd6" /><Relationship Type="http://schemas.openxmlformats.org/officeDocument/2006/relationships/notesSlide" Target="/ppt/notesSlides/notesSlide2.xml" Id="R037118407c2744f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08813e2652d4fce" /><Relationship Type="http://schemas.openxmlformats.org/officeDocument/2006/relationships/notesSlide" Target="/ppt/notesSlides/notesSlide3.xml" Id="R63a5f8f5cc14454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7517b6828a24d22" /><Relationship Type="http://schemas.openxmlformats.org/officeDocument/2006/relationships/notesSlide" Target="/ppt/notesSlides/notesSlide4.xml" Id="R48643c32e557415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7616ccdf067428e" /><Relationship Type="http://schemas.openxmlformats.org/officeDocument/2006/relationships/notesSlide" Target="/ppt/notesSlides/notesSlide5.xml" Id="R23b6f5d35c7c444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5763e1e89334d77" /><Relationship Type="http://schemas.openxmlformats.org/officeDocument/2006/relationships/notesSlide" Target="/ppt/notesSlides/notesSlide6.xml" Id="R69eb8bcc95154eb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7ee7557592c42a2" /><Relationship Type="http://schemas.openxmlformats.org/officeDocument/2006/relationships/notesSlide" Target="/ppt/notesSlides/notesSlide7.xml" Id="Rdd4c68c418a24eb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6a1214f50aa4043" /><Relationship Type="http://schemas.openxmlformats.org/officeDocument/2006/relationships/notesSlide" Target="/ppt/notesSlides/notesSlide8.xml" Id="R42b1ea3cd0bc4da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181311ed3f04350" /><Relationship Type="http://schemas.openxmlformats.org/officeDocument/2006/relationships/chart" Target="/ppt/slides/charts/chart1.xml" Id="Ra99b0f44396f4794" /><Relationship Type="http://schemas.openxmlformats.org/officeDocument/2006/relationships/notesSlide" Target="/ppt/notesSlides/notesSlide9.xml" Id="Re3edca5fa61a4b8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baacf7b248c4f31" /><Relationship Type="http://schemas.openxmlformats.org/officeDocument/2006/relationships/chart" Target="/ppt/slides/charts/chart2.xml" Id="Rcbc50f0ea7394855" /><Relationship Type="http://schemas.openxmlformats.org/officeDocument/2006/relationships/notesSlide" Target="/ppt/notesSlides/notesSlide10.xml" Id="R358ace8872e8470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7b6f53b162b4f08" /><Relationship Type="http://schemas.openxmlformats.org/officeDocument/2006/relationships/notesSlide" Target="/ppt/notesSlides/notesSlide11.xml" Id="R552b4064bb294f8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eae5fcc04bb4173" /><Relationship Type="http://schemas.openxmlformats.org/officeDocument/2006/relationships/notesSlide" Target="/ppt/notesSlides/notesSlide12.xml" Id="R0e4863bee13f4f4c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varyColors val="0"/>
        <c:ser>
          <c:idx val="0"/>
          <c:order val="0"/>
          <c:tx>
            <c:v>F1</c:v>
          </c:tx>
          <c:spPr>
            <a:solidFill xmlns:a="http://schemas.openxmlformats.org/drawingml/2006/main">
              <a:srgbClr val="1D4ED8"/>
            </a:solidFill>
          </c:spPr>
          <c:cat>
            <c:strRef>
              <c:f>'Chart Data'!$A$2:$A$4</c:f>
              <c:strCache>
                <c:ptCount val="3"/>
                <c:pt idx="0">
                  <c:v>Toutes alertes</c:v>
                </c:pt>
                <c:pt idx="1">
                  <c:v>Niveau ≥ modéré</c:v>
                </c:pt>
                <c:pt idx="2">
                  <c:v>Liste de paires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0.902</c:v>
                </c:pt>
                <c:pt idx="1">
                  <c:v>0.936</c:v>
                </c:pt>
                <c:pt idx="2">
                  <c:v>0.333</c:v>
                </c:pt>
              </c:numCache>
            </c:numRef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CBD5E1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varyColors val="0"/>
        <c:ser>
          <c:idx val="0"/>
          <c:order val="0"/>
          <c:tx>
            <c:v>F1</c:v>
          </c:tx>
          <c:spPr>
            <a:solidFill xmlns:a="http://schemas.openxmlformats.org/drawingml/2006/main">
              <a:srgbClr val="0F766E"/>
            </a:solidFill>
          </c:spPr>
          <c:cat>
            <c:strRef>
              <c:f>'Chart Data'!$A$2:$A$5</c:f>
              <c:strCache>
                <c:ptCount val="4"/>
                <c:pt idx="0">
                  <c:v>Complet</c:v>
                </c:pt>
                <c:pt idx="1">
                  <c:v>Sans classes</c:v>
                </c:pt>
                <c:pt idx="2">
                  <c:v>Sans cibles</c:v>
                </c:pt>
                <c:pt idx="3">
                  <c:v>Sans effets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0.902</c:v>
                </c:pt>
                <c:pt idx="1">
                  <c:v>0.486</c:v>
                </c:pt>
                <c:pt idx="2">
                  <c:v>0.902</c:v>
                </c:pt>
                <c:pt idx="3">
                  <c:v>0.936</c:v>
                </c:pt>
              </c:numCache>
            </c:numRef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CBD5E1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92F0A7-B485-4BBC-A2D2-AACA24A2E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0874A2-4DFF-408E-B502-6FA399750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4953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634D61-6DF4-4506-8EBF-2C18DE8C3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857250"/>
            <a:ext cx="23812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2F8A22-53DB-4AD8-A09A-DFCBCD96A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714750"/>
            <a:ext cx="200025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8331A3-273F-4C29-A2AF-919E1E2D8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6191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3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OrdoGraph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F36C26-484E-4C10-A419-9ED5FA88B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05050"/>
            <a:ext cx="5619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>
                <a:solidFill>
                  <a:srgbClr val="DCEBFA"/>
                </a:solidFill>
              </a:defRPr>
            </a:defPPr>
          </a:lstStyle>
          <a:p xmlns:a="http://schemas.openxmlformats.org/drawingml/2006/main">
            <a:pPr>
              <a:defRPr sz="2250">
                <a:solidFill>
                  <a:srgbClr val="DCEBFA"/>
                </a:solidFill>
              </a:defRPr>
            </a:pPr>
            <a:r>
              <a:rPr sz="2250">
                <a:solidFill>
                  <a:srgbClr val="DCEBFA"/>
                </a:solidFill>
              </a:rPr>
              <a:t>Vérification d’ordonnances</a:t>
            </a:r>
          </a:p>
          <a:p xmlns:a="http://schemas.openxmlformats.org/drawingml/2006/main">
            <a:pPr>
              <a:defRPr sz="2250">
                <a:solidFill>
                  <a:srgbClr val="DCEBFA"/>
                </a:solidFill>
              </a:defRPr>
            </a:pPr>
            <a:r>
              <a:rPr sz="2250">
                <a:solidFill>
                  <a:srgbClr val="DCEBFA"/>
                </a:solidFill>
              </a:rPr>
              <a:t>par graphe et règles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4EC1B6-2567-48D8-9D74-11DCDD17B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100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350">
                <a:solidFill>
                  <a:srgbClr val="FFFFFF"/>
                </a:solidFill>
              </a:defRPr>
            </a:pPr>
            <a:r>
              <a:rPr sz="1350">
                <a:solidFill>
                  <a:srgbClr val="FFFFFF"/>
                </a:solidFill>
              </a:rPr>
              <a:t>Hetionet v1.0 · Projet de binôme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602B1D-E64C-418D-9824-BC75807E7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0"/>
            <a:ext cx="523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>
                <a:solidFill>
                  <a:srgbClr val="DCEBFA"/>
                </a:solidFill>
              </a:defRPr>
            </a:defPPr>
          </a:lstStyle>
          <a:p xmlns:a="http://schemas.openxmlformats.org/drawingml/2006/main">
            <a:pPr>
              <a:defRPr sz="1500">
                <a:solidFill>
                  <a:srgbClr val="DCEBFA"/>
                </a:solidFill>
              </a:defRPr>
            </a:pPr>
            <a:r>
              <a:rPr sz="1500">
                <a:solidFill>
                  <a:srgbClr val="DCEBFA"/>
                </a:solidFill>
              </a:rPr>
              <a:t>Une alerte doit être expliquée, sourcée et limitée aux risques pertinents.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69165E-EEEA-45B9-89B3-16577C54B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096000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>
                <a:solidFill>
                  <a:srgbClr val="B9D6F2"/>
                </a:solidFill>
              </a:defRPr>
            </a:defPPr>
          </a:lstStyle>
          <a:p xmlns:a="http://schemas.openxmlformats.org/drawingml/2006/main">
            <a:pPr>
              <a:defRPr sz="1050">
                <a:solidFill>
                  <a:srgbClr val="B9D6F2"/>
                </a:solidFill>
              </a:defRPr>
            </a:pPr>
            <a:r>
              <a:rPr sz="1050">
                <a:solidFill>
                  <a:srgbClr val="B9D6F2"/>
                </a:solidFill>
              </a:rPr>
              <a:t>[Noms des étudiants] · [Date]</a:t>
            </a:r>
          </a:p>
        </p:txBody>
      </p:sp>
    </p:spTree>
    <p:extLst>
      <p:ext uri="{BB962C8B-B14F-4D97-AF65-F5344CB8AC3E}">
        <p14:creationId xmlns:p14="http://schemas.microsoft.com/office/powerpoint/2010/main" val="175833262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68DC89-60AE-4E00-895F-D3913674F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00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02A43"/>
                </a:solidFill>
              </a:defRPr>
            </a:pPr>
            <a:r>
              <a:rPr sz="2400" b="1">
                <a:solidFill>
                  <a:srgbClr val="102A43"/>
                </a:solidFill>
              </a:rPr>
              <a:t>Question clinique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5DD5DC-51D5-49A9-B505-F9EEFCE31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62025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>
                <a:solidFill>
                  <a:srgbClr val="475569"/>
                </a:solidFill>
              </a:defRPr>
            </a:defPPr>
          </a:lstStyle>
          <a:p xmlns:a="http://schemas.openxmlformats.org/drawingml/2006/main">
            <a:pPr>
              <a:defRPr sz="1125">
                <a:solidFill>
                  <a:srgbClr val="475569"/>
                </a:solidFill>
              </a:defRPr>
            </a:pPr>
            <a:r>
              <a:rPr sz="1125">
                <a:solidFill>
                  <a:srgbClr val="475569"/>
                </a:solidFill>
              </a:rPr>
              <a:t>Signaler les associations à risque sans noyer le prescripteur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115E30-D019-4018-B866-8C0E7A626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04925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CC5800-17A5-45AE-A271-99F72F372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62125"/>
            <a:ext cx="590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02A43"/>
                </a:solidFill>
              </a:defRPr>
            </a:pPr>
            <a:r>
              <a:rPr sz="2025" b="1">
                <a:solidFill>
                  <a:srgbClr val="102A43"/>
                </a:solidFill>
              </a:rPr>
              <a:t>Une ordonnance contient plusieurs médicaments.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99B970-56D1-4BC0-857C-3B17C1C64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28875"/>
            <a:ext cx="171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EA5E9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EA5E9"/>
                </a:solidFill>
              </a:defRPr>
            </a:pPr>
            <a:r>
              <a:rPr sz="1500" b="1">
                <a:solidFill>
                  <a:srgbClr val="0EA5E9"/>
                </a:solidFill>
              </a:rPr>
              <a:t>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CE7EEC-6644-4B70-8747-780CE62CB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428875"/>
            <a:ext cx="4724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>
                <a:solidFill>
                  <a:srgbClr val="1F2937"/>
                </a:solidFill>
              </a:defRPr>
            </a:defPPr>
          </a:lstStyle>
          <a:p xmlns:a="http://schemas.openxmlformats.org/drawingml/2006/main">
            <a:pPr>
              <a:defRPr sz="1350">
                <a:solidFill>
                  <a:srgbClr val="1F2937"/>
                </a:solidFill>
              </a:defRPr>
            </a:pPr>
            <a:r>
              <a:rPr sz="1350">
                <a:solidFill>
                  <a:srgbClr val="1F2937"/>
                </a:solidFill>
              </a:rPr>
              <a:t>Détecter les paires à risque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4C0A18-430D-4E63-AB9E-BAB5837FE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95625"/>
            <a:ext cx="171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EA5E9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EA5E9"/>
                </a:solidFill>
              </a:defRPr>
            </a:pPr>
            <a:r>
              <a:rPr sz="1500" b="1">
                <a:solidFill>
                  <a:srgbClr val="0EA5E9"/>
                </a:solidFill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496BED-77EC-4182-A8B5-12CA42D37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095625"/>
            <a:ext cx="4724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>
                <a:solidFill>
                  <a:srgbClr val="1F2937"/>
                </a:solidFill>
              </a:defRPr>
            </a:defPPr>
          </a:lstStyle>
          <a:p xmlns:a="http://schemas.openxmlformats.org/drawingml/2006/main">
            <a:pPr>
              <a:defRPr sz="1350">
                <a:solidFill>
                  <a:srgbClr val="1F2937"/>
                </a:solidFill>
              </a:defRPr>
            </a:pPr>
            <a:r>
              <a:rPr sz="1350">
                <a:solidFill>
                  <a:srgbClr val="1F2937"/>
                </a:solidFill>
              </a:rPr>
              <a:t>Hiérarchiser les alertes par gravité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DD2623-7773-46B0-B98C-0606517F7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62375"/>
            <a:ext cx="171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EA5E9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EA5E9"/>
                </a:solidFill>
              </a:defRPr>
            </a:pPr>
            <a:r>
              <a:rPr sz="1500" b="1">
                <a:solidFill>
                  <a:srgbClr val="0EA5E9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ABBD53-2ED3-4F60-A3D5-3A452291F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762375"/>
            <a:ext cx="5200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>
                <a:solidFill>
                  <a:srgbClr val="1F2937"/>
                </a:solidFill>
              </a:defRPr>
            </a:defPPr>
          </a:lstStyle>
          <a:p xmlns:a="http://schemas.openxmlformats.org/drawingml/2006/main">
            <a:pPr>
              <a:defRPr sz="1350">
                <a:solidFill>
                  <a:srgbClr val="1F2937"/>
                </a:solidFill>
              </a:defRPr>
            </a:pPr>
            <a:r>
              <a:rPr sz="1350">
                <a:solidFill>
                  <a:srgbClr val="1F2937"/>
                </a:solidFill>
              </a:rPr>
              <a:t>Expliquer chaque alerte avec un chemin du graphe et une source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5AE3E7-7164-42AD-9722-489A0047F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866900"/>
            <a:ext cx="3714750" cy="3000375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389949-6587-4E5D-8488-2A9B5B440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1907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D4ED8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1D4ED8"/>
                </a:solidFill>
              </a:defRPr>
            </a:pPr>
            <a:r>
              <a:rPr sz="1650" b="1">
                <a:solidFill>
                  <a:srgbClr val="1D4ED8"/>
                </a:solidFill>
              </a:rPr>
              <a:t>Exemple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82037B-7AA1-467C-A386-9EC2801C9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714625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02A43"/>
                </a:solidFill>
              </a:defRPr>
            </a:pPr>
            <a:r>
              <a:rPr sz="1800" b="1">
                <a:solidFill>
                  <a:srgbClr val="102A43"/>
                </a:solidFill>
              </a:rPr>
              <a:t>Warfarin + Ibuprofen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725355-6149-4687-9897-10C7C0E21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333750"/>
            <a:ext cx="2571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>
                <a:solidFill>
                  <a:srgbClr val="B42318"/>
                </a:solidFill>
              </a:defRPr>
            </a:defPPr>
          </a:lstStyle>
          <a:p xmlns:a="http://schemas.openxmlformats.org/drawingml/2006/main">
            <a:pPr>
              <a:defRPr sz="1575">
                <a:solidFill>
                  <a:srgbClr val="B42318"/>
                </a:solidFill>
              </a:defRPr>
            </a:pPr>
            <a:r>
              <a:rPr sz="1575">
                <a:solidFill>
                  <a:srgbClr val="B42318"/>
                </a:solidFill>
              </a:rPr>
              <a:t>Alerte majeure</a:t>
            </a:r>
          </a:p>
          <a:p xmlns:a="http://schemas.openxmlformats.org/drawingml/2006/main">
            <a:pPr>
              <a:defRPr sz="1575">
                <a:solidFill>
                  <a:srgbClr val="B42318"/>
                </a:solidFill>
              </a:defRPr>
            </a:pPr>
            <a:r>
              <a:rPr sz="1575">
                <a:solidFill>
                  <a:srgbClr val="B42318"/>
                </a:solidFill>
              </a:rPr>
              <a:t>Risque hémorragique</a:t>
            </a:r>
          </a:p>
          <a:p xmlns:a="http://schemas.openxmlformats.org/drawingml/2006/main">
            <a:pPr>
              <a:defRPr sz="1575">
                <a:solidFill>
                  <a:srgbClr val="B42318"/>
                </a:solidFill>
              </a:defRPr>
            </a:pPr>
            <a:r>
              <a:rPr sz="1575">
                <a:solidFill>
                  <a:srgbClr val="B42318"/>
                </a:solidFill>
              </a:rPr>
              <a:t>Règle R1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027490-E26D-4C03-AD6E-4A851512D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34050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i="1">
                <a:solidFill>
                  <a:srgbClr val="475569"/>
                </a:solidFill>
              </a:defRPr>
            </a:defPPr>
          </a:lstStyle>
          <a:p xmlns:a="http://schemas.openxmlformats.org/drawingml/2006/main">
            <a:pPr>
              <a:defRPr sz="900" i="1">
                <a:solidFill>
                  <a:srgbClr val="475569"/>
                </a:solidFill>
              </a:defRPr>
            </a:pPr>
            <a:r>
              <a:rPr sz="900" i="1">
                <a:solidFill>
                  <a:srgbClr val="475569"/>
                </a:solidFill>
              </a:rPr>
              <a:t>Prototype pédagogique : il ne remplace pas une décision clinique.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4C0532-7316-4898-AD5F-D6199ABDD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>
                <a:solidFill>
                  <a:srgbClr val="475569"/>
                </a:solidFill>
              </a:defRPr>
            </a:defPPr>
          </a:lstStyle>
          <a:p xmlns:a="http://schemas.openxmlformats.org/drawingml/2006/main">
            <a:pPr>
              <a:defRPr sz="825">
                <a:solidFill>
                  <a:srgbClr val="475569"/>
                </a:solidFill>
              </a:defRPr>
            </a:pPr>
            <a:r>
              <a:rPr sz="825">
                <a:solidFill>
                  <a:srgbClr val="475569"/>
                </a:solidFill>
              </a:rPr>
              <a:t>OrdoGraph · Projet de vérification d’ordonnance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8EA2D3-D35F-426E-9F49-46516AFAB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77000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>
                <a:solidFill>
                  <a:srgbClr val="475569"/>
                </a:solidFill>
              </a:defRPr>
            </a:defPPr>
          </a:lstStyle>
          <a:p xmlns:a="http://schemas.openxmlformats.org/drawingml/2006/main">
            <a:pPr>
              <a:defRPr sz="825">
                <a:solidFill>
                  <a:srgbClr val="475569"/>
                </a:solidFill>
              </a:defRPr>
            </a:pPr>
            <a:r>
              <a:rPr sz="825">
                <a:solidFill>
                  <a:srgbClr val="475569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44559125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A5BD86D-3BA2-47C6-BB57-81135AAE4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00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02A43"/>
                </a:solidFill>
              </a:defRPr>
            </a:pPr>
            <a:r>
              <a:rPr sz="2400" b="1">
                <a:solidFill>
                  <a:srgbClr val="102A43"/>
                </a:solidFill>
              </a:rPr>
              <a:t>Données : Hetionet v1.0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78E539-736A-4DD9-99E1-E5A1E6A40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62025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>
                <a:solidFill>
                  <a:srgbClr val="475569"/>
                </a:solidFill>
              </a:defRPr>
            </a:defPPr>
          </a:lstStyle>
          <a:p xmlns:a="http://schemas.openxmlformats.org/drawingml/2006/main">
            <a:pPr>
              <a:defRPr sz="1125">
                <a:solidFill>
                  <a:srgbClr val="475569"/>
                </a:solidFill>
              </a:defRPr>
            </a:pPr>
            <a:r>
              <a:rPr sz="1125">
                <a:solidFill>
                  <a:srgbClr val="475569"/>
                </a:solidFill>
              </a:rPr>
              <a:t>Un graphe biomédical public avec 47 031 nœuds et 2 250 197 relations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91470F-33F2-4F9F-A36B-FF858CA14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04925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D6A2D2-573F-49D0-90D4-46276B06E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38375"/>
            <a:ext cx="2000250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967020-DA35-4C76-9253-5B13147D9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76500"/>
            <a:ext cx="1571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D4ED8"/>
                </a:solidFill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1D4ED8"/>
                </a:solidFill>
              </a:defRPr>
            </a:pPr>
            <a:r>
              <a:rPr sz="1725" b="1">
                <a:solidFill>
                  <a:srgbClr val="1D4ED8"/>
                </a:solidFill>
              </a:rPr>
              <a:t>Compound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C9C4D0-A294-4959-A36E-E4C3959CF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05125"/>
            <a:ext cx="1571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>
                <a:solidFill>
                  <a:srgbClr val="475569"/>
                </a:solidFill>
              </a:defRPr>
            </a:defPPr>
          </a:lstStyle>
          <a:p xmlns:a="http://schemas.openxmlformats.org/drawingml/2006/main">
            <a:pPr>
              <a:defRPr sz="1275">
                <a:solidFill>
                  <a:srgbClr val="475569"/>
                </a:solidFill>
              </a:defRPr>
            </a:pPr>
            <a:r>
              <a:rPr sz="1275">
                <a:solidFill>
                  <a:srgbClr val="475569"/>
                </a:solidFill>
              </a:rPr>
              <a:t>Médicaments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C5C7D9-52DE-44CD-83E1-D4EB713FC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238375"/>
            <a:ext cx="2000250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BD459F-AAAC-43D3-868E-E9D9C65E7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476500"/>
            <a:ext cx="1571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D4ED8"/>
                </a:solidFill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1D4ED8"/>
                </a:solidFill>
              </a:defRPr>
            </a:pPr>
            <a:r>
              <a:rPr sz="1725" b="1">
                <a:solidFill>
                  <a:srgbClr val="1D4ED8"/>
                </a:solidFill>
              </a:rPr>
              <a:t>PCiC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91AB0A-32B0-4012-8AA5-DE4C3A542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905125"/>
            <a:ext cx="1571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>
                <a:solidFill>
                  <a:srgbClr val="475569"/>
                </a:solidFill>
              </a:defRPr>
            </a:defPPr>
          </a:lstStyle>
          <a:p xmlns:a="http://schemas.openxmlformats.org/drawingml/2006/main">
            <a:pPr>
              <a:defRPr sz="1275">
                <a:solidFill>
                  <a:srgbClr val="475569"/>
                </a:solidFill>
              </a:defRPr>
            </a:pPr>
            <a:r>
              <a:rPr sz="1275">
                <a:solidFill>
                  <a:srgbClr val="475569"/>
                </a:solidFill>
              </a:rPr>
              <a:t>Classes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9B9813-FF52-4586-84A7-41C7DD52A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238375"/>
            <a:ext cx="2000250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F0EECA-7CE3-4E97-B703-3866DE280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476500"/>
            <a:ext cx="1571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D4ED8"/>
                </a:solidFill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1D4ED8"/>
                </a:solidFill>
              </a:defRPr>
            </a:pPr>
            <a:r>
              <a:rPr sz="1725" b="1">
                <a:solidFill>
                  <a:srgbClr val="1D4ED8"/>
                </a:solidFill>
              </a:rPr>
              <a:t>CbG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2FBCF2-FF1A-4F0D-B5F1-C0016E07D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905125"/>
            <a:ext cx="1571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>
                <a:solidFill>
                  <a:srgbClr val="475569"/>
                </a:solidFill>
              </a:defRPr>
            </a:defPPr>
          </a:lstStyle>
          <a:p xmlns:a="http://schemas.openxmlformats.org/drawingml/2006/main">
            <a:pPr>
              <a:defRPr sz="1275">
                <a:solidFill>
                  <a:srgbClr val="475569"/>
                </a:solidFill>
              </a:defRPr>
            </a:pPr>
            <a:r>
              <a:rPr sz="1275">
                <a:solidFill>
                  <a:srgbClr val="475569"/>
                </a:solidFill>
              </a:rPr>
              <a:t>Cibles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B9325F-707F-4B6A-93A9-AA6D9CDE1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238375"/>
            <a:ext cx="2000250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D5F263-A8CC-4DA8-BDFE-A5B82894A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476500"/>
            <a:ext cx="1571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D4ED8"/>
                </a:solidFill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1D4ED8"/>
                </a:solidFill>
              </a:defRPr>
            </a:pPr>
            <a:r>
              <a:rPr sz="1725" b="1">
                <a:solidFill>
                  <a:srgbClr val="1D4ED8"/>
                </a:solidFill>
              </a:rPr>
              <a:t>CcSE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FE0553-B2D3-4DB4-B885-AC0CA958A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905125"/>
            <a:ext cx="1571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>
                <a:solidFill>
                  <a:srgbClr val="475569"/>
                </a:solidFill>
              </a:defRPr>
            </a:defPPr>
          </a:lstStyle>
          <a:p xmlns:a="http://schemas.openxmlformats.org/drawingml/2006/main">
            <a:pPr>
              <a:defRPr sz="1275">
                <a:solidFill>
                  <a:srgbClr val="475569"/>
                </a:solidFill>
              </a:defRPr>
            </a:pPr>
            <a:r>
              <a:rPr sz="1275">
                <a:solidFill>
                  <a:srgbClr val="475569"/>
                </a:solidFill>
              </a:rPr>
              <a:t>Effets indésirables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AC45D5-50D9-46A1-A056-7C496FB78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02A43"/>
                </a:solidFill>
              </a:defRPr>
            </a:pPr>
            <a:r>
              <a:rPr sz="1875" b="1">
                <a:solidFill>
                  <a:srgbClr val="102A43"/>
                </a:solidFill>
              </a:rPr>
              <a:t>Sous-graphe utilisé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1DCBC6-0694-4B1C-8987-887783408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91050"/>
            <a:ext cx="171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EA5E9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EA5E9"/>
                </a:solidFill>
              </a:defRPr>
            </a:pPr>
            <a:r>
              <a:rPr sz="1500" b="1">
                <a:solidFill>
                  <a:srgbClr val="0EA5E9"/>
                </a:solidFill>
              </a:rPr>
              <a:t>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1E8F6B-633F-49FA-82AC-F05B68B69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91050"/>
            <a:ext cx="5962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>
                <a:solidFill>
                  <a:srgbClr val="1F2937"/>
                </a:solidFill>
              </a:defRPr>
            </a:defPPr>
          </a:lstStyle>
          <a:p xmlns:a="http://schemas.openxmlformats.org/drawingml/2006/main">
            <a:pPr>
              <a:defRPr sz="1350">
                <a:solidFill>
                  <a:srgbClr val="1F2937"/>
                </a:solidFill>
              </a:defRPr>
            </a:pPr>
            <a:r>
              <a:rPr sz="1350">
                <a:solidFill>
                  <a:srgbClr val="1F2937"/>
                </a:solidFill>
              </a:rPr>
              <a:t>PCiC : relie une classe pharmacologique à un médicament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7651EA-1B5B-4832-9A71-F94AD667F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14925"/>
            <a:ext cx="171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EA5E9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EA5E9"/>
                </a:solidFill>
              </a:defRPr>
            </a:pPr>
            <a:r>
              <a:rPr sz="1500" b="1">
                <a:solidFill>
                  <a:srgbClr val="0EA5E9"/>
                </a:solidFill>
              </a:rPr>
              <a:t>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10638CB-D385-4D14-AFC2-2E1239C50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114925"/>
            <a:ext cx="5962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>
                <a:solidFill>
                  <a:srgbClr val="1F2937"/>
                </a:solidFill>
              </a:defRPr>
            </a:defPPr>
          </a:lstStyle>
          <a:p xmlns:a="http://schemas.openxmlformats.org/drawingml/2006/main">
            <a:pPr>
              <a:defRPr sz="1350">
                <a:solidFill>
                  <a:srgbClr val="1F2937"/>
                </a:solidFill>
              </a:defRPr>
            </a:pPr>
            <a:r>
              <a:rPr sz="1350">
                <a:solidFill>
                  <a:srgbClr val="1F2937"/>
                </a:solidFill>
              </a:rPr>
              <a:t>CbG : relie un médicament à une cible génétique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91240BA-8FA5-4E22-98B6-306EA545C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38800"/>
            <a:ext cx="171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EA5E9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EA5E9"/>
                </a:solidFill>
              </a:defRPr>
            </a:pPr>
            <a:r>
              <a:rPr sz="1500" b="1">
                <a:solidFill>
                  <a:srgbClr val="0EA5E9"/>
                </a:solidFill>
              </a:rPr>
              <a:t>•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E516617-CF41-46A6-8A7D-D289F761C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638800"/>
            <a:ext cx="5962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>
                <a:solidFill>
                  <a:srgbClr val="1F2937"/>
                </a:solidFill>
              </a:defRPr>
            </a:defPPr>
          </a:lstStyle>
          <a:p xmlns:a="http://schemas.openxmlformats.org/drawingml/2006/main">
            <a:pPr>
              <a:defRPr sz="1350">
                <a:solidFill>
                  <a:srgbClr val="1F2937"/>
                </a:solidFill>
              </a:defRPr>
            </a:pPr>
            <a:r>
              <a:rPr sz="1350">
                <a:solidFill>
                  <a:srgbClr val="1F2937"/>
                </a:solidFill>
              </a:rPr>
              <a:t>CcSE : relie un médicament à un effet indésirable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048C9C0-ACD7-4C7B-861C-7B443B94D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619625"/>
            <a:ext cx="3714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>
                <a:solidFill>
                  <a:srgbClr val="475569"/>
                </a:solidFill>
              </a:defRPr>
            </a:defPPr>
          </a:lstStyle>
          <a:p xmlns:a="http://schemas.openxmlformats.org/drawingml/2006/main">
            <a:pPr>
              <a:defRPr sz="1350">
                <a:solidFill>
                  <a:srgbClr val="475569"/>
                </a:solidFill>
              </a:defRPr>
            </a:pPr>
            <a:r>
              <a:rPr sz="1350">
                <a:solidFill>
                  <a:srgbClr val="475569"/>
                </a:solidFill>
              </a:rPr>
              <a:t>CtD est conservé, mais une maladie traitée en commun ne déclenche pas d’alerte.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A002AC8-5C74-4505-985F-B38CB54C2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>
                <a:solidFill>
                  <a:srgbClr val="475569"/>
                </a:solidFill>
              </a:defRPr>
            </a:defPPr>
          </a:lstStyle>
          <a:p xmlns:a="http://schemas.openxmlformats.org/drawingml/2006/main">
            <a:pPr>
              <a:defRPr sz="825">
                <a:solidFill>
                  <a:srgbClr val="475569"/>
                </a:solidFill>
              </a:defRPr>
            </a:pPr>
            <a:r>
              <a:rPr sz="825">
                <a:solidFill>
                  <a:srgbClr val="475569"/>
                </a:solidFill>
              </a:rPr>
              <a:t>OrdoGraph · Projet de vérification d’ordonnance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9D6B668-B6D8-442F-B155-69B043626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77000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>
                <a:solidFill>
                  <a:srgbClr val="475569"/>
                </a:solidFill>
              </a:defRPr>
            </a:defPPr>
          </a:lstStyle>
          <a:p xmlns:a="http://schemas.openxmlformats.org/drawingml/2006/main">
            <a:pPr>
              <a:defRPr sz="825">
                <a:solidFill>
                  <a:srgbClr val="475569"/>
                </a:solidFill>
              </a:defRPr>
            </a:pPr>
            <a:r>
              <a:rPr sz="825">
                <a:solidFill>
                  <a:srgbClr val="475569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2839370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536853A-2908-40D2-8012-187040248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00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02A43"/>
                </a:solidFill>
              </a:defRPr>
            </a:pPr>
            <a:r>
              <a:rPr sz="2400" b="1">
                <a:solidFill>
                  <a:srgbClr val="102A43"/>
                </a:solidFill>
              </a:rPr>
              <a:t>Architecture du système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C6EB9D-3467-4FC9-93B6-AB9754771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62025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>
                <a:solidFill>
                  <a:srgbClr val="475569"/>
                </a:solidFill>
              </a:defRPr>
            </a:defPPr>
          </a:lstStyle>
          <a:p xmlns:a="http://schemas.openxmlformats.org/drawingml/2006/main">
            <a:pPr>
              <a:defRPr sz="1125">
                <a:solidFill>
                  <a:srgbClr val="475569"/>
                </a:solidFill>
              </a:defRPr>
            </a:pPr>
            <a:r>
              <a:rPr sz="1125">
                <a:solidFill>
                  <a:srgbClr val="475569"/>
                </a:solidFill>
              </a:rPr>
              <a:t>Le graphe apporte les propriétés. Les règles prennent la décision.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991E8B-5508-477C-98AC-D7B704ECB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04925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2A7D30-59D8-4987-98E2-2D0479611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476500"/>
            <a:ext cx="1762125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16A7BD-77F8-48CA-994D-9A9EB4855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667000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0EA5E9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0EA5E9"/>
                </a:solidFill>
              </a:defRPr>
            </a:pPr>
            <a:r>
              <a:rPr sz="1800" b="1">
                <a:solidFill>
                  <a:srgbClr val="0EA5E9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C35ED4-3DAD-404F-ACF4-45312D5E2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095625"/>
            <a:ext cx="1381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102A43"/>
                </a:solidFill>
              </a:defRPr>
            </a:pPr>
            <a:r>
              <a:rPr sz="1425" b="1">
                <a:solidFill>
                  <a:srgbClr val="102A43"/>
                </a:solidFill>
              </a:rPr>
              <a:t>Ordonnance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828425-E00C-4726-83BD-C9A9B1404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476625"/>
            <a:ext cx="142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475569"/>
                </a:solidFill>
              </a:defRPr>
            </a:defPPr>
          </a:lstStyle>
          <a:p xmlns:a="http://schemas.openxmlformats.org/drawingml/2006/main">
            <a:pPr>
              <a:defRPr sz="1200">
                <a:solidFill>
                  <a:srgbClr val="475569"/>
                </a:solidFill>
              </a:defRPr>
            </a:pPr>
            <a:r>
              <a:rPr sz="1200">
                <a:solidFill>
                  <a:srgbClr val="475569"/>
                </a:solidFill>
              </a:rPr>
              <a:t>Warfarin</a:t>
            </a:r>
          </a:p>
          <a:p xmlns:a="http://schemas.openxmlformats.org/drawingml/2006/main">
            <a:pPr>
              <a:defRPr sz="1200">
                <a:solidFill>
                  <a:srgbClr val="475569"/>
                </a:solidFill>
              </a:defRPr>
            </a:pPr>
            <a:r>
              <a:rPr sz="1200">
                <a:solidFill>
                  <a:srgbClr val="475569"/>
                </a:solidFill>
              </a:rPr>
              <a:t>Ibuprofen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F5C4FD-FF98-4B87-8B31-BA981CAF8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3095625"/>
            <a:ext cx="333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D4ED8"/>
                </a:solidFill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D4ED8"/>
                </a:solidFill>
              </a:defRPr>
            </a:pPr>
            <a:r>
              <a:rPr sz="2025" b="1">
                <a:solidFill>
                  <a:srgbClr val="1D4ED8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710330-BA28-47C9-8C64-0D21B32E5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476500"/>
            <a:ext cx="1762125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E0EDCE-7765-4246-8065-A81297362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667000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0EA5E9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0EA5E9"/>
                </a:solidFill>
              </a:defRPr>
            </a:pPr>
            <a:r>
              <a:rPr sz="1800" b="1">
                <a:solidFill>
                  <a:srgbClr val="0EA5E9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E16DF4-BCCB-4212-ABE3-8CAC0B4A9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095625"/>
            <a:ext cx="1381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102A43"/>
                </a:solidFill>
              </a:defRPr>
            </a:pPr>
            <a:r>
              <a:rPr sz="1425" b="1">
                <a:solidFill>
                  <a:srgbClr val="102A43"/>
                </a:solidFill>
              </a:rPr>
              <a:t>Normalisation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F45AA6-594B-4765-8C9D-4B336A374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476625"/>
            <a:ext cx="142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475569"/>
                </a:solidFill>
              </a:defRPr>
            </a:defPPr>
          </a:lstStyle>
          <a:p xmlns:a="http://schemas.openxmlformats.org/drawingml/2006/main">
            <a:pPr>
              <a:defRPr sz="1200">
                <a:solidFill>
                  <a:srgbClr val="475569"/>
                </a:solidFill>
              </a:defRPr>
            </a:pPr>
            <a:r>
              <a:rPr sz="1200">
                <a:solidFill>
                  <a:srgbClr val="475569"/>
                </a:solidFill>
              </a:rPr>
              <a:t>synonymes</a:t>
            </a:r>
          </a:p>
          <a:p xmlns:a="http://schemas.openxmlformats.org/drawingml/2006/main">
            <a:pPr>
              <a:defRPr sz="1200">
                <a:solidFill>
                  <a:srgbClr val="475569"/>
                </a:solidFill>
              </a:defRPr>
            </a:pPr>
            <a:r>
              <a:rPr sz="1200">
                <a:solidFill>
                  <a:srgbClr val="475569"/>
                </a:solidFill>
              </a:rPr>
              <a:t>vers Hetionet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2BF21A-253B-4EAE-9357-2A8F839D8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095625"/>
            <a:ext cx="333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D4ED8"/>
                </a:solidFill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D4ED8"/>
                </a:solidFill>
              </a:defRPr>
            </a:pPr>
            <a:r>
              <a:rPr sz="2025" b="1">
                <a:solidFill>
                  <a:srgbClr val="1D4ED8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E8F04E-7523-4DE0-A573-E91C6881A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476500"/>
            <a:ext cx="1762125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A42CD1-4996-4230-8B5D-893908226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2667000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0EA5E9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0EA5E9"/>
                </a:solidFill>
              </a:defRPr>
            </a:pPr>
            <a:r>
              <a:rPr sz="1800" b="1">
                <a:solidFill>
                  <a:srgbClr val="0EA5E9"/>
                </a:solidFill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076002-A96F-4909-87EC-337752537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3095625"/>
            <a:ext cx="1381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102A43"/>
                </a:solidFill>
              </a:defRPr>
            </a:pPr>
            <a:r>
              <a:rPr sz="1425" b="1">
                <a:solidFill>
                  <a:srgbClr val="102A43"/>
                </a:solidFill>
              </a:rPr>
              <a:t>Recherche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2DEB69-DB26-49D8-9E47-9DC78E505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3476625"/>
            <a:ext cx="142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475569"/>
                </a:solidFill>
              </a:defRPr>
            </a:defPPr>
          </a:lstStyle>
          <a:p xmlns:a="http://schemas.openxmlformats.org/drawingml/2006/main">
            <a:pPr>
              <a:defRPr sz="1200">
                <a:solidFill>
                  <a:srgbClr val="475569"/>
                </a:solidFill>
              </a:defRPr>
            </a:pPr>
            <a:r>
              <a:rPr sz="1200">
                <a:solidFill>
                  <a:srgbClr val="475569"/>
                </a:solidFill>
              </a:rPr>
              <a:t>classes, cibles</a:t>
            </a:r>
          </a:p>
          <a:p xmlns:a="http://schemas.openxmlformats.org/drawingml/2006/main">
            <a:pPr>
              <a:defRPr sz="1200">
                <a:solidFill>
                  <a:srgbClr val="475569"/>
                </a:solidFill>
              </a:defRPr>
            </a:pPr>
            <a:r>
              <a:rPr sz="1200">
                <a:solidFill>
                  <a:srgbClr val="475569"/>
                </a:solidFill>
              </a:rPr>
              <a:t>et effets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D2B5A8-0305-474C-91C3-136967FDE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3095625"/>
            <a:ext cx="333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D4ED8"/>
                </a:solidFill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D4ED8"/>
                </a:solidFill>
              </a:defRPr>
            </a:pPr>
            <a:r>
              <a:rPr sz="2025" b="1">
                <a:solidFill>
                  <a:srgbClr val="1D4ED8"/>
                </a:solidFill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820FF0-C48D-4CF4-A2D9-42F68AD8C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476500"/>
            <a:ext cx="1762125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919A20-ACDC-47F3-99AF-01B6C13F8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667000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0EA5E9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0EA5E9"/>
                </a:solidFill>
              </a:defRPr>
            </a:pPr>
            <a:r>
              <a:rPr sz="1800" b="1">
                <a:solidFill>
                  <a:srgbClr val="0EA5E9"/>
                </a:solidFill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64E7CDF-73CA-4D66-B61F-ABA5268B9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095625"/>
            <a:ext cx="1381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102A43"/>
                </a:solidFill>
              </a:defRPr>
            </a:pPr>
            <a:r>
              <a:rPr sz="1425" b="1">
                <a:solidFill>
                  <a:srgbClr val="102A43"/>
                </a:solidFill>
              </a:rPr>
              <a:t>Règles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D35681-55C3-43E4-BFAD-88561129A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476625"/>
            <a:ext cx="142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475569"/>
                </a:solidFill>
              </a:defRPr>
            </a:defPPr>
          </a:lstStyle>
          <a:p xmlns:a="http://schemas.openxmlformats.org/drawingml/2006/main">
            <a:pPr>
              <a:defRPr sz="1200">
                <a:solidFill>
                  <a:srgbClr val="475569"/>
                </a:solidFill>
              </a:defRPr>
            </a:pPr>
            <a:r>
              <a:rPr sz="1200">
                <a:solidFill>
                  <a:srgbClr val="475569"/>
                </a:solidFill>
              </a:rPr>
              <a:t>condition</a:t>
            </a:r>
          </a:p>
          <a:p xmlns:a="http://schemas.openxmlformats.org/drawingml/2006/main">
            <a:pPr>
              <a:defRPr sz="1200">
                <a:solidFill>
                  <a:srgbClr val="475569"/>
                </a:solidFill>
              </a:defRPr>
            </a:pPr>
            <a:r>
              <a:rPr sz="1200">
                <a:solidFill>
                  <a:srgbClr val="475569"/>
                </a:solidFill>
              </a:rPr>
              <a:t>satisfaite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1E29DC2-0ED4-4A2A-9D4D-D12C511D1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095625"/>
            <a:ext cx="333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D4ED8"/>
                </a:solidFill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D4ED8"/>
                </a:solidFill>
              </a:defRPr>
            </a:pPr>
            <a:r>
              <a:rPr sz="2025" b="1">
                <a:solidFill>
                  <a:srgbClr val="1D4ED8"/>
                </a:solidFill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2238F6B-96F1-4531-BE07-7909816C0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476500"/>
            <a:ext cx="1762125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EE4E2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800B43C-BBEB-442B-88CA-9209D4632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2667000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0EA5E9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0EA5E9"/>
                </a:solidFill>
              </a:defRPr>
            </a:pPr>
            <a:r>
              <a:rPr sz="1800" b="1">
                <a:solidFill>
                  <a:srgbClr val="0EA5E9"/>
                </a:solidFill>
              </a:rPr>
              <a:t>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E576C6E-2878-4995-80DB-2149AD8D3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3095625"/>
            <a:ext cx="1381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102A43"/>
                </a:solidFill>
              </a:defRPr>
            </a:pPr>
            <a:r>
              <a:rPr sz="1425" b="1">
                <a:solidFill>
                  <a:srgbClr val="102A43"/>
                </a:solidFill>
              </a:rPr>
              <a:t>Alerte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6E271C4-CA66-451D-8AA9-3B2EA975D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3476625"/>
            <a:ext cx="142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475569"/>
                </a:solidFill>
              </a:defRPr>
            </a:defPPr>
          </a:lstStyle>
          <a:p xmlns:a="http://schemas.openxmlformats.org/drawingml/2006/main">
            <a:pPr>
              <a:defRPr sz="1200">
                <a:solidFill>
                  <a:srgbClr val="475569"/>
                </a:solidFill>
              </a:defRPr>
            </a:pPr>
            <a:r>
              <a:rPr sz="1200">
                <a:solidFill>
                  <a:srgbClr val="475569"/>
                </a:solidFill>
              </a:rPr>
              <a:t>gravité + preuve</a:t>
            </a:r>
          </a:p>
          <a:p xmlns:a="http://schemas.openxmlformats.org/drawingml/2006/main">
            <a:pPr>
              <a:defRPr sz="1200">
                <a:solidFill>
                  <a:srgbClr val="475569"/>
                </a:solidFill>
              </a:defRPr>
            </a:pPr>
            <a:r>
              <a:rPr sz="1200">
                <a:solidFill>
                  <a:srgbClr val="475569"/>
                </a:solidFill>
              </a:rPr>
              <a:t>+ source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26EB68B-5329-4090-A149-E241658DB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00625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>
              <a:defRPr sz="1575">
                <a:solidFill>
                  <a:srgbClr val="102A43"/>
                </a:solidFill>
              </a:defRPr>
            </a:pPr>
            <a:r>
              <a:rPr sz="1575">
                <a:solidFill>
                  <a:srgbClr val="102A43"/>
                </a:solidFill>
              </a:rPr>
              <a:t>Règle satisfaite : une alerte fusionne les règles déclenchées pour la même paire.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E0700E5-4635-4C89-87B9-E74E45C4D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>
                <a:solidFill>
                  <a:srgbClr val="475569"/>
                </a:solidFill>
              </a:defRPr>
            </a:defPPr>
          </a:lstStyle>
          <a:p xmlns:a="http://schemas.openxmlformats.org/drawingml/2006/main">
            <a:pPr>
              <a:defRPr sz="825">
                <a:solidFill>
                  <a:srgbClr val="475569"/>
                </a:solidFill>
              </a:defRPr>
            </a:pPr>
            <a:r>
              <a:rPr sz="825">
                <a:solidFill>
                  <a:srgbClr val="475569"/>
                </a:solidFill>
              </a:rPr>
              <a:t>OrdoGraph · Projet de vérification d’ordonnance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D36EFD6-D540-440B-A669-108F269B9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77000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>
                <a:solidFill>
                  <a:srgbClr val="475569"/>
                </a:solidFill>
              </a:defRPr>
            </a:defPPr>
          </a:lstStyle>
          <a:p xmlns:a="http://schemas.openxmlformats.org/drawingml/2006/main">
            <a:pPr>
              <a:defRPr sz="825">
                <a:solidFill>
                  <a:srgbClr val="475569"/>
                </a:solidFill>
              </a:defRPr>
            </a:pPr>
            <a:r>
              <a:rPr sz="825">
                <a:solidFill>
                  <a:srgbClr val="475569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82298325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C27118-4DBD-4822-A2F7-6CE00CA5E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00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02A43"/>
                </a:solidFill>
              </a:defRPr>
            </a:pPr>
            <a:r>
              <a:rPr sz="2400" b="1">
                <a:solidFill>
                  <a:srgbClr val="102A43"/>
                </a:solidFill>
              </a:rPr>
              <a:t>Extraction du sous-graphe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213F47-8AD0-4727-8F57-FD407D355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62025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>
                <a:solidFill>
                  <a:srgbClr val="475569"/>
                </a:solidFill>
              </a:defRPr>
            </a:defPPr>
          </a:lstStyle>
          <a:p xmlns:a="http://schemas.openxmlformats.org/drawingml/2006/main">
            <a:pPr>
              <a:defRPr sz="1125">
                <a:solidFill>
                  <a:srgbClr val="475569"/>
                </a:solidFill>
              </a:defRPr>
            </a:pPr>
            <a:r>
              <a:rPr sz="1125">
                <a:solidFill>
                  <a:srgbClr val="475569"/>
                </a:solidFill>
              </a:rPr>
              <a:t>Le code garde uniquement les relations nécessaires à la vérification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62F1F3-0DD6-4913-B3AF-0B29AE331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04925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59570A-D260-491C-B734-C28324BBE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809750"/>
            <a:ext cx="542925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410BCF-7A78-4CB4-8865-C8CAD6B36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962150"/>
            <a:ext cx="50482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E2E8F0"/>
                </a:solidFill>
              </a:defRPr>
            </a:defPPr>
          </a:lstStyle>
          <a:p xmlns:a="http://schemas.openxmlformats.org/drawingml/2006/main">
            <a:pPr>
              <a:defRPr sz="1200">
                <a:solidFill>
                  <a:srgbClr val="E2E8F0"/>
                </a:solidFill>
              </a:defRPr>
            </a:pPr>
            <a:r>
              <a:rPr sz="1200">
                <a:solidFill>
                  <a:srgbClr val="E2E8F0"/>
                </a:solidFill>
              </a:rPr>
              <a:t>KEEP = {"PCiC", "CbG", "CcSE", "CtD"}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>
                <a:solidFill>
                  <a:srgbClr val="E2E8F0"/>
                </a:solidFill>
              </a:defRPr>
            </a:pPr>
            <a:r>
              <a:rPr sz="1200">
                <a:solidFill>
                  <a:srgbClr val="E2E8F0"/>
                </a:solidFill>
              </a:rPr>
              <a:t>if m == "PCiC":</a:t>
            </a:r>
          </a:p>
          <a:p xmlns:a="http://schemas.openxmlformats.org/drawingml/2006/main">
            <a:pPr>
              <a:defRPr sz="1200">
                <a:solidFill>
                  <a:srgbClr val="E2E8F0"/>
                </a:solidFill>
              </a:defRPr>
            </a:pPr>
            <a:r>
              <a:rPr sz="1200">
                <a:solidFill>
                  <a:srgbClr val="E2E8F0"/>
                </a:solidFill>
              </a:rPr>
              <a:t>    g["drug_classes"][t].add(s)</a:t>
            </a:r>
          </a:p>
          <a:p xmlns:a="http://schemas.openxmlformats.org/drawingml/2006/main">
            <a:pPr>
              <a:defRPr sz="1200">
                <a:solidFill>
                  <a:srgbClr val="E2E8F0"/>
                </a:solidFill>
              </a:defRPr>
            </a:pPr>
            <a:r>
              <a:rPr sz="1200">
                <a:solidFill>
                  <a:srgbClr val="E2E8F0"/>
                </a:solidFill>
              </a:rPr>
              <a:t>elif m == "CbG":</a:t>
            </a:r>
          </a:p>
          <a:p xmlns:a="http://schemas.openxmlformats.org/drawingml/2006/main">
            <a:pPr>
              <a:defRPr sz="1200">
                <a:solidFill>
                  <a:srgbClr val="E2E8F0"/>
                </a:solidFill>
              </a:defRPr>
            </a:pPr>
            <a:r>
              <a:rPr sz="1200">
                <a:solidFill>
                  <a:srgbClr val="E2E8F0"/>
                </a:solidFill>
              </a:rPr>
              <a:t>    g["drug_targets"][s].add(t)</a:t>
            </a:r>
          </a:p>
          <a:p xmlns:a="http://schemas.openxmlformats.org/drawingml/2006/main">
            <a:pPr>
              <a:defRPr sz="1200">
                <a:solidFill>
                  <a:srgbClr val="E2E8F0"/>
                </a:solidFill>
              </a:defRPr>
            </a:pPr>
            <a:r>
              <a:rPr sz="1200">
                <a:solidFill>
                  <a:srgbClr val="E2E8F0"/>
                </a:solidFill>
              </a:rPr>
              <a:t>elif m == "CcSE":</a:t>
            </a:r>
          </a:p>
          <a:p xmlns:a="http://schemas.openxmlformats.org/drawingml/2006/main">
            <a:pPr>
              <a:defRPr sz="1200">
                <a:solidFill>
                  <a:srgbClr val="E2E8F0"/>
                </a:solidFill>
              </a:defRPr>
            </a:pPr>
            <a:r>
              <a:rPr sz="1200">
                <a:solidFill>
                  <a:srgbClr val="E2E8F0"/>
                </a:solidFill>
              </a:rPr>
              <a:t>    g["drug_se"][s].add(t)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E0D2CC-8796-4D80-997C-20264646D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1952625"/>
            <a:ext cx="361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02A43"/>
                </a:solidFill>
              </a:defRPr>
            </a:pPr>
            <a:r>
              <a:rPr sz="1875" b="1">
                <a:solidFill>
                  <a:srgbClr val="102A43"/>
                </a:solidFill>
              </a:rPr>
              <a:t>Pourquoi ce filtrage 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EEF985-E395-489D-8B0A-91C916AF4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571750"/>
            <a:ext cx="171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EA5E9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EA5E9"/>
                </a:solidFill>
              </a:defRPr>
            </a:pPr>
            <a:r>
              <a:rPr sz="1500" b="1">
                <a:solidFill>
                  <a:srgbClr val="0EA5E9"/>
                </a:solidFill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EF64A8-1D23-4C2D-AA1F-165F4CE28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2571750"/>
            <a:ext cx="3390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>
                <a:solidFill>
                  <a:srgbClr val="1F2937"/>
                </a:solidFill>
              </a:defRPr>
            </a:defPPr>
          </a:lstStyle>
          <a:p xmlns:a="http://schemas.openxmlformats.org/drawingml/2006/main">
            <a:pPr>
              <a:defRPr sz="1350">
                <a:solidFill>
                  <a:srgbClr val="1F2937"/>
                </a:solidFill>
              </a:defRPr>
            </a:pPr>
            <a:r>
              <a:rPr sz="1350">
                <a:solidFill>
                  <a:srgbClr val="1F2937"/>
                </a:solidFill>
              </a:rPr>
              <a:t>Réduire la complexité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7F90AB-E629-4ECE-8736-62D97CEED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190875"/>
            <a:ext cx="171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EA5E9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EA5E9"/>
                </a:solidFill>
              </a:defRPr>
            </a:pPr>
            <a:r>
              <a:rPr sz="1500" b="1">
                <a:solidFill>
                  <a:srgbClr val="0EA5E9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0D2496-5205-4E94-A2E2-5028266D2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3190875"/>
            <a:ext cx="3581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>
                <a:solidFill>
                  <a:srgbClr val="1F2937"/>
                </a:solidFill>
              </a:defRPr>
            </a:defPPr>
          </a:lstStyle>
          <a:p xmlns:a="http://schemas.openxmlformats.org/drawingml/2006/main">
            <a:pPr>
              <a:defRPr sz="1350">
                <a:solidFill>
                  <a:srgbClr val="1F2937"/>
                </a:solidFill>
              </a:defRPr>
            </a:pPr>
            <a:r>
              <a:rPr sz="1350">
                <a:solidFill>
                  <a:srgbClr val="1F2937"/>
                </a:solidFill>
              </a:rPr>
              <a:t>Construire des chemins compréhensibles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21587A-13CE-41E1-85E1-AA20A5637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810000"/>
            <a:ext cx="171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EA5E9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EA5E9"/>
                </a:solidFill>
              </a:defRPr>
            </a:pPr>
            <a:r>
              <a:rPr sz="1500" b="1">
                <a:solidFill>
                  <a:srgbClr val="0EA5E9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81DA84-3D28-4F1F-8FA3-3A5C49255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3810000"/>
            <a:ext cx="3867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>
                <a:solidFill>
                  <a:srgbClr val="1F2937"/>
                </a:solidFill>
              </a:defRPr>
            </a:defPPr>
          </a:lstStyle>
          <a:p xmlns:a="http://schemas.openxmlformats.org/drawingml/2006/main">
            <a:pPr>
              <a:defRPr sz="1350">
                <a:solidFill>
                  <a:srgbClr val="1F2937"/>
                </a:solidFill>
              </a:defRPr>
            </a:pPr>
            <a:r>
              <a:rPr sz="1350">
                <a:solidFill>
                  <a:srgbClr val="1F2937"/>
                </a:solidFill>
              </a:rPr>
              <a:t>Séparer la connaissance du graphe des règles médicales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0709BD-EB33-4EF3-A728-0006B9D13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42925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i="1">
                <a:solidFill>
                  <a:srgbClr val="475569"/>
                </a:solidFill>
              </a:defRPr>
            </a:defPPr>
          </a:lstStyle>
          <a:p xmlns:a="http://schemas.openxmlformats.org/drawingml/2006/main">
            <a:pPr>
              <a:defRPr sz="900" i="1">
                <a:solidFill>
                  <a:srgbClr val="475569"/>
                </a:solidFill>
              </a:defRPr>
            </a:pPr>
            <a:r>
              <a:rPr sz="900" i="1">
                <a:solidFill>
                  <a:srgbClr val="475569"/>
                </a:solidFill>
              </a:rPr>
              <a:t>Extrait de src/load_subgraph.py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6A125C-87B5-4CFF-B363-BAE324273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>
                <a:solidFill>
                  <a:srgbClr val="475569"/>
                </a:solidFill>
              </a:defRPr>
            </a:defPPr>
          </a:lstStyle>
          <a:p xmlns:a="http://schemas.openxmlformats.org/drawingml/2006/main">
            <a:pPr>
              <a:defRPr sz="825">
                <a:solidFill>
                  <a:srgbClr val="475569"/>
                </a:solidFill>
              </a:defRPr>
            </a:pPr>
            <a:r>
              <a:rPr sz="825">
                <a:solidFill>
                  <a:srgbClr val="475569"/>
                </a:solidFill>
              </a:rPr>
              <a:t>OrdoGraph · Projet de vérification d’ordonnance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7E6FEB-4E8B-4FE2-9E79-96ACA2C84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77000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>
                <a:solidFill>
                  <a:srgbClr val="475569"/>
                </a:solidFill>
              </a:defRPr>
            </a:defPPr>
          </a:lstStyle>
          <a:p xmlns:a="http://schemas.openxmlformats.org/drawingml/2006/main">
            <a:pPr>
              <a:defRPr sz="825">
                <a:solidFill>
                  <a:srgbClr val="475569"/>
                </a:solidFill>
              </a:defRPr>
            </a:pPr>
            <a:r>
              <a:rPr sz="825">
                <a:solidFill>
                  <a:srgbClr val="475569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72723001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2DF507-27F4-4DD1-BD69-B107B4AAF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00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02A43"/>
                </a:solidFill>
              </a:defRPr>
            </a:pPr>
            <a:r>
              <a:rPr sz="2400" b="1">
                <a:solidFill>
                  <a:srgbClr val="102A43"/>
                </a:solidFill>
              </a:rPr>
              <a:t>Règles cliniques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7E0FAA-37BD-480D-8B88-337391E6F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62025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>
                <a:solidFill>
                  <a:srgbClr val="475569"/>
                </a:solidFill>
              </a:defRPr>
            </a:defPPr>
          </a:lstStyle>
          <a:p xmlns:a="http://schemas.openxmlformats.org/drawingml/2006/main">
            <a:pPr>
              <a:defRPr sz="1125">
                <a:solidFill>
                  <a:srgbClr val="475569"/>
                </a:solidFill>
              </a:defRPr>
            </a:pPr>
            <a:r>
              <a:rPr sz="1125">
                <a:solidFill>
                  <a:srgbClr val="475569"/>
                </a:solidFill>
              </a:rPr>
              <a:t>11 règles sourcées. 2 hypothèses exploratoires explicitement séparées.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E3D154-0BD0-4200-B322-55A4D07B8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04925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E367C9-B2EE-45D0-A1DA-EDBBCA4A2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5905500" cy="19050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15AE09-B277-418E-844B-9C1430DD7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05025"/>
            <a:ext cx="5524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E2E8F0"/>
                </a:solidFill>
              </a:defRPr>
            </a:defPPr>
          </a:lstStyle>
          <a:p xmlns:a="http://schemas.openxmlformats.org/drawingml/2006/main">
            <a:pPr>
              <a:defRPr sz="1200">
                <a:solidFill>
                  <a:srgbClr val="E2E8F0"/>
                </a:solidFill>
              </a:defRPr>
            </a:pPr>
            <a:r>
              <a:rPr sz="1200">
                <a:solidFill>
                  <a:srgbClr val="E2E8F0"/>
                </a:solidFill>
              </a:rPr>
              <a:t>Rule("R1", "class", 3,</a:t>
            </a:r>
          </a:p>
          <a:p xmlns:a="http://schemas.openxmlformats.org/drawingml/2006/main">
            <a:pPr>
              <a:defRPr sz="1200">
                <a:solidFill>
                  <a:srgbClr val="E2E8F0"/>
                </a:solidFill>
              </a:defRPr>
            </a:pPr>
            <a:r>
              <a:rPr sz="1200">
                <a:solidFill>
                  <a:srgbClr val="E2E8F0"/>
                </a:solidFill>
              </a:rPr>
              <a:t>  "Antivitamine K + AINS : risque hémorragique",</a:t>
            </a:r>
          </a:p>
          <a:p xmlns:a="http://schemas.openxmlformats.org/drawingml/2006/main">
            <a:pPr>
              <a:defRPr sz="1200">
                <a:solidFill>
                  <a:srgbClr val="E2E8F0"/>
                </a:solidFill>
              </a:defRPr>
            </a:pPr>
            <a:r>
              <a:rPr sz="1200">
                <a:solidFill>
                  <a:srgbClr val="E2E8F0"/>
                </a:solidFill>
              </a:rPr>
              <a:t>  AVK, [], AINS, [], source=S_UCSD)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71F101-BC18-44FC-BEB3-CEE4EA3A1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905000"/>
            <a:ext cx="3476625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ECFDF3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74097B-049E-4AE3-A85C-C03A91741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1907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067647"/>
                </a:solidFill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067647"/>
                </a:solidFill>
              </a:defRPr>
            </a:pPr>
            <a:r>
              <a:rPr sz="1725" b="1">
                <a:solidFill>
                  <a:srgbClr val="067647"/>
                </a:solidFill>
              </a:rPr>
              <a:t>Lecture de R1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378581-2449-4931-B9A2-D255ABE99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667000"/>
            <a:ext cx="2762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>
                <a:solidFill>
                  <a:srgbClr val="1F2937"/>
                </a:solidFill>
              </a:defRPr>
            </a:defPPr>
          </a:lstStyle>
          <a:p xmlns:a="http://schemas.openxmlformats.org/drawingml/2006/main">
            <a:pPr>
              <a:defRPr sz="1350">
                <a:solidFill>
                  <a:srgbClr val="1F2937"/>
                </a:solidFill>
              </a:defRPr>
            </a:pPr>
            <a:r>
              <a:rPr sz="1350">
                <a:solidFill>
                  <a:srgbClr val="1F2937"/>
                </a:solidFill>
              </a:rPr>
              <a:t>• Type : classes</a:t>
            </a:r>
          </a:p>
          <a:p xmlns:a="http://schemas.openxmlformats.org/drawingml/2006/main">
            <a:pPr>
              <a:defRPr sz="1350">
                <a:solidFill>
                  <a:srgbClr val="1F2937"/>
                </a:solidFill>
              </a:defRPr>
            </a:pPr>
            <a:r>
              <a:rPr sz="1350">
                <a:solidFill>
                  <a:srgbClr val="1F2937"/>
                </a:solidFill>
              </a:rPr>
              <a:t>• Gravité : 3, majeure</a:t>
            </a:r>
          </a:p>
          <a:p xmlns:a="http://schemas.openxmlformats.org/drawingml/2006/main">
            <a:pPr>
              <a:defRPr sz="1350">
                <a:solidFill>
                  <a:srgbClr val="1F2937"/>
                </a:solidFill>
              </a:defRPr>
            </a:pPr>
            <a:r>
              <a:rPr sz="1350">
                <a:solidFill>
                  <a:srgbClr val="1F2937"/>
                </a:solidFill>
              </a:rPr>
              <a:t>• Condition : AVK + AINS</a:t>
            </a:r>
          </a:p>
          <a:p xmlns:a="http://schemas.openxmlformats.org/drawingml/2006/main">
            <a:pPr>
              <a:defRPr sz="1350">
                <a:solidFill>
                  <a:srgbClr val="1F2937"/>
                </a:solidFill>
              </a:defRPr>
            </a:pPr>
            <a:r>
              <a:rPr sz="1350">
                <a:solidFill>
                  <a:srgbClr val="1F2937"/>
                </a:solidFill>
              </a:rPr>
              <a:t>• Source : UCSD Health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6AEA3F-CEFD-4F2E-8785-BD46E58DC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57750"/>
            <a:ext cx="971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>
                <a:solidFill>
                  <a:srgbClr val="B42318"/>
                </a:solidFill>
              </a:defRPr>
            </a:defPPr>
          </a:lstStyle>
          <a:p xmlns:a="http://schemas.openxmlformats.org/drawingml/2006/main">
            <a:pPr>
              <a:defRPr sz="1500">
                <a:solidFill>
                  <a:srgbClr val="B42318"/>
                </a:solidFill>
              </a:defRPr>
            </a:pPr>
            <a:r>
              <a:rPr sz="1500">
                <a:solidFill>
                  <a:srgbClr val="B42318"/>
                </a:solidFill>
              </a:rPr>
              <a:t>R12 et R13 : niveau 1, marked verified=False, présentées comme hypothèses du graphe.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92B2C5-912A-4BA9-A6BF-E05A50FE2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150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i="1">
                <a:solidFill>
                  <a:srgbClr val="475569"/>
                </a:solidFill>
              </a:defRPr>
            </a:defPPr>
          </a:lstStyle>
          <a:p xmlns:a="http://schemas.openxmlformats.org/drawingml/2006/main">
            <a:pPr>
              <a:defRPr sz="900" i="1">
                <a:solidFill>
                  <a:srgbClr val="475569"/>
                </a:solidFill>
              </a:defRPr>
            </a:pPr>
            <a:r>
              <a:rPr sz="900" i="1">
                <a:solidFill>
                  <a:srgbClr val="475569"/>
                </a:solidFill>
              </a:rPr>
              <a:t>Extrait de src/rules.py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EFE69E-9951-41EA-9000-47C94BB25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>
                <a:solidFill>
                  <a:srgbClr val="475569"/>
                </a:solidFill>
              </a:defRPr>
            </a:defPPr>
          </a:lstStyle>
          <a:p xmlns:a="http://schemas.openxmlformats.org/drawingml/2006/main">
            <a:pPr>
              <a:defRPr sz="825">
                <a:solidFill>
                  <a:srgbClr val="475569"/>
                </a:solidFill>
              </a:defRPr>
            </a:pPr>
            <a:r>
              <a:rPr sz="825">
                <a:solidFill>
                  <a:srgbClr val="475569"/>
                </a:solidFill>
              </a:rPr>
              <a:t>OrdoGraph · Projet de vérification d’ordonnance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E95C3F-69E2-4924-A89B-FF22421E2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77000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>
                <a:solidFill>
                  <a:srgbClr val="475569"/>
                </a:solidFill>
              </a:defRPr>
            </a:defPPr>
          </a:lstStyle>
          <a:p xmlns:a="http://schemas.openxmlformats.org/drawingml/2006/main">
            <a:pPr>
              <a:defRPr sz="825">
                <a:solidFill>
                  <a:srgbClr val="475569"/>
                </a:solidFill>
              </a:defRPr>
            </a:pPr>
            <a:r>
              <a:rPr sz="825">
                <a:solidFill>
                  <a:srgbClr val="475569"/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91266466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68A17A-BEAC-4A52-B452-340EA17C5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00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02A43"/>
                </a:solidFill>
              </a:defRPr>
            </a:pPr>
            <a:r>
              <a:rPr sz="2400" b="1">
                <a:solidFill>
                  <a:srgbClr val="102A43"/>
                </a:solidFill>
              </a:rPr>
              <a:t>Explication d’une alerte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22A817-208B-4225-84F0-B07DB0514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62025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>
                <a:solidFill>
                  <a:srgbClr val="475569"/>
                </a:solidFill>
              </a:defRPr>
            </a:defPPr>
          </a:lstStyle>
          <a:p xmlns:a="http://schemas.openxmlformats.org/drawingml/2006/main">
            <a:pPr>
              <a:defRPr sz="1125">
                <a:solidFill>
                  <a:srgbClr val="475569"/>
                </a:solidFill>
              </a:defRPr>
            </a:pPr>
            <a:r>
              <a:rPr sz="1125">
                <a:solidFill>
                  <a:srgbClr val="475569"/>
                </a:solidFill>
              </a:rPr>
              <a:t>Chaque alerte porte une règle, un chemin et une référence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F8D241-C455-4BB7-9FF6-D3B970414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04925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8028C5-5E25-4CEB-ACFB-DB81D63E7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57375"/>
            <a:ext cx="4953000" cy="2762250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8170CF-AB03-4111-9BB2-606B53DD6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09775"/>
            <a:ext cx="4572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E2E8F0"/>
                </a:solidFill>
              </a:defRPr>
            </a:defPPr>
          </a:lstStyle>
          <a:p xmlns:a="http://schemas.openxmlformats.org/drawingml/2006/main">
            <a:pPr>
              <a:defRPr sz="1200">
                <a:solidFill>
                  <a:srgbClr val="E2E8F0"/>
                </a:solidFill>
              </a:defRPr>
            </a:pPr>
            <a:r>
              <a:rPr sz="1200">
                <a:solidFill>
                  <a:srgbClr val="E2E8F0"/>
                </a:solidFill>
              </a:rPr>
              <a:t>alerts.append({</a:t>
            </a:r>
          </a:p>
          <a:p xmlns:a="http://schemas.openxmlformats.org/drawingml/2006/main">
            <a:pPr>
              <a:defRPr sz="1200">
                <a:solidFill>
                  <a:srgbClr val="E2E8F0"/>
                </a:solidFill>
              </a:defRPr>
            </a:pPr>
            <a:r>
              <a:rPr sz="1200">
                <a:solidFill>
                  <a:srgbClr val="E2E8F0"/>
                </a:solidFill>
              </a:rPr>
              <a:t>  "pair": pair,</a:t>
            </a:r>
          </a:p>
          <a:p xmlns:a="http://schemas.openxmlformats.org/drawingml/2006/main">
            <a:pPr>
              <a:defRPr sz="1200">
                <a:solidFill>
                  <a:srgbClr val="E2E8F0"/>
                </a:solidFill>
              </a:defRPr>
            </a:pPr>
            <a:r>
              <a:rPr sz="1200">
                <a:solidFill>
                  <a:srgbClr val="E2E8F0"/>
                </a:solidFill>
              </a:rPr>
              <a:t>  "severity": top.severity,</a:t>
            </a:r>
          </a:p>
          <a:p xmlns:a="http://schemas.openxmlformats.org/drawingml/2006/main">
            <a:pPr>
              <a:defRPr sz="1200">
                <a:solidFill>
                  <a:srgbClr val="E2E8F0"/>
                </a:solidFill>
              </a:defRPr>
            </a:pPr>
            <a:r>
              <a:rPr sz="1200">
                <a:solidFill>
                  <a:srgbClr val="E2E8F0"/>
                </a:solidFill>
              </a:rPr>
              <a:t>  "rules": [h[0].rid for h in hits],</a:t>
            </a:r>
          </a:p>
          <a:p xmlns:a="http://schemas.openxmlformats.org/drawingml/2006/main">
            <a:pPr>
              <a:defRPr sz="1200">
                <a:solidFill>
                  <a:srgbClr val="E2E8F0"/>
                </a:solidFill>
              </a:defRPr>
            </a:pPr>
            <a:r>
              <a:rPr sz="1200">
                <a:solidFill>
                  <a:srgbClr val="E2E8F0"/>
                </a:solidFill>
              </a:rPr>
              <a:t>  "explanations": [{"path": h[1],</a:t>
            </a:r>
          </a:p>
          <a:p xmlns:a="http://schemas.openxmlformats.org/drawingml/2006/main">
            <a:pPr>
              <a:defRPr sz="1200">
                <a:solidFill>
                  <a:srgbClr val="E2E8F0"/>
                </a:solidFill>
              </a:defRPr>
            </a:pPr>
            <a:r>
              <a:rPr sz="1200">
                <a:solidFill>
                  <a:srgbClr val="E2E8F0"/>
                </a:solidFill>
              </a:rPr>
              <a:t>                    "source": h[0].source}]</a:t>
            </a:r>
          </a:p>
          <a:p xmlns:a="http://schemas.openxmlformats.org/drawingml/2006/main">
            <a:pPr>
              <a:defRPr sz="1200">
                <a:solidFill>
                  <a:srgbClr val="E2E8F0"/>
                </a:solidFill>
              </a:defRPr>
            </a:pPr>
            <a:r>
              <a:rPr sz="1200">
                <a:solidFill>
                  <a:srgbClr val="E2E8F0"/>
                </a:solidFill>
              </a:rPr>
              <a:t>})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CD591F-9ED0-49C7-9AAE-3A1C6C348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809750"/>
            <a:ext cx="447675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7163B2-80CE-4F24-89ED-F09A76F0C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95500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102A43"/>
                </a:solidFill>
              </a:defRPr>
            </a:pPr>
            <a:r>
              <a:rPr sz="1650" b="1">
                <a:solidFill>
                  <a:srgbClr val="102A43"/>
                </a:solidFill>
              </a:rPr>
              <a:t>Sortie pour Warfarin + Ibuprofen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3006CA-9C00-4301-A4B6-577697DEA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619375"/>
            <a:ext cx="371475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>
                <a:solidFill>
                  <a:srgbClr val="1F2937"/>
                </a:solidFill>
              </a:defRPr>
            </a:defPPr>
          </a:lstStyle>
          <a:p xmlns:a="http://schemas.openxmlformats.org/drawingml/2006/main">
            <a:pPr>
              <a:defRPr sz="1275">
                <a:solidFill>
                  <a:srgbClr val="1F2937"/>
                </a:solidFill>
              </a:defRPr>
            </a:pPr>
            <a:r>
              <a:rPr sz="1275">
                <a:solidFill>
                  <a:srgbClr val="1F2937"/>
                </a:solidFill>
              </a:rPr>
              <a:t>MAJEURE · R1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1F2937"/>
                </a:solidFill>
              </a:defRPr>
            </a:pPr>
            <a:r>
              <a:rPr sz="1275">
                <a:solidFill>
                  <a:srgbClr val="1F2937"/>
                </a:solidFill>
              </a:rPr>
              <a:t>Warfarin -[PCiC]- Vitamin K Inhibitors</a:t>
            </a:r>
          </a:p>
          <a:p xmlns:a="http://schemas.openxmlformats.org/drawingml/2006/main">
            <a:pPr>
              <a:defRPr sz="1275">
                <a:solidFill>
                  <a:srgbClr val="1F2937"/>
                </a:solidFill>
              </a:defRPr>
            </a:pPr>
            <a:r>
              <a:rPr sz="1275">
                <a:solidFill>
                  <a:srgbClr val="1F2937"/>
                </a:solidFill>
              </a:rPr>
              <a:t>Ibuprofen -[PCiC]- AINS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1F2937"/>
                </a:solidFill>
              </a:defRPr>
            </a:pPr>
            <a:r>
              <a:rPr sz="1275">
                <a:solidFill>
                  <a:srgbClr val="1F2937"/>
                </a:solidFill>
              </a:rPr>
              <a:t>Risque hémorragique</a:t>
            </a:r>
          </a:p>
          <a:p xmlns:a="http://schemas.openxmlformats.org/drawingml/2006/main">
            <a:pPr>
              <a:defRPr sz="1275">
                <a:solidFill>
                  <a:srgbClr val="1F2937"/>
                </a:solidFill>
              </a:defRPr>
            </a:pPr>
            <a:r>
              <a:rPr sz="1275">
                <a:solidFill>
                  <a:srgbClr val="1F2937"/>
                </a:solidFill>
              </a:rPr>
              <a:t>Source : UCSD Health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3DB1FC-B788-4969-B929-C33375375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7687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i="1">
                <a:solidFill>
                  <a:srgbClr val="475569"/>
                </a:solidFill>
              </a:defRPr>
            </a:defPPr>
          </a:lstStyle>
          <a:p xmlns:a="http://schemas.openxmlformats.org/drawingml/2006/main">
            <a:pPr>
              <a:defRPr sz="900" i="1">
                <a:solidFill>
                  <a:srgbClr val="475569"/>
                </a:solidFill>
              </a:defRPr>
            </a:pPr>
            <a:r>
              <a:rPr sz="900" i="1">
                <a:solidFill>
                  <a:srgbClr val="475569"/>
                </a:solidFill>
              </a:rPr>
              <a:t>Extrait de src/alerts.py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7E7F31-56F3-451D-BFAA-9175D0B6A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>
                <a:solidFill>
                  <a:srgbClr val="475569"/>
                </a:solidFill>
              </a:defRPr>
            </a:defPPr>
          </a:lstStyle>
          <a:p xmlns:a="http://schemas.openxmlformats.org/drawingml/2006/main">
            <a:pPr>
              <a:defRPr sz="825">
                <a:solidFill>
                  <a:srgbClr val="475569"/>
                </a:solidFill>
              </a:defRPr>
            </a:pPr>
            <a:r>
              <a:rPr sz="825">
                <a:solidFill>
                  <a:srgbClr val="475569"/>
                </a:solidFill>
              </a:rPr>
              <a:t>OrdoGraph · Projet de vérification d’ordonnance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5D7531-D4E0-4A6E-98E4-B9A24A7DF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77000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>
                <a:solidFill>
                  <a:srgbClr val="475569"/>
                </a:solidFill>
              </a:defRPr>
            </a:defPPr>
          </a:lstStyle>
          <a:p xmlns:a="http://schemas.openxmlformats.org/drawingml/2006/main">
            <a:pPr>
              <a:defRPr sz="825">
                <a:solidFill>
                  <a:srgbClr val="475569"/>
                </a:solidFill>
              </a:defRPr>
            </a:pPr>
            <a:r>
              <a:rPr sz="825">
                <a:solidFill>
                  <a:srgbClr val="475569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77328547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BC9033C-BEFF-4B8F-B0EB-0915D597B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00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02A43"/>
                </a:solidFill>
              </a:defRPr>
            </a:pPr>
            <a:r>
              <a:rPr sz="2400" b="1">
                <a:solidFill>
                  <a:srgbClr val="102A43"/>
                </a:solidFill>
              </a:rPr>
              <a:t>Protocole d’évaluation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C8BC1E-8219-49FF-AE62-E6011591E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62025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>
                <a:solidFill>
                  <a:srgbClr val="475569"/>
                </a:solidFill>
              </a:defRPr>
            </a:defPPr>
          </a:lstStyle>
          <a:p xmlns:a="http://schemas.openxmlformats.org/drawingml/2006/main">
            <a:pPr>
              <a:defRPr sz="1125">
                <a:solidFill>
                  <a:srgbClr val="475569"/>
                </a:solidFill>
              </a:defRPr>
            </a:pPr>
            <a:r>
              <a:rPr sz="1125">
                <a:solidFill>
                  <a:srgbClr val="475569"/>
                </a:solidFill>
              </a:rPr>
              <a:t>20 ordonnances de test et 25 paires attendues documentées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1378C0-730E-45EA-91F5-F65C5C34B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04925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3085B1-247C-4829-A4A9-BE27E3BD0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333625"/>
            <a:ext cx="20955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CFDF3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EFB6AD-5153-4B04-9811-0A77CB93A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71750"/>
            <a:ext cx="57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02A43"/>
                </a:solidFill>
              </a:defRPr>
            </a:pPr>
            <a:r>
              <a:rPr sz="2850" b="1">
                <a:solidFill>
                  <a:srgbClr val="102A43"/>
                </a:solidFill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B0A1E9-76C8-4646-9F26-60F14C6E0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90875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>
                <a:solidFill>
                  <a:srgbClr val="475569"/>
                </a:solidFill>
              </a:defRPr>
            </a:defPPr>
          </a:lstStyle>
          <a:p xmlns:a="http://schemas.openxmlformats.org/drawingml/2006/main">
            <a:pPr>
              <a:defRPr sz="1350">
                <a:solidFill>
                  <a:srgbClr val="475569"/>
                </a:solidFill>
              </a:defRPr>
            </a:pPr>
            <a:r>
              <a:rPr sz="1350">
                <a:solidFill>
                  <a:srgbClr val="475569"/>
                </a:solidFill>
              </a:rPr>
              <a:t>règle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E25492-7EFC-46B5-A051-E0E27ACAC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333625"/>
            <a:ext cx="20955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D50C89-7E74-4149-B2EC-3154ED2F5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571750"/>
            <a:ext cx="57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02A43"/>
                </a:solidFill>
              </a:defRPr>
            </a:pPr>
            <a:r>
              <a:rPr sz="2850" b="1">
                <a:solidFill>
                  <a:srgbClr val="102A43"/>
                </a:solidFill>
              </a:rPr>
              <a:t>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BED01E-6670-4960-B72E-0909251FB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190875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>
                <a:solidFill>
                  <a:srgbClr val="475569"/>
                </a:solidFill>
              </a:defRPr>
            </a:defPPr>
          </a:lstStyle>
          <a:p xmlns:a="http://schemas.openxmlformats.org/drawingml/2006/main">
            <a:pPr>
              <a:defRPr sz="1350">
                <a:solidFill>
                  <a:srgbClr val="475569"/>
                </a:solidFill>
              </a:defRPr>
            </a:pPr>
            <a:r>
              <a:rPr sz="1350">
                <a:solidFill>
                  <a:srgbClr val="475569"/>
                </a:solidFill>
              </a:rPr>
              <a:t>peu de données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42953E-ECAB-4F09-A720-784714FD0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333625"/>
            <a:ext cx="20955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271122-7E5B-4344-8A73-1CE44B7C2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71750"/>
            <a:ext cx="57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02A43"/>
                </a:solidFill>
              </a:defRPr>
            </a:pPr>
            <a:r>
              <a:rPr sz="2850" b="1">
                <a:solidFill>
                  <a:srgbClr val="102A43"/>
                </a:solidFill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39EB1A-A5FC-4AF2-96A2-965D1C988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190875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>
                <a:solidFill>
                  <a:srgbClr val="475569"/>
                </a:solidFill>
              </a:defRPr>
            </a:defPPr>
          </a:lstStyle>
          <a:p xmlns:a="http://schemas.openxmlformats.org/drawingml/2006/main">
            <a:pPr>
              <a:defRPr sz="1350">
                <a:solidFill>
                  <a:srgbClr val="475569"/>
                </a:solidFill>
              </a:defRPr>
            </a:pPr>
            <a:r>
              <a:rPr sz="1350">
                <a:solidFill>
                  <a:srgbClr val="475569"/>
                </a:solidFill>
              </a:rPr>
              <a:t>standard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0C0C86-2AF8-4480-9A60-FB405ED84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333625"/>
            <a:ext cx="20955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EE4E2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459500-528D-4F12-AD7B-DB1BF8F5A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571750"/>
            <a:ext cx="57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02A43"/>
                </a:solidFill>
              </a:defRPr>
            </a:pPr>
            <a:r>
              <a:rPr sz="2850" b="1">
                <a:solidFill>
                  <a:srgbClr val="102A43"/>
                </a:solidFill>
              </a:rPr>
              <a:t>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521BC0-C3C1-4A03-B39F-4D1A73C9E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190875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>
                <a:solidFill>
                  <a:srgbClr val="475569"/>
                </a:solidFill>
              </a:defRPr>
            </a:defPPr>
          </a:lstStyle>
          <a:p xmlns:a="http://schemas.openxmlformats.org/drawingml/2006/main">
            <a:pPr>
              <a:defRPr sz="1350">
                <a:solidFill>
                  <a:srgbClr val="475569"/>
                </a:solidFill>
              </a:defRPr>
            </a:pPr>
            <a:r>
              <a:rPr sz="1350">
                <a:solidFill>
                  <a:srgbClr val="475569"/>
                </a:solidFill>
              </a:rPr>
              <a:t>hors distribution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BA9674-E634-441D-B7A1-CF8C5A691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524375"/>
            <a:ext cx="171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EA5E9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EA5E9"/>
                </a:solidFill>
              </a:defRPr>
            </a:pPr>
            <a:r>
              <a:rPr sz="1500" b="1">
                <a:solidFill>
                  <a:srgbClr val="0EA5E9"/>
                </a:solidFill>
              </a:rPr>
              <a:t>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B8E44A-F6E8-4ED4-AE49-0FAD254C6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524375"/>
            <a:ext cx="7486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>
                <a:solidFill>
                  <a:srgbClr val="1F2937"/>
                </a:solidFill>
              </a:defRPr>
            </a:defPPr>
          </a:lstStyle>
          <a:p xmlns:a="http://schemas.openxmlformats.org/drawingml/2006/main">
            <a:pPr>
              <a:defRPr sz="1350">
                <a:solidFill>
                  <a:srgbClr val="1F2937"/>
                </a:solidFill>
              </a:defRPr>
            </a:pPr>
            <a:r>
              <a:rPr sz="1350">
                <a:solidFill>
                  <a:srgbClr val="1F2937"/>
                </a:solidFill>
              </a:rPr>
              <a:t>Référence non hybride : recherche exacte dans une liste de quatre paires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35ED33-4AC7-47B7-882A-3382707C2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095875"/>
            <a:ext cx="171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EA5E9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EA5E9"/>
                </a:solidFill>
              </a:defRPr>
            </a:pPr>
            <a:r>
              <a:rPr sz="1500" b="1">
                <a:solidFill>
                  <a:srgbClr val="0EA5E9"/>
                </a:solidFill>
              </a:rPr>
              <a:t>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22BE4F-D0F4-44CD-9034-B9290DE8C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5095875"/>
            <a:ext cx="7486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>
                <a:solidFill>
                  <a:srgbClr val="1F2937"/>
                </a:solidFill>
              </a:defRPr>
            </a:defPPr>
          </a:lstStyle>
          <a:p xmlns:a="http://schemas.openxmlformats.org/drawingml/2006/main">
            <a:pPr>
              <a:defRPr sz="1350">
                <a:solidFill>
                  <a:srgbClr val="1F2937"/>
                </a:solidFill>
              </a:defRPr>
            </a:pPr>
            <a:r>
              <a:rPr sz="1350">
                <a:solidFill>
                  <a:srgbClr val="1F2937"/>
                </a:solidFill>
              </a:rPr>
              <a:t>Ablation : retrait des classes, cibles ou effets indésirables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97F8331-E85E-4DF2-9174-5E00969F7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667375"/>
            <a:ext cx="171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EA5E9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EA5E9"/>
                </a:solidFill>
              </a:defRPr>
            </a:pPr>
            <a:r>
              <a:rPr sz="1500" b="1">
                <a:solidFill>
                  <a:srgbClr val="0EA5E9"/>
                </a:solidFill>
              </a:rPr>
              <a:t>•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B914396-2AE7-4A0F-A1DF-8C00ACA7A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5667375"/>
            <a:ext cx="7867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>
                <a:solidFill>
                  <a:srgbClr val="1F2937"/>
                </a:solidFill>
              </a:defRPr>
            </a:defPPr>
          </a:lstStyle>
          <a:p xmlns:a="http://schemas.openxmlformats.org/drawingml/2006/main">
            <a:pPr>
              <a:defRPr sz="1350">
                <a:solidFill>
                  <a:srgbClr val="1F2937"/>
                </a:solidFill>
              </a:defRPr>
            </a:pPr>
            <a:r>
              <a:rPr sz="1350">
                <a:solidFill>
                  <a:srgbClr val="1F2937"/>
                </a:solidFill>
              </a:rPr>
              <a:t>Cohérence : 5 permutations aléatoires de l’ordre de chaque ordonnance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9484441-F863-4E82-86F8-1F2C2B3F7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>
                <a:solidFill>
                  <a:srgbClr val="475569"/>
                </a:solidFill>
              </a:defRPr>
            </a:defPPr>
          </a:lstStyle>
          <a:p xmlns:a="http://schemas.openxmlformats.org/drawingml/2006/main">
            <a:pPr>
              <a:defRPr sz="825">
                <a:solidFill>
                  <a:srgbClr val="475569"/>
                </a:solidFill>
              </a:defRPr>
            </a:pPr>
            <a:r>
              <a:rPr sz="825">
                <a:solidFill>
                  <a:srgbClr val="475569"/>
                </a:solidFill>
              </a:rPr>
              <a:t>OrdoGraph · Projet de vérification d’ordonnance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8201B99-FF04-41E3-94D9-D954C44F7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77000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>
                <a:solidFill>
                  <a:srgbClr val="475569"/>
                </a:solidFill>
              </a:defRPr>
            </a:defPPr>
          </a:lstStyle>
          <a:p xmlns:a="http://schemas.openxmlformats.org/drawingml/2006/main">
            <a:pPr>
              <a:defRPr sz="825">
                <a:solidFill>
                  <a:srgbClr val="475569"/>
                </a:solidFill>
              </a:defRPr>
            </a:pPr>
            <a:r>
              <a:rPr sz="825">
                <a:solidFill>
                  <a:srgbClr val="475569"/>
                </a:solidFill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48648653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3BC64E-D8A4-4A16-A163-4EA7A7561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00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02A43"/>
                </a:solidFill>
              </a:defRPr>
            </a:pPr>
            <a:r>
              <a:rPr sz="2400" b="1">
                <a:solidFill>
                  <a:srgbClr val="102A43"/>
                </a:solidFill>
              </a:rPr>
              <a:t>Résultats principaux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BCB845-474D-40B0-92B1-980CD3D58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62025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>
                <a:solidFill>
                  <a:srgbClr val="475569"/>
                </a:solidFill>
              </a:defRPr>
            </a:defPPr>
          </a:lstStyle>
          <a:p xmlns:a="http://schemas.openxmlformats.org/drawingml/2006/main">
            <a:pPr>
              <a:defRPr sz="1125">
                <a:solidFill>
                  <a:srgbClr val="475569"/>
                </a:solidFill>
              </a:defRPr>
            </a:pPr>
            <a:r>
              <a:rPr sz="1125">
                <a:solidFill>
                  <a:srgbClr val="475569"/>
                </a:solidFill>
              </a:rPr>
              <a:t>Le filtrage des hypothèses exploratoires améliore la précision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F043F5-1DBA-434B-9C17-2E06D8AA9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04925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248801F8-F186-4E2C-A628-E2EBBBB6E381}"/>
              </a:ext>
            </a:extLst>
          </p:cNvPr>
          <p:cNvGraphicFramePr/>
          <p:nvPr/>
        </p:nvGraphicFramePr>
        <p:xfrm>
          <a:off xmlns:a="http://schemas.openxmlformats.org/drawingml/2006/main" x="762000" y="1857375"/>
          <a:ext xmlns:a="http://schemas.openxmlformats.org/drawingml/2006/main" cx="5857875" cy="3476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99b0f44396f4794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AB9C9F-8A09-49D8-A4DE-2408B9546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000250"/>
            <a:ext cx="3238500" cy="2762250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40E456-FDC2-46D9-9576-CBF2172E8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33362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102A43"/>
                </a:solidFill>
              </a:defRPr>
            </a:pPr>
            <a:r>
              <a:rPr sz="1650" b="1">
                <a:solidFill>
                  <a:srgbClr val="102A43"/>
                </a:solidFill>
              </a:rPr>
              <a:t>Configuration retenue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8469C3-51CF-4058-9675-B182CE3D6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857500"/>
            <a:ext cx="238125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>
                <a:solidFill>
                  <a:srgbClr val="1F2937"/>
                </a:solidFill>
              </a:defRPr>
            </a:defPPr>
          </a:lstStyle>
          <a:p xmlns:a="http://schemas.openxmlformats.org/drawingml/2006/main">
            <a:pPr>
              <a:defRPr sz="1575">
                <a:solidFill>
                  <a:srgbClr val="1F2937"/>
                </a:solidFill>
              </a:defRPr>
            </a:pPr>
            <a:r>
              <a:rPr sz="1575">
                <a:solidFill>
                  <a:srgbClr val="1F2937"/>
                </a:solidFill>
              </a:rPr>
              <a:t>Alertes ≥ modérées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>
                <a:solidFill>
                  <a:srgbClr val="1F2937"/>
                </a:solidFill>
              </a:defRPr>
            </a:pPr>
            <a:r>
              <a:rPr sz="1575">
                <a:solidFill>
                  <a:srgbClr val="1F2937"/>
                </a:solidFill>
              </a:rPr>
              <a:t>Précision 1,000</a:t>
            </a:r>
          </a:p>
          <a:p xmlns:a="http://schemas.openxmlformats.org/drawingml/2006/main">
            <a:pPr>
              <a:defRPr sz="1575">
                <a:solidFill>
                  <a:srgbClr val="1F2937"/>
                </a:solidFill>
              </a:defRPr>
            </a:pPr>
            <a:r>
              <a:rPr sz="1575">
                <a:solidFill>
                  <a:srgbClr val="1F2937"/>
                </a:solidFill>
              </a:rPr>
              <a:t>Rappel 0,880</a:t>
            </a:r>
          </a:p>
          <a:p xmlns:a="http://schemas.openxmlformats.org/drawingml/2006/main">
            <a:pPr>
              <a:defRPr sz="1575">
                <a:solidFill>
                  <a:srgbClr val="1F2937"/>
                </a:solidFill>
              </a:defRPr>
            </a:pPr>
            <a:r>
              <a:rPr sz="1575">
                <a:solidFill>
                  <a:srgbClr val="1F2937"/>
                </a:solidFill>
              </a:rPr>
              <a:t>F1 0,936</a:t>
            </a:r>
          </a:p>
          <a:p xmlns:a="http://schemas.openxmlformats.org/drawingml/2006/main">
            <a:pPr>
              <a:defRPr sz="1575">
                <a:solidFill>
                  <a:srgbClr val="1F2937"/>
                </a:solidFill>
              </a:defRPr>
            </a:pPr>
            <a:r>
              <a:rPr sz="1575">
                <a:solidFill>
                  <a:srgbClr val="1F2937"/>
                </a:solidFill>
              </a:rPr>
              <a:t>1,10 alerte / ordonnance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47512E-48FB-418E-B6FE-FFEFB0AD8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i="1">
                <a:solidFill>
                  <a:srgbClr val="475569"/>
                </a:solidFill>
              </a:defRPr>
            </a:defPPr>
          </a:lstStyle>
          <a:p xmlns:a="http://schemas.openxmlformats.org/drawingml/2006/main">
            <a:pPr>
              <a:defRPr sz="900" i="1">
                <a:solidFill>
                  <a:srgbClr val="475569"/>
                </a:solidFill>
              </a:defRPr>
            </a:pPr>
            <a:r>
              <a:rPr sz="900" i="1">
                <a:solidFill>
                  <a:srgbClr val="475569"/>
                </a:solidFill>
              </a:rPr>
              <a:t>Mesures calculées par src/evaluate.py sur le jeu de test interne.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AB2D83-AE28-4614-B6C7-055AD1152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>
                <a:solidFill>
                  <a:srgbClr val="475569"/>
                </a:solidFill>
              </a:defRPr>
            </a:defPPr>
          </a:lstStyle>
          <a:p xmlns:a="http://schemas.openxmlformats.org/drawingml/2006/main">
            <a:pPr>
              <a:defRPr sz="825">
                <a:solidFill>
                  <a:srgbClr val="475569"/>
                </a:solidFill>
              </a:defRPr>
            </a:pPr>
            <a:r>
              <a:rPr sz="825">
                <a:solidFill>
                  <a:srgbClr val="475569"/>
                </a:solidFill>
              </a:rPr>
              <a:t>OrdoGraph · Projet de vérification d’ordonnance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087BF2-90AE-4594-9EE9-17B08ADB6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77000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>
                <a:solidFill>
                  <a:srgbClr val="475569"/>
                </a:solidFill>
              </a:defRPr>
            </a:defPPr>
          </a:lstStyle>
          <a:p xmlns:a="http://schemas.openxmlformats.org/drawingml/2006/main">
            <a:pPr>
              <a:defRPr sz="825">
                <a:solidFill>
                  <a:srgbClr val="475569"/>
                </a:solidFill>
              </a:defRPr>
            </a:pPr>
            <a:r>
              <a:rPr sz="825">
                <a:solidFill>
                  <a:srgbClr val="475569"/>
                </a:solidFill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595775707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9647F1-A906-45AF-99BE-9C49682BE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00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02A43"/>
                </a:solidFill>
              </a:defRPr>
            </a:pPr>
            <a:r>
              <a:rPr sz="2400" b="1">
                <a:solidFill>
                  <a:srgbClr val="102A43"/>
                </a:solidFill>
              </a:rPr>
              <a:t>Ablation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B93694-AD1E-4345-A4B6-1D3C65C96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62025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>
                <a:solidFill>
                  <a:srgbClr val="475569"/>
                </a:solidFill>
              </a:defRPr>
            </a:defPPr>
          </a:lstStyle>
          <a:p xmlns:a="http://schemas.openxmlformats.org/drawingml/2006/main">
            <a:pPr>
              <a:defRPr sz="1125">
                <a:solidFill>
                  <a:srgbClr val="475569"/>
                </a:solidFill>
              </a:defRPr>
            </a:pPr>
            <a:r>
              <a:rPr sz="1125">
                <a:solidFill>
                  <a:srgbClr val="475569"/>
                </a:solidFill>
              </a:rPr>
              <a:t>Les règles de classes portent l’essentiel du rappel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B30FDA-A10C-4051-9C7B-6F037FB68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04925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FC054ADC-EF52-4C3F-882D-67BEB77A834A}"/>
              </a:ext>
            </a:extLst>
          </p:cNvPr>
          <p:cNvGraphicFramePr/>
          <p:nvPr/>
        </p:nvGraphicFramePr>
        <p:xfrm>
          <a:off xmlns:a="http://schemas.openxmlformats.org/drawingml/2006/main" x="714375" y="1809750"/>
          <a:ext xmlns:a="http://schemas.openxmlformats.org/drawingml/2006/main" cx="6667500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bc50f0ea7394855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0E85CD-9E29-44D4-8394-B6C65E987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1907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B42318"/>
                </a:solidFill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B42318"/>
                </a:solidFill>
              </a:defRPr>
            </a:pPr>
            <a:r>
              <a:rPr sz="1725" b="1">
                <a:solidFill>
                  <a:srgbClr val="B42318"/>
                </a:solidFill>
              </a:rPr>
              <a:t>Sans règles de classes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DA600F-9995-40DB-9C66-60DBBCED5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714625"/>
            <a:ext cx="2762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>
                <a:solidFill>
                  <a:srgbClr val="1F2937"/>
                </a:solidFill>
              </a:defRPr>
            </a:defPPr>
          </a:lstStyle>
          <a:p xmlns:a="http://schemas.openxmlformats.org/drawingml/2006/main">
            <a:pPr>
              <a:defRPr sz="1575">
                <a:solidFill>
                  <a:srgbClr val="1F2937"/>
                </a:solidFill>
              </a:defRPr>
            </a:pPr>
            <a:r>
              <a:rPr sz="1575">
                <a:solidFill>
                  <a:srgbClr val="1F2937"/>
                </a:solidFill>
              </a:rPr>
              <a:t>F1 : 0,486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>
                <a:solidFill>
                  <a:srgbClr val="1F2937"/>
                </a:solidFill>
              </a:defRPr>
            </a:pPr>
            <a:r>
              <a:rPr sz="1575">
                <a:solidFill>
                  <a:srgbClr val="1F2937"/>
                </a:solidFill>
              </a:rPr>
              <a:t>Le système perd la majorité des alertes attendues.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7B77D2-7972-4A0A-97A2-0CB1985A6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333875"/>
            <a:ext cx="2667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>
                <a:solidFill>
                  <a:srgbClr val="475569"/>
                </a:solidFill>
              </a:defRPr>
            </a:defPPr>
          </a:lstStyle>
          <a:p xmlns:a="http://schemas.openxmlformats.org/drawingml/2006/main">
            <a:pPr>
              <a:defRPr sz="1275">
                <a:solidFill>
                  <a:srgbClr val="475569"/>
                </a:solidFill>
              </a:defRPr>
            </a:pPr>
            <a:r>
              <a:rPr sz="1275">
                <a:solidFill>
                  <a:srgbClr val="475569"/>
                </a:solidFill>
              </a:rPr>
              <a:t>Les règles exploratoires par effets ajoutent 3 faux positifs. Le filtre de gravité les retire.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F43F4B-433E-4615-B1EB-F5C865BB4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>
                <a:solidFill>
                  <a:srgbClr val="475569"/>
                </a:solidFill>
              </a:defRPr>
            </a:defPPr>
          </a:lstStyle>
          <a:p xmlns:a="http://schemas.openxmlformats.org/drawingml/2006/main">
            <a:pPr>
              <a:defRPr sz="825">
                <a:solidFill>
                  <a:srgbClr val="475569"/>
                </a:solidFill>
              </a:defRPr>
            </a:pPr>
            <a:r>
              <a:rPr sz="825">
                <a:solidFill>
                  <a:srgbClr val="475569"/>
                </a:solidFill>
              </a:rPr>
              <a:t>OrdoGraph · Projet de vérification d’ordonnance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442820-AE1E-4280-BC0C-B723EC976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77000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>
                <a:solidFill>
                  <a:srgbClr val="475569"/>
                </a:solidFill>
              </a:defRPr>
            </a:defPPr>
          </a:lstStyle>
          <a:p xmlns:a="http://schemas.openxmlformats.org/drawingml/2006/main">
            <a:pPr>
              <a:defRPr sz="825">
                <a:solidFill>
                  <a:srgbClr val="475569"/>
                </a:solidFill>
              </a:defRPr>
            </a:pPr>
            <a:r>
              <a:rPr sz="825">
                <a:solidFill>
                  <a:srgbClr val="475569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455618737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AB3379-9EAE-47CC-BBA2-0F161049A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00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02A43"/>
                </a:solidFill>
              </a:defRPr>
            </a:pPr>
            <a:r>
              <a:rPr sz="2400" b="1">
                <a:solidFill>
                  <a:srgbClr val="102A43"/>
                </a:solidFill>
              </a:rPr>
              <a:t>Analyse d’erreurs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E83346-967B-41E1-9C10-33A98F65D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62025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>
                <a:solidFill>
                  <a:srgbClr val="475569"/>
                </a:solidFill>
              </a:defRPr>
            </a:defPPr>
          </a:lstStyle>
          <a:p xmlns:a="http://schemas.openxmlformats.org/drawingml/2006/main">
            <a:pPr>
              <a:defRPr sz="1125">
                <a:solidFill>
                  <a:srgbClr val="475569"/>
                </a:solidFill>
              </a:defRPr>
            </a:pPr>
            <a:r>
              <a:rPr sz="1125">
                <a:solidFill>
                  <a:srgbClr val="475569"/>
                </a:solidFill>
              </a:rPr>
              <a:t>Chaque erreur est attribuée à une brique identifiable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9B92DF-C193-48A2-82D2-4051A0D08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04925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89901A-045B-4425-B755-3FF1372B9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952625"/>
            <a:ext cx="4762500" cy="2714625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EE4E2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CEC005-7BF0-46BF-859F-97B7FAC6C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6695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B42318"/>
                </a:solidFill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B42318"/>
                </a:solidFill>
              </a:defRPr>
            </a:pPr>
            <a:r>
              <a:rPr sz="1725" b="1">
                <a:solidFill>
                  <a:srgbClr val="B42318"/>
                </a:solidFill>
              </a:rPr>
              <a:t>2 faux négatifs : graphe incomplet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672697-6C4D-4594-9EB3-8C0C78EAC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857500"/>
            <a:ext cx="3905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>
                <a:solidFill>
                  <a:srgbClr val="1F2937"/>
                </a:solidFill>
              </a:defRPr>
            </a:defPPr>
          </a:lstStyle>
          <a:p xmlns:a="http://schemas.openxmlformats.org/drawingml/2006/main">
            <a:pPr>
              <a:defRPr sz="1350">
                <a:solidFill>
                  <a:srgbClr val="1F2937"/>
                </a:solidFill>
              </a:defRPr>
            </a:pPr>
            <a:r>
              <a:rPr sz="1350">
                <a:solidFill>
                  <a:srgbClr val="1F2937"/>
                </a:solidFill>
              </a:rPr>
              <a:t>• Sertraline : sans classe PCiC</a:t>
            </a:r>
          </a:p>
          <a:p xmlns:a="http://schemas.openxmlformats.org/drawingml/2006/main">
            <a:pPr>
              <a:defRPr sz="1350">
                <a:solidFill>
                  <a:srgbClr val="1F2937"/>
                </a:solidFill>
              </a:defRPr>
            </a:pPr>
            <a:r>
              <a:rPr sz="1350">
                <a:solidFill>
                  <a:srgbClr val="1F2937"/>
                </a:solidFill>
              </a:rPr>
              <a:t>• Potassium chloride : sans classe utile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50">
                <a:solidFill>
                  <a:srgbClr val="1F2937"/>
                </a:solidFill>
              </a:defRPr>
            </a:pPr>
            <a:r>
              <a:rPr sz="1350">
                <a:solidFill>
                  <a:srgbClr val="1F2937"/>
                </a:solidFill>
              </a:rPr>
              <a:t>La règle existe ou serait plausible, mais le graphe ne fournit pas la preuve attendue.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FEFD51-CD2C-488D-8133-AD8E9E814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952625"/>
            <a:ext cx="4476750" cy="2714625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EE26B8-F613-4B89-85B4-07D3D998F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266950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D4ED8"/>
                </a:solidFill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1D4ED8"/>
                </a:solidFill>
              </a:defRPr>
            </a:pPr>
            <a:r>
              <a:rPr sz="1725" b="1">
                <a:solidFill>
                  <a:srgbClr val="1D4ED8"/>
                </a:solidFill>
              </a:rPr>
              <a:t>3 faux positifs : règle R13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D9FEB2-A0C1-4D84-8F63-A786A38AA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905125"/>
            <a:ext cx="3429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>
                <a:solidFill>
                  <a:srgbClr val="1F2937"/>
                </a:solidFill>
              </a:defRPr>
            </a:defPPr>
          </a:lstStyle>
          <a:p xmlns:a="http://schemas.openxmlformats.org/drawingml/2006/main">
            <a:pPr>
              <a:defRPr sz="1350">
                <a:solidFill>
                  <a:srgbClr val="1F2937"/>
                </a:solidFill>
              </a:defRPr>
            </a:pPr>
            <a:r>
              <a:rPr sz="1350">
                <a:solidFill>
                  <a:srgbClr val="1F2937"/>
                </a:solidFill>
              </a:rPr>
              <a:t>R13 utilise des effets graves communs.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50">
                <a:solidFill>
                  <a:srgbClr val="1F2937"/>
                </a:solidFill>
              </a:defRPr>
            </a:pPr>
            <a:r>
              <a:rPr sz="1350">
                <a:solidFill>
                  <a:srgbClr val="1F2937"/>
                </a:solidFill>
              </a:rPr>
              <a:t>Nous la marquons exploratoire, niveau 1, et nous la masquons dans la configuration retenue.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34C939-6E6B-4907-B22D-FF2597B89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3340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102A43"/>
                </a:solidFill>
              </a:defRPr>
            </a:pPr>
            <a:r>
              <a:rPr sz="1725" b="1">
                <a:solidFill>
                  <a:srgbClr val="102A43"/>
                </a:solidFill>
              </a:rPr>
              <a:t>Principe important : absence d’arête ≠ absence de risque.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F48FDD-B006-429B-BDE4-2B8034C3D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>
                <a:solidFill>
                  <a:srgbClr val="475569"/>
                </a:solidFill>
              </a:defRPr>
            </a:defPPr>
          </a:lstStyle>
          <a:p xmlns:a="http://schemas.openxmlformats.org/drawingml/2006/main">
            <a:pPr>
              <a:defRPr sz="825">
                <a:solidFill>
                  <a:srgbClr val="475569"/>
                </a:solidFill>
              </a:defRPr>
            </a:pPr>
            <a:r>
              <a:rPr sz="825">
                <a:solidFill>
                  <a:srgbClr val="475569"/>
                </a:solidFill>
              </a:rPr>
              <a:t>OrdoGraph · Projet de vérification d’ordonnance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CBBA53-F9B6-4AA1-BD0F-2059B76FF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77000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>
                <a:solidFill>
                  <a:srgbClr val="475569"/>
                </a:solidFill>
              </a:defRPr>
            </a:defPPr>
          </a:lstStyle>
          <a:p xmlns:a="http://schemas.openxmlformats.org/drawingml/2006/main">
            <a:pPr>
              <a:defRPr sz="825">
                <a:solidFill>
                  <a:srgbClr val="475569"/>
                </a:solidFill>
              </a:defRPr>
            </a:pPr>
            <a:r>
              <a:rPr sz="825">
                <a:solidFill>
                  <a:srgbClr val="475569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455597501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3E71E82-95A7-4628-AB80-78FD1C4CF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00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02A43"/>
                </a:solidFill>
              </a:defRPr>
            </a:pPr>
            <a:r>
              <a:rPr sz="2400" b="1">
                <a:solidFill>
                  <a:srgbClr val="102A43"/>
                </a:solidFill>
              </a:rPr>
              <a:t>Conclusion et limites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6FF8A3-BD7A-40A2-89E2-A818AF785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62025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>
                <a:solidFill>
                  <a:srgbClr val="475569"/>
                </a:solidFill>
              </a:defRPr>
            </a:defPPr>
          </a:lstStyle>
          <a:p xmlns:a="http://schemas.openxmlformats.org/drawingml/2006/main">
            <a:pPr>
              <a:defRPr sz="1125">
                <a:solidFill>
                  <a:srgbClr val="475569"/>
                </a:solidFill>
              </a:defRPr>
            </a:pPr>
            <a:r>
              <a:rPr sz="1125">
                <a:solidFill>
                  <a:srgbClr val="475569"/>
                </a:solidFill>
              </a:rPr>
              <a:t>Un prototype explicable, à valider avant tout usage clinique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BE0774-F6D1-4A9D-8372-163DCDE01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04925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CB3E7F-2571-407E-82E4-703F7FFD0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02A43"/>
                </a:solidFill>
              </a:defRPr>
            </a:pPr>
            <a:r>
              <a:rPr sz="1875" b="1">
                <a:solidFill>
                  <a:srgbClr val="102A43"/>
                </a:solidFill>
              </a:rPr>
              <a:t>Ce que le projet démontre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68418D-183D-45A2-B16E-9C92CA471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333625"/>
            <a:ext cx="171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EA5E9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EA5E9"/>
                </a:solidFill>
              </a:defRPr>
            </a:pPr>
            <a:r>
              <a:rPr sz="1500" b="1">
                <a:solidFill>
                  <a:srgbClr val="0EA5E9"/>
                </a:solidFill>
              </a:rPr>
              <a:t>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3FCE74-3082-4C3E-B9B0-A2014B8DA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2333625"/>
            <a:ext cx="4724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>
                <a:solidFill>
                  <a:srgbClr val="1F2937"/>
                </a:solidFill>
              </a:defRPr>
            </a:defPPr>
          </a:lstStyle>
          <a:p xmlns:a="http://schemas.openxmlformats.org/drawingml/2006/main">
            <a:pPr>
              <a:defRPr sz="1350">
                <a:solidFill>
                  <a:srgbClr val="1F2937"/>
                </a:solidFill>
              </a:defRPr>
            </a:pPr>
            <a:r>
              <a:rPr sz="1350">
                <a:solidFill>
                  <a:srgbClr val="1F2937"/>
                </a:solidFill>
              </a:rPr>
              <a:t>Alertes hiérarchisées et expliquées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294A92-2A47-41FF-9F56-56D268BCC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952750"/>
            <a:ext cx="171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EA5E9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EA5E9"/>
                </a:solidFill>
              </a:defRPr>
            </a:pPr>
            <a:r>
              <a:rPr sz="1500" b="1">
                <a:solidFill>
                  <a:srgbClr val="0EA5E9"/>
                </a:solidFill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962B86-FC97-4C03-BFAF-C60716C2C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2952750"/>
            <a:ext cx="4724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>
                <a:solidFill>
                  <a:srgbClr val="1F2937"/>
                </a:solidFill>
              </a:defRPr>
            </a:defPPr>
          </a:lstStyle>
          <a:p xmlns:a="http://schemas.openxmlformats.org/drawingml/2006/main">
            <a:pPr>
              <a:defRPr sz="1350">
                <a:solidFill>
                  <a:srgbClr val="1F2937"/>
                </a:solidFill>
              </a:defRPr>
            </a:pPr>
            <a:r>
              <a:rPr sz="1350">
                <a:solidFill>
                  <a:srgbClr val="1F2937"/>
                </a:solidFill>
              </a:rPr>
              <a:t>Règles cliniques séparées des hypothèses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521D90-7E32-4923-8E92-90718D8A8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71875"/>
            <a:ext cx="171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EA5E9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EA5E9"/>
                </a:solidFill>
              </a:defRPr>
            </a:pPr>
            <a:r>
              <a:rPr sz="1500" b="1">
                <a:solidFill>
                  <a:srgbClr val="0EA5E9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D65C74-29A8-4111-BC90-8BAF6FE6D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3571875"/>
            <a:ext cx="4724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>
                <a:solidFill>
                  <a:srgbClr val="1F2937"/>
                </a:solidFill>
              </a:defRPr>
            </a:defPPr>
          </a:lstStyle>
          <a:p xmlns:a="http://schemas.openxmlformats.org/drawingml/2006/main">
            <a:pPr>
              <a:defRPr sz="1350">
                <a:solidFill>
                  <a:srgbClr val="1F2937"/>
                </a:solidFill>
              </a:defRPr>
            </a:pPr>
            <a:r>
              <a:rPr sz="1350">
                <a:solidFill>
                  <a:srgbClr val="1F2937"/>
                </a:solidFill>
              </a:rPr>
              <a:t>F1 = 0,936 avec les alertes ≥ modérées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BD5376-CD26-437E-85CA-9FDB2FCB1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0975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02A43"/>
                </a:solidFill>
              </a:defRPr>
            </a:pPr>
            <a:r>
              <a:rPr sz="1875" b="1">
                <a:solidFill>
                  <a:srgbClr val="102A43"/>
                </a:solidFill>
              </a:rPr>
              <a:t>Limites à présenter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814660-063B-45FF-8A4A-BE054CE63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333625"/>
            <a:ext cx="171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EA5E9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EA5E9"/>
                </a:solidFill>
              </a:defRPr>
            </a:pPr>
            <a:r>
              <a:rPr sz="1500" b="1">
                <a:solidFill>
                  <a:srgbClr val="0EA5E9"/>
                </a:solidFill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0889D3-DA38-4268-B4B0-4DDE4805D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2333625"/>
            <a:ext cx="4057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>
                <a:solidFill>
                  <a:srgbClr val="1F2937"/>
                </a:solidFill>
              </a:defRPr>
            </a:defPPr>
          </a:lstStyle>
          <a:p xmlns:a="http://schemas.openxmlformats.org/drawingml/2006/main">
            <a:pPr>
              <a:defRPr sz="1350">
                <a:solidFill>
                  <a:srgbClr val="1F2937"/>
                </a:solidFill>
              </a:defRPr>
            </a:pPr>
            <a:r>
              <a:rPr sz="1350">
                <a:solidFill>
                  <a:srgbClr val="1F2937"/>
                </a:solidFill>
              </a:rPr>
              <a:t>Jeu de test petit et non indépendant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9B0477-8A81-45B1-A279-D745F7F66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952750"/>
            <a:ext cx="171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EA5E9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EA5E9"/>
                </a:solidFill>
              </a:defRPr>
            </a:pPr>
            <a:r>
              <a:rPr sz="1500" b="1">
                <a:solidFill>
                  <a:srgbClr val="0EA5E9"/>
                </a:solidFill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FDCA56-C317-422A-8F13-44D4A6F90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2952750"/>
            <a:ext cx="3867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>
                <a:solidFill>
                  <a:srgbClr val="1F2937"/>
                </a:solidFill>
              </a:defRPr>
            </a:defPPr>
          </a:lstStyle>
          <a:p xmlns:a="http://schemas.openxmlformats.org/drawingml/2006/main">
            <a:pPr>
              <a:defRPr sz="1350">
                <a:solidFill>
                  <a:srgbClr val="1F2937"/>
                </a:solidFill>
              </a:defRPr>
            </a:pPr>
            <a:r>
              <a:rPr sz="1350">
                <a:solidFill>
                  <a:srgbClr val="1F2937"/>
                </a:solidFill>
              </a:rPr>
              <a:t>Graphe incomplet et statique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3C233F-35BD-4D9B-8BC8-F97E01C94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571875"/>
            <a:ext cx="171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EA5E9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EA5E9"/>
                </a:solidFill>
              </a:defRPr>
            </a:pPr>
            <a:r>
              <a:rPr sz="1500" b="1">
                <a:solidFill>
                  <a:srgbClr val="0EA5E9"/>
                </a:solidFill>
              </a:rPr>
              <a:t>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90ECC8-1498-4807-AAA0-1BA08B26A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3571875"/>
            <a:ext cx="3867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>
                <a:solidFill>
                  <a:srgbClr val="1F2937"/>
                </a:solidFill>
              </a:defRPr>
            </a:defPPr>
          </a:lstStyle>
          <a:p xmlns:a="http://schemas.openxmlformats.org/drawingml/2006/main">
            <a:pPr>
              <a:defRPr sz="1350">
                <a:solidFill>
                  <a:srgbClr val="1F2937"/>
                </a:solidFill>
              </a:defRPr>
            </a:pPr>
            <a:r>
              <a:rPr sz="1350">
                <a:solidFill>
                  <a:srgbClr val="1F2937"/>
                </a:solidFill>
              </a:rPr>
              <a:t>Pas de dose ni de données patient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39A9FF-D4E4-45B9-BE1A-0046CEAFB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000625"/>
            <a:ext cx="9620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>
              <a:defRPr sz="1650">
                <a:solidFill>
                  <a:srgbClr val="102A43"/>
                </a:solidFill>
              </a:defRPr>
            </a:pPr>
            <a:r>
              <a:rPr sz="1650">
                <a:solidFill>
                  <a:srgbClr val="102A43"/>
                </a:solidFill>
              </a:rPr>
              <a:t>Suite : validation par pharmacien, jeu de test indépendant, et hypothèses de graphe évaluées séparément.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E30002-F0E7-41CE-A668-C973E5BBF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48375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i="1">
                <a:solidFill>
                  <a:srgbClr val="475569"/>
                </a:solidFill>
              </a:defRPr>
            </a:defPPr>
          </a:lstStyle>
          <a:p xmlns:a="http://schemas.openxmlformats.org/drawingml/2006/main">
            <a:pPr>
              <a:defRPr sz="900" i="1">
                <a:solidFill>
                  <a:srgbClr val="475569"/>
                </a:solidFill>
              </a:defRPr>
            </a:pPr>
            <a:r>
              <a:rPr sz="900" i="1">
                <a:solidFill>
                  <a:srgbClr val="475569"/>
                </a:solidFill>
              </a:rPr>
              <a:t>Sources : Hetionet v1.0 ; étiquettes FDA/DailyMed ; UCSD Health. Voir report/sources_medicales.md.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99222E-2741-457B-98BD-696277BD8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>
                <a:solidFill>
                  <a:srgbClr val="475569"/>
                </a:solidFill>
              </a:defRPr>
            </a:defPPr>
          </a:lstStyle>
          <a:p xmlns:a="http://schemas.openxmlformats.org/drawingml/2006/main">
            <a:pPr>
              <a:defRPr sz="825">
                <a:solidFill>
                  <a:srgbClr val="475569"/>
                </a:solidFill>
              </a:defRPr>
            </a:pPr>
            <a:r>
              <a:rPr sz="825">
                <a:solidFill>
                  <a:srgbClr val="475569"/>
                </a:solidFill>
              </a:rPr>
              <a:t>OrdoGraph · Projet de vérification d’ordonnance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5E6A95A-467B-45AD-9DBF-0EEFB3600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77000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>
                <a:solidFill>
                  <a:srgbClr val="475569"/>
                </a:solidFill>
              </a:defRPr>
            </a:defPPr>
          </a:lstStyle>
          <a:p xmlns:a="http://schemas.openxmlformats.org/drawingml/2006/main">
            <a:pPr>
              <a:defRPr sz="825">
                <a:solidFill>
                  <a:srgbClr val="475569"/>
                </a:solidFill>
              </a:defRPr>
            </a:pPr>
            <a:r>
              <a:rPr sz="825">
                <a:solidFill>
                  <a:srgbClr val="475569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73224840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2026-10-10T10:28:40.5610000Z</dcterms:created>
  <dcterms:modified xsi:type="dcterms:W3CDTF">2026-10-10T10:28:40.5610000Z</dcterms:modified>
</coreProperties>
</file>