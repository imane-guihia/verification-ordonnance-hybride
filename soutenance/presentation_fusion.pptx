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Default Extension="png" ContentType="image/png"/>
  <Override PartName="/ppt/notesSlides/notesSlide3.xml" ContentType="application/vnd.openxmlformats-officedocument.presentationml.notesSlide+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theme/theme2.xml" ContentType="application/vnd.openxmlformats-officedocument.theme+xml"/>
  <Override PartName="/ppt/revisionInfo.xml" ContentType="application/vnd.ms-powerpoint.revisioninfo+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670903-C729-E12F-D5F2-EE588F6DDDE2}" v="1" dt="2026-10-15T16:20:48.4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11"/>
    <p:restoredTop sz="78000" autoAdjust="0"/>
  </p:normalViewPr>
  <p:slideViewPr>
    <p:cSldViewPr snapToGrid="0" snapToObjects="1">
      <p:cViewPr varScale="1">
        <p:scale>
          <a:sx n="55" d="100"/>
          <a:sy n="55" d="100"/>
        </p:scale>
        <p:origin x="-1278" y="-90"/>
      </p:cViewPr>
      <p:guideLst>
        <p:guide orient="horz" pos="2160"/>
        <p:guide pos="3840"/>
      </p:guideLst>
    </p:cSldViewPr>
  </p:slideViewPr>
  <p:notesTextViewPr>
    <p:cViewPr>
      <p:scale>
        <a:sx n="1" d="1"/>
        <a:sy n="1" d="1"/>
      </p:scale>
      <p:origin x="0" y="108"/>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4FD55F9A-7859-46FE-8A5C-4C101A73E515}" type="datetimeFigureOut">
              <a:rPr/>
              <a:pPr/>
              <a:t>15/10/2026</a:t>
            </a:fld>
            <a:endParaRPr lang="fr-FR"/>
          </a:p>
        </p:txBody>
      </p:sp>
      <p:sp>
        <p:nvSpPr>
          <p:cNvPr id="4" name="Espace réservé de l'image des diapositives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8302A1DC-B801-49E6-8C79-C050FC97461D}" type="slidenum">
              <a:rPr/>
              <a:pPr/>
              <a:t>‹N°›</a:t>
            </a:fld>
            <a:endParaRPr lang="fr-FR"/>
          </a:p>
        </p:txBody>
      </p:sp>
    </p:spTree>
    <p:extLst>
      <p:ext uri="{BB962C8B-B14F-4D97-AF65-F5344CB8AC3E}">
        <p14:creationId xmlns:p14="http://schemas.microsoft.com/office/powerpoint/2010/main" xmlns="" val="33720038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a:t>
            </a:r>
            <a:r>
              <a:rPr lang="en-US" dirty="0" err="1"/>
              <a:t>tous</a:t>
            </a:r>
            <a:r>
              <a:rPr lang="en-US" dirty="0"/>
              <a:t>. Avec Mohamed Aziz Braham, nous </a:t>
            </a:r>
            <a:r>
              <a:rPr lang="en-US" dirty="0" err="1"/>
              <a:t>allons</a:t>
            </a:r>
            <a:r>
              <a:rPr lang="en-US" dirty="0"/>
              <a:t> vous </a:t>
            </a:r>
            <a:r>
              <a:rPr lang="en-US" dirty="0" err="1"/>
              <a:t>présenter</a:t>
            </a:r>
            <a:r>
              <a:rPr lang="en-US" dirty="0"/>
              <a:t> </a:t>
            </a:r>
            <a:r>
              <a:rPr lang="en-US" dirty="0" err="1"/>
              <a:t>notre</a:t>
            </a:r>
            <a:r>
              <a:rPr lang="en-US" dirty="0"/>
              <a:t> mini-</a:t>
            </a:r>
            <a:r>
              <a:rPr lang="en-US" dirty="0" err="1"/>
              <a:t>projet</a:t>
            </a:r>
            <a:r>
              <a:rPr lang="en-US" dirty="0"/>
              <a:t> </a:t>
            </a:r>
            <a:r>
              <a:rPr lang="en-US" dirty="0" err="1"/>
              <a:t>d’intelligence</a:t>
            </a:r>
            <a:r>
              <a:rPr lang="en-US" dirty="0"/>
              <a:t> </a:t>
            </a:r>
            <a:r>
              <a:rPr lang="en-US" dirty="0" err="1"/>
              <a:t>artificielle</a:t>
            </a:r>
            <a:r>
              <a:rPr lang="en-US" dirty="0"/>
              <a:t> </a:t>
            </a:r>
            <a:r>
              <a:rPr lang="en-US" dirty="0" err="1"/>
              <a:t>hybride</a:t>
            </a:r>
            <a:r>
              <a:rPr lang="en-US" dirty="0"/>
              <a:t> : un </a:t>
            </a:r>
            <a:r>
              <a:rPr lang="en-US" dirty="0" err="1"/>
              <a:t>système</a:t>
            </a:r>
            <a:r>
              <a:rPr lang="en-US" dirty="0"/>
              <a:t> qui </a:t>
            </a:r>
            <a:r>
              <a:rPr lang="en-US" dirty="0" err="1"/>
              <a:t>vérifie</a:t>
            </a:r>
            <a:r>
              <a:rPr lang="en-US" dirty="0"/>
              <a:t> </a:t>
            </a:r>
            <a:r>
              <a:rPr lang="en-US" dirty="0" err="1"/>
              <a:t>une</a:t>
            </a:r>
            <a:r>
              <a:rPr lang="en-US" dirty="0"/>
              <a:t> ordonnance à </a:t>
            </a:r>
            <a:r>
              <a:rPr lang="en-US" dirty="0" err="1"/>
              <a:t>l’aide</a:t>
            </a:r>
            <a:r>
              <a:rPr lang="en-US" dirty="0"/>
              <a:t> d’un </a:t>
            </a:r>
            <a:r>
              <a:rPr lang="en-US" dirty="0" err="1"/>
              <a:t>graphe</a:t>
            </a:r>
            <a:r>
              <a:rPr lang="en-US" dirty="0"/>
              <a:t> de </a:t>
            </a:r>
            <a:r>
              <a:rPr lang="en-US" dirty="0" err="1"/>
              <a:t>connaissances</a:t>
            </a:r>
            <a:r>
              <a:rPr lang="en-US" dirty="0"/>
              <a:t> et de </a:t>
            </a:r>
            <a:r>
              <a:rPr lang="en-US" dirty="0" err="1"/>
              <a:t>règles</a:t>
            </a:r>
            <a:r>
              <a:rPr lang="en-US" dirty="0"/>
              <a:t> </a:t>
            </a:r>
            <a:r>
              <a:rPr lang="en-US" dirty="0" err="1"/>
              <a:t>médicales</a:t>
            </a:r>
            <a:r>
              <a:rPr lang="en-US" dirty="0"/>
              <a:t>.</a:t>
            </a:r>
            <a:r>
              <a:rPr lang="en-US" dirty="0">
                <a:cs typeface="+mn-lt"/>
              </a:rPr>
              <a:t/>
            </a:r>
            <a:br>
              <a:rPr lang="en-US" dirty="0">
                <a:cs typeface="+mn-lt"/>
              </a:rPr>
            </a:br>
            <a:r>
              <a:rPr lang="en-US" dirty="0" err="1"/>
              <a:t>L’objectif</a:t>
            </a:r>
            <a:r>
              <a:rPr lang="en-US" dirty="0"/>
              <a:t> est simple : signaler les associations de </a:t>
            </a:r>
            <a:r>
              <a:rPr lang="en-US" dirty="0" err="1"/>
              <a:t>médicaments</a:t>
            </a:r>
            <a:r>
              <a:rPr lang="en-US" dirty="0"/>
              <a:t> à </a:t>
            </a:r>
            <a:r>
              <a:rPr lang="en-US" dirty="0" err="1"/>
              <a:t>risque</a:t>
            </a:r>
            <a:r>
              <a:rPr lang="en-US" dirty="0"/>
              <a:t>, les classer par </a:t>
            </a:r>
            <a:r>
              <a:rPr lang="en-US" dirty="0" err="1"/>
              <a:t>gravité</a:t>
            </a:r>
            <a:r>
              <a:rPr lang="en-US" dirty="0"/>
              <a:t>, et surtout </a:t>
            </a:r>
            <a:r>
              <a:rPr lang="en-US" dirty="0" err="1"/>
              <a:t>expliquer</a:t>
            </a:r>
            <a:r>
              <a:rPr lang="en-US" dirty="0"/>
              <a:t> </a:t>
            </a:r>
            <a:r>
              <a:rPr lang="en-US" dirty="0" err="1"/>
              <a:t>chaque</a:t>
            </a:r>
            <a:r>
              <a:rPr lang="en-US" dirty="0"/>
              <a:t> </a:t>
            </a:r>
            <a:r>
              <a:rPr lang="en-US" dirty="0" err="1"/>
              <a:t>alerte</a:t>
            </a:r>
            <a:r>
              <a:rPr lang="en-US" dirty="0"/>
              <a:t>.</a:t>
            </a:r>
            <a:r>
              <a:rPr lang="en-US" dirty="0">
                <a:cs typeface="+mn-lt"/>
              </a:rPr>
              <a:t/>
            </a:r>
            <a:br>
              <a:rPr lang="en-US" dirty="0">
                <a:cs typeface="+mn-lt"/>
              </a:rPr>
            </a:br>
            <a:r>
              <a:rPr lang="en-US" dirty="0" err="1"/>
              <a:t>Précisons</a:t>
            </a:r>
            <a:r>
              <a:rPr lang="en-US" dirty="0"/>
              <a:t>-le </a:t>
            </a:r>
            <a:r>
              <a:rPr lang="en-US" dirty="0" err="1"/>
              <a:t>dès</a:t>
            </a:r>
            <a:r>
              <a:rPr lang="en-US" dirty="0"/>
              <a:t> le </a:t>
            </a:r>
            <a:r>
              <a:rPr lang="en-US" dirty="0" err="1"/>
              <a:t>départ</a:t>
            </a:r>
            <a:r>
              <a:rPr lang="en-US" dirty="0"/>
              <a:t> : </a:t>
            </a:r>
            <a:r>
              <a:rPr lang="en-US" dirty="0" err="1"/>
              <a:t>c’est</a:t>
            </a:r>
            <a:r>
              <a:rPr lang="en-US" dirty="0"/>
              <a:t> un prototype </a:t>
            </a:r>
            <a:r>
              <a:rPr lang="en-US" dirty="0" err="1"/>
              <a:t>pédagogique</a:t>
            </a:r>
            <a:r>
              <a:rPr lang="en-US" dirty="0"/>
              <a:t>, il ne </a:t>
            </a:r>
            <a:r>
              <a:rPr lang="en-US" dirty="0" err="1"/>
              <a:t>remplace</a:t>
            </a:r>
            <a:r>
              <a:rPr lang="en-US" dirty="0"/>
              <a:t> pas </a:t>
            </a:r>
            <a:r>
              <a:rPr lang="en-US" dirty="0" err="1"/>
              <a:t>l’avis</a:t>
            </a:r>
            <a:r>
              <a:rPr lang="en-US" dirty="0"/>
              <a:t> d’un </a:t>
            </a:r>
            <a:r>
              <a:rPr lang="en-US" dirty="0" err="1"/>
              <a:t>pharmacien</a:t>
            </a:r>
            <a:r>
              <a:rPr lang="en-US" dirty="0"/>
              <a:t> </a:t>
            </a:r>
            <a:r>
              <a:rPr lang="en-US" dirty="0" err="1"/>
              <a:t>ou</a:t>
            </a:r>
            <a:r>
              <a:rPr lang="en-US" dirty="0"/>
              <a:t> d’un </a:t>
            </a:r>
            <a:r>
              <a:rPr lang="en-US" dirty="0" err="1"/>
              <a:t>médecin</a:t>
            </a:r>
            <a:r>
              <a:rPr lang="en-US" dirty="0"/>
              <a:t>.</a:t>
            </a:r>
            <a:endParaRPr lang="fr-FR" dirty="0"/>
          </a:p>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pPr/>
              <a:t>1</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ordonnance </a:t>
            </a:r>
            <a:r>
              <a:rPr lang="en-US" dirty="0" err="1"/>
              <a:t>contient</a:t>
            </a:r>
            <a:r>
              <a:rPr lang="en-US" dirty="0"/>
              <a:t> </a:t>
            </a:r>
            <a:r>
              <a:rPr lang="en-US" dirty="0" err="1"/>
              <a:t>souvent</a:t>
            </a:r>
            <a:r>
              <a:rPr lang="en-US" dirty="0"/>
              <a:t> </a:t>
            </a:r>
            <a:r>
              <a:rPr lang="en-US" dirty="0" err="1"/>
              <a:t>plusieurs</a:t>
            </a:r>
            <a:r>
              <a:rPr lang="en-US" dirty="0"/>
              <a:t> </a:t>
            </a:r>
            <a:r>
              <a:rPr lang="en-US" dirty="0" err="1"/>
              <a:t>médicaments</a:t>
            </a:r>
            <a:r>
              <a:rPr lang="en-US" dirty="0"/>
              <a:t>, et </a:t>
            </a:r>
            <a:r>
              <a:rPr lang="en-US" dirty="0" err="1"/>
              <a:t>certaines</a:t>
            </a:r>
            <a:r>
              <a:rPr lang="en-US" dirty="0"/>
              <a:t> associations </a:t>
            </a:r>
            <a:r>
              <a:rPr lang="en-US" dirty="0" err="1"/>
              <a:t>augmentent</a:t>
            </a:r>
            <a:r>
              <a:rPr lang="en-US" dirty="0"/>
              <a:t> des </a:t>
            </a:r>
            <a:r>
              <a:rPr lang="en-US" dirty="0" err="1"/>
              <a:t>risques</a:t>
            </a:r>
            <a:r>
              <a:rPr lang="en-US" dirty="0"/>
              <a:t> </a:t>
            </a:r>
            <a:r>
              <a:rPr lang="en-US" dirty="0" err="1"/>
              <a:t>comme</a:t>
            </a:r>
            <a:r>
              <a:rPr lang="en-US" dirty="0"/>
              <a:t> le </a:t>
            </a:r>
            <a:r>
              <a:rPr lang="en-US" dirty="0" err="1"/>
              <a:t>saignement</a:t>
            </a:r>
            <a:r>
              <a:rPr lang="en-US" dirty="0"/>
              <a:t>, </a:t>
            </a:r>
            <a:r>
              <a:rPr lang="en-US" dirty="0" err="1"/>
              <a:t>l’hyperkaliémie</a:t>
            </a:r>
            <a:r>
              <a:rPr lang="en-US" dirty="0"/>
              <a:t> </a:t>
            </a:r>
            <a:r>
              <a:rPr lang="en-US" dirty="0" err="1"/>
              <a:t>ou</a:t>
            </a:r>
            <a:r>
              <a:rPr lang="en-US" dirty="0"/>
              <a:t> la </a:t>
            </a:r>
            <a:r>
              <a:rPr lang="en-US" dirty="0" err="1"/>
              <a:t>toxicité</a:t>
            </a:r>
            <a:r>
              <a:rPr lang="en-US" dirty="0"/>
              <a:t>.</a:t>
            </a:r>
            <a:r>
              <a:rPr lang="en-US" dirty="0">
                <a:cs typeface="+mn-lt"/>
              </a:rPr>
              <a:t/>
            </a:r>
            <a:br>
              <a:rPr lang="en-US" dirty="0">
                <a:cs typeface="+mn-lt"/>
              </a:rPr>
            </a:br>
            <a:r>
              <a:rPr lang="en-US" dirty="0"/>
              <a:t>Notre </a:t>
            </a:r>
            <a:r>
              <a:rPr lang="en-US" dirty="0" err="1"/>
              <a:t>système</a:t>
            </a:r>
            <a:r>
              <a:rPr lang="en-US" dirty="0"/>
              <a:t> doit </a:t>
            </a:r>
            <a:r>
              <a:rPr lang="en-US" dirty="0" err="1"/>
              <a:t>donc</a:t>
            </a:r>
            <a:r>
              <a:rPr lang="en-US" dirty="0"/>
              <a:t> faire trois choses : </a:t>
            </a:r>
            <a:r>
              <a:rPr lang="en-US" dirty="0" err="1"/>
              <a:t>détecter</a:t>
            </a:r>
            <a:r>
              <a:rPr lang="en-US" dirty="0"/>
              <a:t> </a:t>
            </a:r>
            <a:r>
              <a:rPr lang="en-US" dirty="0" err="1"/>
              <a:t>ces</a:t>
            </a:r>
            <a:r>
              <a:rPr lang="en-US" dirty="0"/>
              <a:t> associations, les </a:t>
            </a:r>
            <a:r>
              <a:rPr lang="en-US" dirty="0" err="1"/>
              <a:t>hiérarchiser</a:t>
            </a:r>
            <a:r>
              <a:rPr lang="en-US" dirty="0"/>
              <a:t> </a:t>
            </a:r>
            <a:r>
              <a:rPr lang="en-US" dirty="0" err="1"/>
              <a:t>selon</a:t>
            </a:r>
            <a:r>
              <a:rPr lang="en-US" dirty="0"/>
              <a:t> </a:t>
            </a:r>
            <a:r>
              <a:rPr lang="en-US" dirty="0" err="1"/>
              <a:t>l’échelle</a:t>
            </a:r>
            <a:r>
              <a:rPr lang="en-US" dirty="0"/>
              <a:t> de </a:t>
            </a:r>
            <a:r>
              <a:rPr lang="en-US" dirty="0" err="1"/>
              <a:t>gravité</a:t>
            </a:r>
            <a:r>
              <a:rPr lang="en-US" dirty="0"/>
              <a:t> de </a:t>
            </a:r>
            <a:r>
              <a:rPr lang="en-US" dirty="0" err="1"/>
              <a:t>l’ANSM</a:t>
            </a:r>
            <a:r>
              <a:rPr lang="en-US" dirty="0"/>
              <a:t>, de 1 à 4, et </a:t>
            </a:r>
            <a:r>
              <a:rPr lang="en-US" dirty="0" err="1"/>
              <a:t>expliquer</a:t>
            </a:r>
            <a:r>
              <a:rPr lang="en-US" dirty="0"/>
              <a:t> </a:t>
            </a:r>
            <a:r>
              <a:rPr lang="en-US" dirty="0" err="1"/>
              <a:t>chaque</a:t>
            </a:r>
            <a:r>
              <a:rPr lang="en-US" dirty="0"/>
              <a:t> </a:t>
            </a:r>
            <a:r>
              <a:rPr lang="en-US" dirty="0" err="1"/>
              <a:t>alerte</a:t>
            </a:r>
            <a:r>
              <a:rPr lang="en-US" dirty="0"/>
              <a:t> avec </a:t>
            </a:r>
            <a:r>
              <a:rPr lang="en-US" dirty="0" err="1"/>
              <a:t>sa</a:t>
            </a:r>
            <a:r>
              <a:rPr lang="en-US" dirty="0"/>
              <a:t> </a:t>
            </a:r>
            <a:r>
              <a:rPr lang="en-US" dirty="0" err="1"/>
              <a:t>règle</a:t>
            </a:r>
            <a:r>
              <a:rPr lang="en-US" dirty="0"/>
              <a:t>, </a:t>
            </a:r>
            <a:r>
              <a:rPr lang="en-US" dirty="0" err="1"/>
              <a:t>sa</a:t>
            </a:r>
            <a:r>
              <a:rPr lang="en-US" dirty="0"/>
              <a:t> source et </a:t>
            </a:r>
            <a:r>
              <a:rPr lang="en-US" dirty="0" err="1"/>
              <a:t>sa</a:t>
            </a:r>
            <a:r>
              <a:rPr lang="en-US" dirty="0"/>
              <a:t> </a:t>
            </a:r>
            <a:r>
              <a:rPr lang="en-US" dirty="0" err="1"/>
              <a:t>preuve</a:t>
            </a:r>
            <a:r>
              <a:rPr lang="en-US" dirty="0"/>
              <a:t>.</a:t>
            </a:r>
            <a:r>
              <a:rPr lang="en-US" dirty="0">
                <a:cs typeface="+mn-lt"/>
              </a:rPr>
              <a:t/>
            </a:r>
            <a:br>
              <a:rPr lang="en-US" dirty="0">
                <a:cs typeface="+mn-lt"/>
              </a:rPr>
            </a:br>
            <a:r>
              <a:rPr lang="en-US" dirty="0"/>
              <a:t>La </a:t>
            </a:r>
            <a:r>
              <a:rPr lang="en-US" dirty="0" err="1"/>
              <a:t>difficulté</a:t>
            </a:r>
            <a:r>
              <a:rPr lang="en-US" dirty="0"/>
              <a:t>, </a:t>
            </a:r>
            <a:r>
              <a:rPr lang="en-US" dirty="0" err="1"/>
              <a:t>c’est</a:t>
            </a:r>
            <a:r>
              <a:rPr lang="en-US" dirty="0"/>
              <a:t> la fatigue </a:t>
            </a:r>
            <a:r>
              <a:rPr lang="en-US" dirty="0" err="1"/>
              <a:t>d’alerte</a:t>
            </a:r>
            <a:r>
              <a:rPr lang="en-US" dirty="0"/>
              <a:t> : </a:t>
            </a:r>
            <a:r>
              <a:rPr lang="en-US" dirty="0" err="1"/>
              <a:t>si</a:t>
            </a:r>
            <a:r>
              <a:rPr lang="en-US" dirty="0"/>
              <a:t> un </a:t>
            </a:r>
            <a:r>
              <a:rPr lang="en-US" dirty="0" err="1"/>
              <a:t>logiciel</a:t>
            </a:r>
            <a:r>
              <a:rPr lang="en-US" dirty="0"/>
              <a:t> </a:t>
            </a:r>
            <a:r>
              <a:rPr lang="en-US" dirty="0" err="1"/>
              <a:t>alerte</a:t>
            </a:r>
            <a:r>
              <a:rPr lang="en-US" dirty="0"/>
              <a:t> trop </a:t>
            </a:r>
            <a:r>
              <a:rPr lang="en-US" dirty="0" err="1"/>
              <a:t>souvent</a:t>
            </a:r>
            <a:r>
              <a:rPr lang="en-US" dirty="0"/>
              <a:t>, le </a:t>
            </a:r>
            <a:r>
              <a:rPr lang="en-US" dirty="0" err="1"/>
              <a:t>prescripteur</a:t>
            </a:r>
            <a:r>
              <a:rPr lang="en-US" dirty="0"/>
              <a:t> </a:t>
            </a:r>
            <a:r>
              <a:rPr lang="en-US" dirty="0" err="1"/>
              <a:t>finit</a:t>
            </a:r>
            <a:r>
              <a:rPr lang="en-US" dirty="0"/>
              <a:t> par ignorer </a:t>
            </a:r>
            <a:r>
              <a:rPr lang="en-US" dirty="0" err="1"/>
              <a:t>toutes</a:t>
            </a:r>
            <a:r>
              <a:rPr lang="en-US" dirty="0"/>
              <a:t> les </a:t>
            </a:r>
            <a:r>
              <a:rPr lang="en-US" dirty="0" err="1"/>
              <a:t>alertes</a:t>
            </a:r>
            <a:r>
              <a:rPr lang="en-US" dirty="0"/>
              <a:t>, </a:t>
            </a:r>
            <a:r>
              <a:rPr lang="en-US" dirty="0" err="1"/>
              <a:t>même</a:t>
            </a:r>
            <a:r>
              <a:rPr lang="en-US" dirty="0"/>
              <a:t> les plus graves.</a:t>
            </a:r>
            <a:r>
              <a:rPr lang="en-US" dirty="0">
                <a:cs typeface="+mn-lt"/>
              </a:rPr>
              <a:t/>
            </a:r>
            <a:br>
              <a:rPr lang="en-US" dirty="0">
                <a:cs typeface="+mn-lt"/>
              </a:rPr>
            </a:br>
            <a:r>
              <a:rPr lang="en-US" dirty="0"/>
              <a:t>Pour </a:t>
            </a:r>
            <a:r>
              <a:rPr lang="en-US" dirty="0" err="1"/>
              <a:t>connaître</a:t>
            </a:r>
            <a:r>
              <a:rPr lang="en-US" dirty="0"/>
              <a:t> les </a:t>
            </a:r>
            <a:r>
              <a:rPr lang="en-US" dirty="0" err="1"/>
              <a:t>médicaments</a:t>
            </a:r>
            <a:r>
              <a:rPr lang="en-US" dirty="0"/>
              <a:t>, nous </a:t>
            </a:r>
            <a:r>
              <a:rPr lang="en-US" dirty="0" err="1"/>
              <a:t>nous</a:t>
            </a:r>
            <a:r>
              <a:rPr lang="en-US" dirty="0"/>
              <a:t> </a:t>
            </a:r>
            <a:r>
              <a:rPr lang="en-US" dirty="0" err="1"/>
              <a:t>sommes</a:t>
            </a:r>
            <a:r>
              <a:rPr lang="en-US" dirty="0"/>
              <a:t> </a:t>
            </a:r>
            <a:r>
              <a:rPr lang="en-US" dirty="0" err="1"/>
              <a:t>appuyés</a:t>
            </a:r>
            <a:r>
              <a:rPr lang="en-US" dirty="0"/>
              <a:t> sur </a:t>
            </a:r>
            <a:r>
              <a:rPr lang="en-US" dirty="0" err="1"/>
              <a:t>Hetionet</a:t>
            </a:r>
            <a:r>
              <a:rPr lang="en-US" dirty="0"/>
              <a:t>.</a:t>
            </a:r>
            <a:endParaRPr lang="fr-FR" dirty="0"/>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pPr/>
              <a:t>2</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Hetionet</a:t>
            </a:r>
            <a:r>
              <a:rPr lang="en-US" dirty="0"/>
              <a:t> est un </a:t>
            </a:r>
            <a:r>
              <a:rPr lang="en-US" dirty="0" err="1"/>
              <a:t>graphe</a:t>
            </a:r>
            <a:r>
              <a:rPr lang="en-US" dirty="0"/>
              <a:t> </a:t>
            </a:r>
            <a:r>
              <a:rPr lang="en-US" dirty="0" err="1"/>
              <a:t>biomédical</a:t>
            </a:r>
            <a:r>
              <a:rPr lang="en-US" dirty="0"/>
              <a:t> public. Sur </a:t>
            </a:r>
            <a:r>
              <a:rPr lang="en-US" dirty="0" err="1"/>
              <a:t>ses</a:t>
            </a:r>
            <a:r>
              <a:rPr lang="en-US" dirty="0"/>
              <a:t> 47 031 </a:t>
            </a:r>
            <a:r>
              <a:rPr lang="en-US" dirty="0" err="1"/>
              <a:t>nœuds</a:t>
            </a:r>
            <a:r>
              <a:rPr lang="en-US" dirty="0"/>
              <a:t>, nous </a:t>
            </a:r>
            <a:r>
              <a:rPr lang="en-US" dirty="0" err="1"/>
              <a:t>avons</a:t>
            </a:r>
            <a:r>
              <a:rPr lang="en-US" dirty="0"/>
              <a:t> </a:t>
            </a:r>
            <a:r>
              <a:rPr lang="en-US" dirty="0" err="1"/>
              <a:t>gardé</a:t>
            </a:r>
            <a:r>
              <a:rPr lang="en-US" dirty="0"/>
              <a:t> les 9 364 </a:t>
            </a:r>
            <a:r>
              <a:rPr lang="en-US" dirty="0" err="1"/>
              <a:t>utiles</a:t>
            </a:r>
            <a:r>
              <a:rPr lang="en-US" dirty="0"/>
              <a:t> à </a:t>
            </a:r>
            <a:r>
              <a:rPr lang="en-US" dirty="0" err="1"/>
              <a:t>notre</a:t>
            </a:r>
            <a:r>
              <a:rPr lang="en-US" dirty="0"/>
              <a:t> </a:t>
            </a:r>
            <a:r>
              <a:rPr lang="en-US" dirty="0" err="1"/>
              <a:t>problème</a:t>
            </a:r>
            <a:r>
              <a:rPr lang="en-US" dirty="0"/>
              <a:t> : les </a:t>
            </a:r>
            <a:r>
              <a:rPr lang="en-US" dirty="0" err="1"/>
              <a:t>médicaments</a:t>
            </a:r>
            <a:r>
              <a:rPr lang="en-US" dirty="0"/>
              <a:t>, </a:t>
            </a:r>
            <a:r>
              <a:rPr lang="en-US" dirty="0" err="1"/>
              <a:t>leurs</a:t>
            </a:r>
            <a:r>
              <a:rPr lang="en-US" dirty="0"/>
              <a:t> classes </a:t>
            </a:r>
            <a:r>
              <a:rPr lang="en-US" dirty="0" err="1"/>
              <a:t>pharmacologiques</a:t>
            </a:r>
            <a:r>
              <a:rPr lang="en-US" dirty="0"/>
              <a:t>, </a:t>
            </a:r>
            <a:r>
              <a:rPr lang="en-US" dirty="0" err="1"/>
              <a:t>leurs</a:t>
            </a:r>
            <a:r>
              <a:rPr lang="en-US" dirty="0"/>
              <a:t> </a:t>
            </a:r>
            <a:r>
              <a:rPr lang="en-US" dirty="0" err="1"/>
              <a:t>cibles</a:t>
            </a:r>
            <a:r>
              <a:rPr lang="en-US" dirty="0"/>
              <a:t> et </a:t>
            </a:r>
            <a:r>
              <a:rPr lang="en-US" dirty="0" err="1"/>
              <a:t>leurs</a:t>
            </a:r>
            <a:r>
              <a:rPr lang="en-US" dirty="0"/>
              <a:t> </a:t>
            </a:r>
            <a:r>
              <a:rPr lang="en-US" dirty="0" err="1"/>
              <a:t>effets</a:t>
            </a:r>
            <a:r>
              <a:rPr lang="en-US" dirty="0"/>
              <a:t> </a:t>
            </a:r>
            <a:r>
              <a:rPr lang="en-US" dirty="0" err="1"/>
              <a:t>indésirables</a:t>
            </a:r>
            <a:r>
              <a:rPr lang="en-US" dirty="0"/>
              <a:t>.</a:t>
            </a:r>
            <a:r>
              <a:rPr lang="en-US" dirty="0">
                <a:cs typeface="+mn-lt"/>
              </a:rPr>
              <a:t/>
            </a:r>
            <a:br>
              <a:rPr lang="en-US" dirty="0">
                <a:cs typeface="+mn-lt"/>
              </a:rPr>
            </a:br>
            <a:r>
              <a:rPr lang="en-US" dirty="0"/>
              <a:t>Mais </a:t>
            </a:r>
            <a:r>
              <a:rPr lang="en-US" dirty="0" err="1"/>
              <a:t>ce</a:t>
            </a:r>
            <a:r>
              <a:rPr lang="en-US" dirty="0"/>
              <a:t> </a:t>
            </a:r>
            <a:r>
              <a:rPr lang="en-US" dirty="0" err="1"/>
              <a:t>graphe</a:t>
            </a:r>
            <a:r>
              <a:rPr lang="en-US" dirty="0"/>
              <a:t> est </a:t>
            </a:r>
            <a:r>
              <a:rPr lang="en-US" dirty="0" err="1"/>
              <a:t>incomplet</a:t>
            </a:r>
            <a:r>
              <a:rPr lang="en-US" dirty="0"/>
              <a:t> pour </a:t>
            </a:r>
            <a:r>
              <a:rPr lang="en-US" dirty="0" err="1"/>
              <a:t>notre</a:t>
            </a:r>
            <a:r>
              <a:rPr lang="en-US" dirty="0"/>
              <a:t> usage. </a:t>
            </a:r>
            <a:r>
              <a:rPr lang="en-US" dirty="0" err="1"/>
              <a:t>Seulement</a:t>
            </a:r>
            <a:r>
              <a:rPr lang="en-US" dirty="0"/>
              <a:t> 47 % des </a:t>
            </a:r>
            <a:r>
              <a:rPr lang="en-US" dirty="0" err="1"/>
              <a:t>médicaments</a:t>
            </a:r>
            <a:r>
              <a:rPr lang="en-US" dirty="0"/>
              <a:t> y </a:t>
            </a:r>
            <a:r>
              <a:rPr lang="en-US" dirty="0" err="1"/>
              <a:t>ont</a:t>
            </a:r>
            <a:r>
              <a:rPr lang="en-US" dirty="0"/>
              <a:t> </a:t>
            </a:r>
            <a:r>
              <a:rPr lang="en-US" dirty="0" err="1"/>
              <a:t>une</a:t>
            </a:r>
            <a:r>
              <a:rPr lang="en-US" dirty="0"/>
              <a:t> </a:t>
            </a:r>
            <a:r>
              <a:rPr lang="en-US" dirty="0" err="1"/>
              <a:t>classe</a:t>
            </a:r>
            <a:r>
              <a:rPr lang="en-US" dirty="0"/>
              <a:t> : les </a:t>
            </a:r>
            <a:r>
              <a:rPr lang="en-US" dirty="0" err="1"/>
              <a:t>statines</a:t>
            </a:r>
            <a:r>
              <a:rPr lang="en-US" dirty="0"/>
              <a:t>, les IEC </a:t>
            </a:r>
            <a:r>
              <a:rPr lang="en-US" dirty="0" err="1"/>
              <a:t>ou</a:t>
            </a:r>
            <a:r>
              <a:rPr lang="en-US" dirty="0"/>
              <a:t> le potassium </a:t>
            </a:r>
            <a:r>
              <a:rPr lang="en-US" dirty="0" err="1"/>
              <a:t>n’en</a:t>
            </a:r>
            <a:r>
              <a:rPr lang="en-US" dirty="0"/>
              <a:t> </a:t>
            </a:r>
            <a:r>
              <a:rPr lang="en-US" dirty="0" err="1"/>
              <a:t>ont</a:t>
            </a:r>
            <a:r>
              <a:rPr lang="en-US" dirty="0"/>
              <a:t> pas. Et la </a:t>
            </a:r>
            <a:r>
              <a:rPr lang="en-US" dirty="0" err="1"/>
              <a:t>warfarine</a:t>
            </a:r>
            <a:r>
              <a:rPr lang="en-US" dirty="0"/>
              <a:t>, un anticoagulant très à </a:t>
            </a:r>
            <a:r>
              <a:rPr lang="en-US" dirty="0" err="1"/>
              <a:t>risque</a:t>
            </a:r>
            <a:r>
              <a:rPr lang="en-US" dirty="0"/>
              <a:t>, </a:t>
            </a:r>
            <a:r>
              <a:rPr lang="en-US" dirty="0" err="1"/>
              <a:t>n’a</a:t>
            </a:r>
            <a:r>
              <a:rPr lang="en-US" dirty="0"/>
              <a:t> </a:t>
            </a:r>
            <a:r>
              <a:rPr lang="en-US" dirty="0" err="1"/>
              <a:t>aucun</a:t>
            </a:r>
            <a:r>
              <a:rPr lang="en-US" dirty="0"/>
              <a:t> </a:t>
            </a:r>
            <a:r>
              <a:rPr lang="en-US" dirty="0" err="1"/>
              <a:t>effet</a:t>
            </a:r>
            <a:r>
              <a:rPr lang="en-US" dirty="0"/>
              <a:t> </a:t>
            </a:r>
            <a:r>
              <a:rPr lang="en-US" dirty="0" err="1"/>
              <a:t>indésirable</a:t>
            </a:r>
            <a:r>
              <a:rPr lang="en-US" dirty="0"/>
              <a:t> dans le </a:t>
            </a:r>
            <a:r>
              <a:rPr lang="en-US" dirty="0" err="1"/>
              <a:t>graphe</a:t>
            </a:r>
            <a:r>
              <a:rPr lang="en-US" dirty="0"/>
              <a:t>.</a:t>
            </a:r>
            <a:r>
              <a:rPr lang="en-US" dirty="0">
                <a:cs typeface="+mn-lt"/>
              </a:rPr>
              <a:t/>
            </a:r>
            <a:br>
              <a:rPr lang="en-US" dirty="0">
                <a:cs typeface="+mn-lt"/>
              </a:rPr>
            </a:br>
            <a:r>
              <a:rPr lang="en-US" dirty="0"/>
              <a:t>Nous </a:t>
            </a:r>
            <a:r>
              <a:rPr lang="en-US" dirty="0" err="1"/>
              <a:t>avons</a:t>
            </a:r>
            <a:r>
              <a:rPr lang="en-US" dirty="0"/>
              <a:t> </a:t>
            </a:r>
            <a:r>
              <a:rPr lang="en-US" dirty="0" err="1"/>
              <a:t>donc</a:t>
            </a:r>
            <a:r>
              <a:rPr lang="en-US" dirty="0"/>
              <a:t> </a:t>
            </a:r>
            <a:r>
              <a:rPr lang="en-US" dirty="0" err="1"/>
              <a:t>ajouté</a:t>
            </a:r>
            <a:r>
              <a:rPr lang="en-US" dirty="0"/>
              <a:t> </a:t>
            </a:r>
            <a:r>
              <a:rPr lang="en-US" dirty="0" err="1"/>
              <a:t>nos</a:t>
            </a:r>
            <a:r>
              <a:rPr lang="en-US" dirty="0"/>
              <a:t> </a:t>
            </a:r>
            <a:r>
              <a:rPr lang="en-US" dirty="0" err="1"/>
              <a:t>propres</a:t>
            </a:r>
            <a:r>
              <a:rPr lang="en-US" dirty="0"/>
              <a:t> </a:t>
            </a:r>
            <a:r>
              <a:rPr lang="en-US" dirty="0" err="1"/>
              <a:t>connaissances</a:t>
            </a:r>
            <a:r>
              <a:rPr lang="en-US" dirty="0"/>
              <a:t>, </a:t>
            </a:r>
            <a:r>
              <a:rPr lang="en-US" dirty="0" err="1"/>
              <a:t>toutes</a:t>
            </a:r>
            <a:r>
              <a:rPr lang="en-US" dirty="0"/>
              <a:t> </a:t>
            </a:r>
            <a:r>
              <a:rPr lang="en-US" dirty="0" err="1"/>
              <a:t>sourcées</a:t>
            </a:r>
            <a:r>
              <a:rPr lang="en-US" dirty="0"/>
              <a:t> : </a:t>
            </a:r>
            <a:r>
              <a:rPr lang="en-US" dirty="0" err="1"/>
              <a:t>une</a:t>
            </a:r>
            <a:r>
              <a:rPr lang="en-US" dirty="0"/>
              <a:t> table de 28 classes issue de la classification ATC de </a:t>
            </a:r>
            <a:r>
              <a:rPr lang="en-US" dirty="0" err="1"/>
              <a:t>l’OMS</a:t>
            </a:r>
            <a:r>
              <a:rPr lang="en-US" dirty="0"/>
              <a:t>, un </a:t>
            </a:r>
            <a:r>
              <a:rPr lang="en-US" dirty="0" err="1"/>
              <a:t>dictionnaire</a:t>
            </a:r>
            <a:r>
              <a:rPr lang="en-US" dirty="0"/>
              <a:t> de </a:t>
            </a:r>
            <a:r>
              <a:rPr lang="en-US" dirty="0" err="1"/>
              <a:t>synonymes</a:t>
            </a:r>
            <a:r>
              <a:rPr lang="en-US" dirty="0"/>
              <a:t> pour les noms français et </a:t>
            </a:r>
            <a:r>
              <a:rPr lang="en-US" dirty="0" err="1"/>
              <a:t>commerciaux</a:t>
            </a:r>
            <a:r>
              <a:rPr lang="en-US" dirty="0"/>
              <a:t>, </a:t>
            </a:r>
            <a:r>
              <a:rPr lang="en-US" dirty="0" err="1"/>
              <a:t>une</a:t>
            </a:r>
            <a:r>
              <a:rPr lang="en-US" dirty="0"/>
              <a:t> </a:t>
            </a:r>
            <a:r>
              <a:rPr lang="en-US" dirty="0" err="1"/>
              <a:t>liste</a:t>
            </a:r>
            <a:r>
              <a:rPr lang="en-US" dirty="0"/>
              <a:t> de 17 </a:t>
            </a:r>
            <a:r>
              <a:rPr lang="en-US" dirty="0" err="1"/>
              <a:t>effets</a:t>
            </a:r>
            <a:r>
              <a:rPr lang="en-US" dirty="0"/>
              <a:t> graves et 14 </a:t>
            </a:r>
            <a:r>
              <a:rPr lang="en-US" dirty="0" err="1"/>
              <a:t>médicaments</a:t>
            </a:r>
            <a:r>
              <a:rPr lang="en-US" dirty="0"/>
              <a:t> à marge </a:t>
            </a:r>
            <a:r>
              <a:rPr lang="en-US" dirty="0" err="1"/>
              <a:t>thérapeutique</a:t>
            </a:r>
            <a:r>
              <a:rPr lang="en-US" dirty="0"/>
              <a:t> </a:t>
            </a:r>
            <a:r>
              <a:rPr lang="en-US" dirty="0" err="1"/>
              <a:t>étroite</a:t>
            </a:r>
            <a:r>
              <a:rPr lang="en-US" dirty="0"/>
              <a:t>.</a:t>
            </a:r>
            <a:r>
              <a:rPr lang="en-US" dirty="0">
                <a:cs typeface="+mn-lt"/>
              </a:rPr>
              <a:t/>
            </a:r>
            <a:br>
              <a:rPr lang="en-US" dirty="0">
                <a:cs typeface="+mn-lt"/>
              </a:rPr>
            </a:br>
            <a:r>
              <a:rPr lang="en-US" dirty="0"/>
              <a:t>Le message </a:t>
            </a:r>
            <a:r>
              <a:rPr lang="en-US" dirty="0" err="1"/>
              <a:t>clé</a:t>
            </a:r>
            <a:r>
              <a:rPr lang="en-US" dirty="0"/>
              <a:t> : dans un </a:t>
            </a:r>
            <a:r>
              <a:rPr lang="en-US" dirty="0" err="1"/>
              <a:t>graphe</a:t>
            </a:r>
            <a:r>
              <a:rPr lang="en-US" dirty="0"/>
              <a:t>, </a:t>
            </a:r>
            <a:r>
              <a:rPr lang="en-US" dirty="0" err="1"/>
              <a:t>l’absence</a:t>
            </a:r>
            <a:r>
              <a:rPr lang="en-US" dirty="0"/>
              <a:t> d’un lien ne </a:t>
            </a:r>
            <a:r>
              <a:rPr lang="en-US" dirty="0" err="1"/>
              <a:t>veut</a:t>
            </a:r>
            <a:r>
              <a:rPr lang="en-US" dirty="0"/>
              <a:t> pas dire </a:t>
            </a:r>
            <a:r>
              <a:rPr lang="en-US" dirty="0" err="1"/>
              <a:t>l’absence</a:t>
            </a:r>
            <a:r>
              <a:rPr lang="en-US" dirty="0"/>
              <a:t> de </a:t>
            </a:r>
            <a:r>
              <a:rPr lang="en-US" dirty="0" err="1"/>
              <a:t>risque</a:t>
            </a:r>
            <a:r>
              <a:rPr lang="en-US" dirty="0"/>
              <a:t>.</a:t>
            </a:r>
            <a:endParaRPr lang="fr-FR" dirty="0"/>
          </a:p>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pPr/>
              <a:t>3</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Voici</a:t>
            </a:r>
            <a:r>
              <a:rPr lang="en-US" dirty="0"/>
              <a:t> le </a:t>
            </a:r>
            <a:r>
              <a:rPr lang="en-US" dirty="0" err="1"/>
              <a:t>fonctionnement</a:t>
            </a:r>
            <a:r>
              <a:rPr lang="en-US" dirty="0"/>
              <a:t> du </a:t>
            </a:r>
            <a:r>
              <a:rPr lang="en-US" dirty="0" err="1"/>
              <a:t>système</a:t>
            </a:r>
            <a:r>
              <a:rPr lang="en-US" dirty="0"/>
              <a:t>.</a:t>
            </a:r>
            <a:r>
              <a:rPr lang="en-US" dirty="0">
                <a:cs typeface="+mn-lt"/>
              </a:rPr>
              <a:t/>
            </a:r>
            <a:br>
              <a:rPr lang="en-US" dirty="0">
                <a:cs typeface="+mn-lt"/>
              </a:rPr>
            </a:br>
            <a:r>
              <a:rPr lang="en-US" dirty="0"/>
              <a:t>Il </a:t>
            </a:r>
            <a:r>
              <a:rPr lang="en-US" dirty="0" err="1"/>
              <a:t>reçoit</a:t>
            </a:r>
            <a:r>
              <a:rPr lang="en-US" dirty="0"/>
              <a:t> </a:t>
            </a:r>
            <a:r>
              <a:rPr lang="en-US" dirty="0" err="1"/>
              <a:t>une</a:t>
            </a:r>
            <a:r>
              <a:rPr lang="en-US" dirty="0"/>
              <a:t> ordonnance et commence par </a:t>
            </a:r>
            <a:r>
              <a:rPr lang="en-US" dirty="0" err="1"/>
              <a:t>reconnaître</a:t>
            </a:r>
            <a:r>
              <a:rPr lang="en-US" dirty="0"/>
              <a:t> les noms des </a:t>
            </a:r>
            <a:r>
              <a:rPr lang="en-US" dirty="0" err="1"/>
              <a:t>médicaments</a:t>
            </a:r>
            <a:r>
              <a:rPr lang="en-US" dirty="0"/>
              <a:t>, y </a:t>
            </a:r>
            <a:r>
              <a:rPr lang="en-US" dirty="0" err="1"/>
              <a:t>compris</a:t>
            </a:r>
            <a:r>
              <a:rPr lang="en-US" dirty="0"/>
              <a:t> les noms </a:t>
            </a:r>
            <a:r>
              <a:rPr lang="en-US" dirty="0" err="1"/>
              <a:t>commerciaux</a:t>
            </a:r>
            <a:r>
              <a:rPr lang="en-US" dirty="0"/>
              <a:t> et les </a:t>
            </a:r>
            <a:r>
              <a:rPr lang="en-US" dirty="0" err="1"/>
              <a:t>fautes</a:t>
            </a:r>
            <a:r>
              <a:rPr lang="en-US" dirty="0"/>
              <a:t> de frappe, qui </a:t>
            </a:r>
            <a:r>
              <a:rPr lang="en-US" dirty="0" err="1"/>
              <a:t>sont</a:t>
            </a:r>
            <a:r>
              <a:rPr lang="en-US" dirty="0"/>
              <a:t> </a:t>
            </a:r>
            <a:r>
              <a:rPr lang="en-US" dirty="0" err="1"/>
              <a:t>signalées</a:t>
            </a:r>
            <a:r>
              <a:rPr lang="en-US" dirty="0"/>
              <a:t>.</a:t>
            </a:r>
            <a:r>
              <a:rPr lang="en-US" dirty="0">
                <a:cs typeface="+mn-lt"/>
              </a:rPr>
              <a:t/>
            </a:r>
            <a:br>
              <a:rPr lang="en-US" dirty="0">
                <a:cs typeface="+mn-lt"/>
              </a:rPr>
            </a:br>
            <a:r>
              <a:rPr lang="en-US" dirty="0"/>
              <a:t>Il examine ensuite </a:t>
            </a:r>
            <a:r>
              <a:rPr lang="en-US" dirty="0" err="1"/>
              <a:t>chaque</a:t>
            </a:r>
            <a:r>
              <a:rPr lang="en-US" dirty="0"/>
              <a:t> </a:t>
            </a:r>
            <a:r>
              <a:rPr lang="en-US" dirty="0" err="1"/>
              <a:t>paire</a:t>
            </a:r>
            <a:r>
              <a:rPr lang="en-US" dirty="0"/>
              <a:t> de </a:t>
            </a:r>
            <a:r>
              <a:rPr lang="en-US" dirty="0" err="1"/>
              <a:t>médicaments</a:t>
            </a:r>
            <a:r>
              <a:rPr lang="en-US" dirty="0"/>
              <a:t> et </a:t>
            </a:r>
            <a:r>
              <a:rPr lang="en-US" dirty="0" err="1"/>
              <a:t>lui</a:t>
            </a:r>
            <a:r>
              <a:rPr lang="en-US" dirty="0"/>
              <a:t> applique deux </a:t>
            </a:r>
            <a:r>
              <a:rPr lang="en-US" dirty="0" err="1"/>
              <a:t>familles</a:t>
            </a:r>
            <a:r>
              <a:rPr lang="en-US" dirty="0"/>
              <a:t> de </a:t>
            </a:r>
            <a:r>
              <a:rPr lang="en-US" dirty="0" err="1"/>
              <a:t>règles</a:t>
            </a:r>
            <a:r>
              <a:rPr lang="en-US" dirty="0"/>
              <a:t> : des </a:t>
            </a:r>
            <a:r>
              <a:rPr lang="en-US" dirty="0" err="1"/>
              <a:t>règles</a:t>
            </a:r>
            <a:r>
              <a:rPr lang="en-US" dirty="0"/>
              <a:t> </a:t>
            </a:r>
            <a:r>
              <a:rPr lang="en-US" dirty="0" err="1"/>
              <a:t>expertes</a:t>
            </a:r>
            <a:r>
              <a:rPr lang="en-US" dirty="0"/>
              <a:t>, et des </a:t>
            </a:r>
            <a:r>
              <a:rPr lang="en-US" dirty="0" err="1"/>
              <a:t>règles</a:t>
            </a:r>
            <a:r>
              <a:rPr lang="en-US" dirty="0"/>
              <a:t> qui </a:t>
            </a:r>
            <a:r>
              <a:rPr lang="en-US" dirty="0" err="1"/>
              <a:t>exploitent</a:t>
            </a:r>
            <a:r>
              <a:rPr lang="en-US" dirty="0"/>
              <a:t> </a:t>
            </a:r>
            <a:r>
              <a:rPr lang="en-US" dirty="0" err="1"/>
              <a:t>directement</a:t>
            </a:r>
            <a:r>
              <a:rPr lang="en-US" dirty="0"/>
              <a:t> le </a:t>
            </a:r>
            <a:r>
              <a:rPr lang="en-US" dirty="0" err="1"/>
              <a:t>graphe</a:t>
            </a:r>
            <a:r>
              <a:rPr lang="en-US" dirty="0"/>
              <a:t>.</a:t>
            </a:r>
            <a:r>
              <a:rPr lang="en-US" dirty="0">
                <a:cs typeface="+mn-lt"/>
              </a:rPr>
              <a:t/>
            </a:r>
            <a:br>
              <a:rPr lang="en-US" dirty="0">
                <a:cs typeface="+mn-lt"/>
              </a:rPr>
            </a:br>
            <a:r>
              <a:rPr lang="en-US" dirty="0"/>
              <a:t>Vient ensuite le </a:t>
            </a:r>
            <a:r>
              <a:rPr lang="en-US" dirty="0" err="1"/>
              <a:t>filtre</a:t>
            </a:r>
            <a:r>
              <a:rPr lang="en-US" dirty="0"/>
              <a:t> anti-fatigue : les </a:t>
            </a:r>
            <a:r>
              <a:rPr lang="en-US" dirty="0" err="1"/>
              <a:t>règles</a:t>
            </a:r>
            <a:r>
              <a:rPr lang="en-US" dirty="0"/>
              <a:t> </a:t>
            </a:r>
            <a:r>
              <a:rPr lang="en-US" dirty="0" err="1"/>
              <a:t>expertes</a:t>
            </a:r>
            <a:r>
              <a:rPr lang="en-US" dirty="0"/>
              <a:t> </a:t>
            </a:r>
            <a:r>
              <a:rPr lang="en-US" dirty="0" err="1"/>
              <a:t>sont</a:t>
            </a:r>
            <a:r>
              <a:rPr lang="en-US" dirty="0"/>
              <a:t> </a:t>
            </a:r>
            <a:r>
              <a:rPr lang="en-US" dirty="0" err="1"/>
              <a:t>toujours</a:t>
            </a:r>
            <a:r>
              <a:rPr lang="en-US" dirty="0"/>
              <a:t> </a:t>
            </a:r>
            <a:r>
              <a:rPr lang="en-US" dirty="0" err="1"/>
              <a:t>affichées</a:t>
            </a:r>
            <a:r>
              <a:rPr lang="en-US" dirty="0"/>
              <a:t>, </a:t>
            </a:r>
            <a:r>
              <a:rPr lang="en-US" dirty="0" err="1"/>
              <a:t>mais</a:t>
            </a:r>
            <a:r>
              <a:rPr lang="en-US" dirty="0"/>
              <a:t> les </a:t>
            </a:r>
            <a:r>
              <a:rPr lang="en-US" dirty="0" err="1"/>
              <a:t>signaux</a:t>
            </a:r>
            <a:r>
              <a:rPr lang="en-US" dirty="0"/>
              <a:t> du </a:t>
            </a:r>
            <a:r>
              <a:rPr lang="en-US" dirty="0" err="1"/>
              <a:t>graphe</a:t>
            </a:r>
            <a:r>
              <a:rPr lang="en-US" dirty="0"/>
              <a:t> ne le </a:t>
            </a:r>
            <a:r>
              <a:rPr lang="en-US" dirty="0" err="1"/>
              <a:t>sont</a:t>
            </a:r>
            <a:r>
              <a:rPr lang="en-US" dirty="0"/>
              <a:t> </a:t>
            </a:r>
            <a:r>
              <a:rPr lang="en-US" dirty="0" err="1"/>
              <a:t>que</a:t>
            </a:r>
            <a:r>
              <a:rPr lang="en-US" dirty="0"/>
              <a:t> </a:t>
            </a:r>
            <a:r>
              <a:rPr lang="en-US" dirty="0" err="1"/>
              <a:t>s’ils</a:t>
            </a:r>
            <a:r>
              <a:rPr lang="en-US" dirty="0"/>
              <a:t> </a:t>
            </a:r>
            <a:r>
              <a:rPr lang="en-US" dirty="0" err="1"/>
              <a:t>atteignent</a:t>
            </a:r>
            <a:r>
              <a:rPr lang="en-US" dirty="0"/>
              <a:t> le </a:t>
            </a:r>
            <a:r>
              <a:rPr lang="en-US" dirty="0" err="1"/>
              <a:t>niveau</a:t>
            </a:r>
            <a:r>
              <a:rPr lang="en-US" dirty="0"/>
              <a:t> 2.</a:t>
            </a:r>
            <a:r>
              <a:rPr lang="en-US" dirty="0">
                <a:cs typeface="+mn-lt"/>
              </a:rPr>
              <a:t/>
            </a:r>
            <a:br>
              <a:rPr lang="en-US" dirty="0">
                <a:cs typeface="+mn-lt"/>
              </a:rPr>
            </a:br>
            <a:r>
              <a:rPr lang="en-US" dirty="0"/>
              <a:t>À la fin, les </a:t>
            </a:r>
            <a:r>
              <a:rPr lang="en-US" dirty="0" err="1"/>
              <a:t>alertes</a:t>
            </a:r>
            <a:r>
              <a:rPr lang="en-US" dirty="0"/>
              <a:t> </a:t>
            </a:r>
            <a:r>
              <a:rPr lang="en-US" dirty="0" err="1"/>
              <a:t>sont</a:t>
            </a:r>
            <a:r>
              <a:rPr lang="en-US" dirty="0"/>
              <a:t> </a:t>
            </a:r>
            <a:r>
              <a:rPr lang="en-US" dirty="0" err="1"/>
              <a:t>triées</a:t>
            </a:r>
            <a:r>
              <a:rPr lang="en-US" dirty="0"/>
              <a:t> par </a:t>
            </a:r>
            <a:r>
              <a:rPr lang="en-US" dirty="0" err="1"/>
              <a:t>gravité</a:t>
            </a:r>
            <a:r>
              <a:rPr lang="en-US" dirty="0"/>
              <a:t>, </a:t>
            </a:r>
            <a:r>
              <a:rPr lang="en-US" dirty="0" err="1"/>
              <a:t>chacune</a:t>
            </a:r>
            <a:r>
              <a:rPr lang="en-US" dirty="0"/>
              <a:t> avec </a:t>
            </a:r>
            <a:r>
              <a:rPr lang="en-US" dirty="0" err="1"/>
              <a:t>sa</a:t>
            </a:r>
            <a:r>
              <a:rPr lang="en-US" dirty="0"/>
              <a:t> </a:t>
            </a:r>
            <a:r>
              <a:rPr lang="en-US" dirty="0" err="1"/>
              <a:t>règle</a:t>
            </a:r>
            <a:r>
              <a:rPr lang="en-US" dirty="0"/>
              <a:t>, </a:t>
            </a:r>
            <a:r>
              <a:rPr lang="en-US" dirty="0" err="1"/>
              <a:t>sa</a:t>
            </a:r>
            <a:r>
              <a:rPr lang="en-US" dirty="0"/>
              <a:t> source et son chemin dans le </a:t>
            </a:r>
            <a:r>
              <a:rPr lang="en-US" dirty="0" err="1"/>
              <a:t>graphe</a:t>
            </a:r>
            <a:r>
              <a:rPr lang="en-US" dirty="0"/>
              <a:t>. Et un </a:t>
            </a:r>
            <a:r>
              <a:rPr lang="en-US" dirty="0" err="1"/>
              <a:t>médicament</a:t>
            </a:r>
            <a:r>
              <a:rPr lang="en-US" dirty="0"/>
              <a:t> inconnu est </a:t>
            </a:r>
            <a:r>
              <a:rPr lang="en-US" dirty="0" err="1"/>
              <a:t>toujours</a:t>
            </a:r>
            <a:r>
              <a:rPr lang="en-US" dirty="0"/>
              <a:t> </a:t>
            </a:r>
            <a:r>
              <a:rPr lang="en-US" dirty="0" err="1"/>
              <a:t>signalé</a:t>
            </a:r>
            <a:r>
              <a:rPr lang="en-US" dirty="0"/>
              <a:t>, jamais </a:t>
            </a:r>
            <a:r>
              <a:rPr lang="en-US" dirty="0" err="1"/>
              <a:t>ignoré</a:t>
            </a:r>
            <a:r>
              <a:rPr lang="en-US" dirty="0"/>
              <a:t>.</a:t>
            </a:r>
            <a:endParaRPr lang="fr-FR" dirty="0"/>
          </a:p>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pPr/>
              <a:t>4</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Concrètement</a:t>
            </a:r>
            <a:r>
              <a:rPr lang="en-US" dirty="0"/>
              <a:t>, nous </a:t>
            </a:r>
            <a:r>
              <a:rPr lang="en-US" dirty="0" err="1"/>
              <a:t>avons</a:t>
            </a:r>
            <a:r>
              <a:rPr lang="en-US" dirty="0"/>
              <a:t> 24 </a:t>
            </a:r>
            <a:r>
              <a:rPr lang="en-US" dirty="0" err="1"/>
              <a:t>règles</a:t>
            </a:r>
            <a:r>
              <a:rPr lang="en-US" dirty="0"/>
              <a:t> </a:t>
            </a:r>
            <a:r>
              <a:rPr lang="en-US" dirty="0" err="1"/>
              <a:t>expertes</a:t>
            </a:r>
            <a:r>
              <a:rPr lang="en-US" dirty="0"/>
              <a:t> et 3 </a:t>
            </a:r>
            <a:r>
              <a:rPr lang="en-US" dirty="0" err="1"/>
              <a:t>règles</a:t>
            </a:r>
            <a:r>
              <a:rPr lang="en-US" dirty="0"/>
              <a:t> issues du </a:t>
            </a:r>
            <a:r>
              <a:rPr lang="en-US" dirty="0" err="1"/>
              <a:t>graphe</a:t>
            </a:r>
            <a:r>
              <a:rPr lang="en-US" dirty="0"/>
              <a:t>.</a:t>
            </a:r>
            <a:r>
              <a:rPr lang="en-US" dirty="0">
                <a:cs typeface="+mn-lt"/>
              </a:rPr>
              <a:t/>
            </a:r>
            <a:br>
              <a:rPr lang="en-US" dirty="0">
                <a:cs typeface="+mn-lt"/>
              </a:rPr>
            </a:br>
            <a:r>
              <a:rPr lang="en-US" dirty="0"/>
              <a:t>Les </a:t>
            </a:r>
            <a:r>
              <a:rPr lang="en-US" dirty="0" err="1"/>
              <a:t>règles</a:t>
            </a:r>
            <a:r>
              <a:rPr lang="en-US" dirty="0"/>
              <a:t> R01 à R18 </a:t>
            </a:r>
            <a:r>
              <a:rPr lang="en-US" dirty="0" err="1"/>
              <a:t>couvrent</a:t>
            </a:r>
            <a:r>
              <a:rPr lang="en-US" dirty="0"/>
              <a:t> des associations </a:t>
            </a:r>
            <a:r>
              <a:rPr lang="en-US" dirty="0" err="1"/>
              <a:t>connues</a:t>
            </a:r>
            <a:r>
              <a:rPr lang="en-US" dirty="0"/>
              <a:t> entre classes : par </a:t>
            </a:r>
            <a:r>
              <a:rPr lang="en-US" dirty="0" err="1"/>
              <a:t>exemple</a:t>
            </a:r>
            <a:r>
              <a:rPr lang="en-US" dirty="0"/>
              <a:t> un anticoagulant AVK avec un anti-</a:t>
            </a:r>
            <a:r>
              <a:rPr lang="en-US" dirty="0" err="1"/>
              <a:t>inflammatoire</a:t>
            </a:r>
            <a:r>
              <a:rPr lang="en-US" dirty="0"/>
              <a:t>, </a:t>
            </a:r>
            <a:r>
              <a:rPr lang="en-US" dirty="0" err="1"/>
              <a:t>une</a:t>
            </a:r>
            <a:r>
              <a:rPr lang="en-US" dirty="0"/>
              <a:t> </a:t>
            </a:r>
            <a:r>
              <a:rPr lang="en-US" dirty="0" err="1"/>
              <a:t>statine</a:t>
            </a:r>
            <a:r>
              <a:rPr lang="en-US" dirty="0"/>
              <a:t> avec un </a:t>
            </a:r>
            <a:r>
              <a:rPr lang="en-US" dirty="0" err="1"/>
              <a:t>inhibiteur</a:t>
            </a:r>
            <a:r>
              <a:rPr lang="en-US" dirty="0"/>
              <a:t> du CYP3A4, </a:t>
            </a:r>
            <a:r>
              <a:rPr lang="en-US" dirty="0" err="1"/>
              <a:t>ou</a:t>
            </a:r>
            <a:r>
              <a:rPr lang="en-US" dirty="0"/>
              <a:t> un </a:t>
            </a:r>
            <a:r>
              <a:rPr lang="en-US" dirty="0" err="1"/>
              <a:t>dérivé</a:t>
            </a:r>
            <a:r>
              <a:rPr lang="en-US" dirty="0"/>
              <a:t> </a:t>
            </a:r>
            <a:r>
              <a:rPr lang="en-US" dirty="0" err="1"/>
              <a:t>nitré</a:t>
            </a:r>
            <a:r>
              <a:rPr lang="en-US" dirty="0"/>
              <a:t> avec le Viagra.</a:t>
            </a:r>
            <a:r>
              <a:rPr lang="en-US" dirty="0">
                <a:cs typeface="+mn-lt"/>
              </a:rPr>
              <a:t/>
            </a:r>
            <a:br>
              <a:rPr lang="en-US" dirty="0">
                <a:cs typeface="+mn-lt"/>
              </a:rPr>
            </a:br>
            <a:r>
              <a:rPr lang="en-US" dirty="0"/>
              <a:t>(Aziz :) Les </a:t>
            </a:r>
            <a:r>
              <a:rPr lang="en-US" dirty="0" err="1"/>
              <a:t>règles</a:t>
            </a:r>
            <a:r>
              <a:rPr lang="en-US" dirty="0"/>
              <a:t> R19 à R24 </a:t>
            </a:r>
            <a:r>
              <a:rPr lang="en-US" dirty="0" err="1"/>
              <a:t>viennent</a:t>
            </a:r>
            <a:r>
              <a:rPr lang="en-US" dirty="0"/>
              <a:t> de ma version : </a:t>
            </a:r>
            <a:r>
              <a:rPr lang="en-US" dirty="0" err="1"/>
              <a:t>antidépresseurs</a:t>
            </a:r>
            <a:r>
              <a:rPr lang="en-US" dirty="0"/>
              <a:t> ISRS avec AINS </a:t>
            </a:r>
            <a:r>
              <a:rPr lang="en-US" dirty="0" err="1"/>
              <a:t>ou</a:t>
            </a:r>
            <a:r>
              <a:rPr lang="en-US" dirty="0"/>
              <a:t> anticoagulants, </a:t>
            </a:r>
            <a:r>
              <a:rPr lang="en-US" dirty="0" err="1"/>
              <a:t>digoxine</a:t>
            </a:r>
            <a:r>
              <a:rPr lang="en-US" dirty="0"/>
              <a:t> avec macrolides, et potassium avec les </a:t>
            </a:r>
            <a:r>
              <a:rPr lang="en-US" dirty="0" err="1"/>
              <a:t>diurétiques</a:t>
            </a:r>
            <a:r>
              <a:rPr lang="en-US" dirty="0"/>
              <a:t> </a:t>
            </a:r>
            <a:r>
              <a:rPr lang="en-US" dirty="0" err="1"/>
              <a:t>épargneurs</a:t>
            </a:r>
            <a:r>
              <a:rPr lang="en-US" dirty="0"/>
              <a:t>.</a:t>
            </a:r>
            <a:r>
              <a:rPr lang="en-US" dirty="0">
                <a:cs typeface="+mn-lt"/>
              </a:rPr>
              <a:t/>
            </a:r>
            <a:br>
              <a:rPr lang="en-US" dirty="0">
                <a:cs typeface="+mn-lt"/>
              </a:rPr>
            </a:br>
            <a:r>
              <a:rPr lang="en-US" dirty="0"/>
              <a:t>Les </a:t>
            </a:r>
            <a:r>
              <a:rPr lang="en-US" dirty="0" err="1"/>
              <a:t>règles</a:t>
            </a:r>
            <a:r>
              <a:rPr lang="en-US" dirty="0"/>
              <a:t> du </a:t>
            </a:r>
            <a:r>
              <a:rPr lang="en-US" dirty="0" err="1"/>
              <a:t>graphe</a:t>
            </a:r>
            <a:r>
              <a:rPr lang="en-US" dirty="0"/>
              <a:t>, </a:t>
            </a:r>
            <a:r>
              <a:rPr lang="en-US" dirty="0" err="1"/>
              <a:t>elles</a:t>
            </a:r>
            <a:r>
              <a:rPr lang="en-US" dirty="0"/>
              <a:t>, </a:t>
            </a:r>
            <a:r>
              <a:rPr lang="en-US" dirty="0" err="1"/>
              <a:t>détectent</a:t>
            </a:r>
            <a:r>
              <a:rPr lang="en-US" dirty="0"/>
              <a:t> des </a:t>
            </a:r>
            <a:r>
              <a:rPr lang="en-US" dirty="0" err="1"/>
              <a:t>mécanismes</a:t>
            </a:r>
            <a:r>
              <a:rPr lang="en-US" dirty="0"/>
              <a:t>. La </a:t>
            </a:r>
            <a:r>
              <a:rPr lang="en-US" dirty="0" err="1"/>
              <a:t>règle</a:t>
            </a:r>
            <a:r>
              <a:rPr lang="en-US" dirty="0"/>
              <a:t> G1 </a:t>
            </a:r>
            <a:r>
              <a:rPr lang="en-US" dirty="0" err="1"/>
              <a:t>repère</a:t>
            </a:r>
            <a:r>
              <a:rPr lang="en-US" dirty="0"/>
              <a:t> un </a:t>
            </a:r>
            <a:r>
              <a:rPr lang="en-US" dirty="0" err="1"/>
              <a:t>médicament</a:t>
            </a:r>
            <a:r>
              <a:rPr lang="en-US" dirty="0"/>
              <a:t> qui </a:t>
            </a:r>
            <a:r>
              <a:rPr lang="en-US" dirty="0" err="1"/>
              <a:t>bloque</a:t>
            </a:r>
            <a:r>
              <a:rPr lang="en-US" dirty="0"/>
              <a:t> </a:t>
            </a:r>
            <a:r>
              <a:rPr lang="en-US" dirty="0" err="1"/>
              <a:t>l’enzyme</a:t>
            </a:r>
            <a:r>
              <a:rPr lang="en-US" dirty="0"/>
              <a:t> </a:t>
            </a:r>
            <a:r>
              <a:rPr lang="en-US" dirty="0" err="1"/>
              <a:t>dont</a:t>
            </a:r>
            <a:r>
              <a:rPr lang="en-US" dirty="0"/>
              <a:t> un </a:t>
            </a:r>
            <a:r>
              <a:rPr lang="en-US" dirty="0" err="1"/>
              <a:t>autre</a:t>
            </a:r>
            <a:r>
              <a:rPr lang="en-US" dirty="0"/>
              <a:t> </a:t>
            </a:r>
            <a:r>
              <a:rPr lang="en-US" dirty="0" err="1"/>
              <a:t>dépend</a:t>
            </a:r>
            <a:r>
              <a:rPr lang="en-US" dirty="0"/>
              <a:t> ; </a:t>
            </a:r>
            <a:r>
              <a:rPr lang="en-US" dirty="0" err="1"/>
              <a:t>elle</a:t>
            </a:r>
            <a:r>
              <a:rPr lang="en-US" dirty="0"/>
              <a:t> ne monte au </a:t>
            </a:r>
            <a:r>
              <a:rPr lang="en-US" dirty="0" err="1"/>
              <a:t>niveau</a:t>
            </a:r>
            <a:r>
              <a:rPr lang="en-US" dirty="0"/>
              <a:t> 2 </a:t>
            </a:r>
            <a:r>
              <a:rPr lang="en-US" dirty="0" err="1"/>
              <a:t>que</a:t>
            </a:r>
            <a:r>
              <a:rPr lang="en-US" dirty="0"/>
              <a:t> </a:t>
            </a:r>
            <a:r>
              <a:rPr lang="en-US" dirty="0" err="1"/>
              <a:t>si</a:t>
            </a:r>
            <a:r>
              <a:rPr lang="en-US" dirty="0"/>
              <a:t> le second est à marge </a:t>
            </a:r>
            <a:r>
              <a:rPr lang="en-US" dirty="0" err="1"/>
              <a:t>étroite</a:t>
            </a:r>
            <a:r>
              <a:rPr lang="en-US" dirty="0"/>
              <a:t>. G2 et G3, </a:t>
            </a:r>
            <a:r>
              <a:rPr lang="en-US" dirty="0" err="1"/>
              <a:t>effet</a:t>
            </a:r>
            <a:r>
              <a:rPr lang="en-US" dirty="0"/>
              <a:t> </a:t>
            </a:r>
            <a:r>
              <a:rPr lang="en-US" dirty="0" err="1"/>
              <a:t>ou</a:t>
            </a:r>
            <a:r>
              <a:rPr lang="en-US" dirty="0"/>
              <a:t> </a:t>
            </a:r>
            <a:r>
              <a:rPr lang="en-US" dirty="0" err="1"/>
              <a:t>cible</a:t>
            </a:r>
            <a:r>
              <a:rPr lang="en-US" dirty="0"/>
              <a:t> commune, </a:t>
            </a:r>
            <a:r>
              <a:rPr lang="en-US" dirty="0" err="1"/>
              <a:t>restent</a:t>
            </a:r>
            <a:r>
              <a:rPr lang="en-US" dirty="0"/>
              <a:t> des </a:t>
            </a:r>
            <a:r>
              <a:rPr lang="en-US" dirty="0" err="1"/>
              <a:t>signaux</a:t>
            </a:r>
            <a:r>
              <a:rPr lang="en-US" dirty="0"/>
              <a:t> </a:t>
            </a:r>
            <a:r>
              <a:rPr lang="en-US" dirty="0" err="1"/>
              <a:t>faibles</a:t>
            </a:r>
            <a:r>
              <a:rPr lang="en-US" dirty="0"/>
              <a:t>.</a:t>
            </a:r>
            <a:r>
              <a:rPr lang="en-US" dirty="0">
                <a:cs typeface="+mn-lt"/>
              </a:rPr>
              <a:t/>
            </a:r>
            <a:br>
              <a:rPr lang="en-US" dirty="0">
                <a:cs typeface="+mn-lt"/>
              </a:rPr>
            </a:br>
            <a:r>
              <a:rPr lang="en-US" dirty="0" err="1"/>
              <a:t>Toutes</a:t>
            </a:r>
            <a:r>
              <a:rPr lang="en-US" dirty="0"/>
              <a:t> </a:t>
            </a:r>
            <a:r>
              <a:rPr lang="en-US" dirty="0" err="1"/>
              <a:t>nos</a:t>
            </a:r>
            <a:r>
              <a:rPr lang="en-US" dirty="0"/>
              <a:t> </a:t>
            </a:r>
            <a:r>
              <a:rPr lang="en-US" dirty="0" err="1"/>
              <a:t>règles</a:t>
            </a:r>
            <a:r>
              <a:rPr lang="en-US" dirty="0"/>
              <a:t> </a:t>
            </a:r>
            <a:r>
              <a:rPr lang="en-US" dirty="0" err="1"/>
              <a:t>sont</a:t>
            </a:r>
            <a:r>
              <a:rPr lang="en-US" dirty="0"/>
              <a:t> </a:t>
            </a:r>
            <a:r>
              <a:rPr lang="en-US" dirty="0" err="1"/>
              <a:t>sourcées</a:t>
            </a:r>
            <a:r>
              <a:rPr lang="en-US" dirty="0"/>
              <a:t> : </a:t>
            </a:r>
            <a:r>
              <a:rPr lang="en-US" dirty="0" err="1"/>
              <a:t>Thésaurus</a:t>
            </a:r>
            <a:r>
              <a:rPr lang="en-US" dirty="0"/>
              <a:t> ANSM, classification ATC, notices EMA et FDA.</a:t>
            </a:r>
            <a:endParaRPr lang="fr-FR" dirty="0"/>
          </a:p>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pPr/>
              <a:t>5</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Voici</a:t>
            </a:r>
            <a:r>
              <a:rPr lang="en-US" dirty="0"/>
              <a:t> un </a:t>
            </a:r>
            <a:r>
              <a:rPr lang="en-US" dirty="0" err="1"/>
              <a:t>exemple</a:t>
            </a:r>
            <a:r>
              <a:rPr lang="en-US" dirty="0"/>
              <a:t> </a:t>
            </a:r>
            <a:r>
              <a:rPr lang="en-US" dirty="0" err="1"/>
              <a:t>concret</a:t>
            </a:r>
            <a:r>
              <a:rPr lang="en-US" dirty="0"/>
              <a:t>. On </a:t>
            </a:r>
            <a:r>
              <a:rPr lang="en-US" dirty="0" err="1"/>
              <a:t>saisit</a:t>
            </a:r>
            <a:r>
              <a:rPr lang="en-US" dirty="0"/>
              <a:t> </a:t>
            </a:r>
            <a:r>
              <a:rPr lang="en-US" dirty="0" err="1"/>
              <a:t>warfarine</a:t>
            </a:r>
            <a:r>
              <a:rPr lang="en-US" dirty="0"/>
              <a:t>, </a:t>
            </a:r>
            <a:r>
              <a:rPr lang="en-US" dirty="0" err="1"/>
              <a:t>ibuprofène</a:t>
            </a:r>
            <a:r>
              <a:rPr lang="en-US" dirty="0"/>
              <a:t> et </a:t>
            </a:r>
            <a:r>
              <a:rPr lang="en-US" dirty="0" err="1"/>
              <a:t>oméprazole</a:t>
            </a:r>
            <a:r>
              <a:rPr lang="en-US" dirty="0"/>
              <a:t>.</a:t>
            </a:r>
            <a:br>
              <a:rPr lang="en-US" dirty="0"/>
            </a:br>
            <a:r>
              <a:rPr lang="en-US" dirty="0"/>
              <a:t>Le </a:t>
            </a:r>
            <a:r>
              <a:rPr lang="en-US" dirty="0" err="1"/>
              <a:t>système</a:t>
            </a:r>
            <a:r>
              <a:rPr lang="en-US" dirty="0"/>
              <a:t> </a:t>
            </a:r>
            <a:r>
              <a:rPr lang="en-US" dirty="0" err="1"/>
              <a:t>détecte</a:t>
            </a:r>
            <a:r>
              <a:rPr lang="en-US" dirty="0"/>
              <a:t> </a:t>
            </a:r>
            <a:r>
              <a:rPr lang="en-US" dirty="0" err="1"/>
              <a:t>une</a:t>
            </a:r>
            <a:r>
              <a:rPr lang="en-US" dirty="0"/>
              <a:t> association </a:t>
            </a:r>
            <a:r>
              <a:rPr lang="en-US" dirty="0" err="1"/>
              <a:t>déconseillée</a:t>
            </a:r>
            <a:r>
              <a:rPr lang="en-US" dirty="0"/>
              <a:t> entre la </a:t>
            </a:r>
            <a:r>
              <a:rPr lang="en-US" dirty="0" err="1"/>
              <a:t>warfarine</a:t>
            </a:r>
            <a:r>
              <a:rPr lang="en-US" dirty="0"/>
              <a:t> et </a:t>
            </a:r>
            <a:r>
              <a:rPr lang="en-US" dirty="0" err="1"/>
              <a:t>l’ibuprofène</a:t>
            </a:r>
            <a:r>
              <a:rPr lang="en-US" dirty="0"/>
              <a:t> : </a:t>
            </a:r>
            <a:r>
              <a:rPr lang="en-US" dirty="0" err="1"/>
              <a:t>c’est</a:t>
            </a:r>
            <a:r>
              <a:rPr lang="en-US" dirty="0"/>
              <a:t> la </a:t>
            </a:r>
            <a:r>
              <a:rPr lang="en-US" dirty="0" err="1"/>
              <a:t>règle</a:t>
            </a:r>
            <a:r>
              <a:rPr lang="en-US" dirty="0"/>
              <a:t> R01, qui </a:t>
            </a:r>
            <a:r>
              <a:rPr lang="en-US" dirty="0" err="1"/>
              <a:t>signale</a:t>
            </a:r>
            <a:r>
              <a:rPr lang="en-US" dirty="0"/>
              <a:t> un </a:t>
            </a:r>
            <a:r>
              <a:rPr lang="en-US" dirty="0" err="1"/>
              <a:t>risque</a:t>
            </a:r>
            <a:r>
              <a:rPr lang="en-US" dirty="0"/>
              <a:t> de </a:t>
            </a:r>
            <a:r>
              <a:rPr lang="en-US" dirty="0" err="1"/>
              <a:t>saignement</a:t>
            </a:r>
            <a:r>
              <a:rPr lang="en-US" dirty="0"/>
              <a:t>.</a:t>
            </a:r>
            <a:br>
              <a:rPr lang="en-US" dirty="0"/>
            </a:br>
            <a:r>
              <a:rPr lang="en-US" dirty="0"/>
              <a:t>Et il </a:t>
            </a:r>
            <a:r>
              <a:rPr lang="en-US" dirty="0" err="1"/>
              <a:t>explique</a:t>
            </a:r>
            <a:r>
              <a:rPr lang="en-US" dirty="0"/>
              <a:t> </a:t>
            </a:r>
            <a:r>
              <a:rPr lang="en-US" dirty="0" err="1"/>
              <a:t>pourquoi</a:t>
            </a:r>
            <a:r>
              <a:rPr lang="en-US" dirty="0"/>
              <a:t> : la </a:t>
            </a:r>
            <a:r>
              <a:rPr lang="en-US" dirty="0" err="1"/>
              <a:t>warfarine</a:t>
            </a:r>
            <a:r>
              <a:rPr lang="en-US" dirty="0"/>
              <a:t> </a:t>
            </a:r>
            <a:r>
              <a:rPr lang="en-US" dirty="0" err="1"/>
              <a:t>appartient</a:t>
            </a:r>
            <a:r>
              <a:rPr lang="en-US" dirty="0"/>
              <a:t> à la </a:t>
            </a:r>
            <a:r>
              <a:rPr lang="en-US" dirty="0" err="1"/>
              <a:t>classe</a:t>
            </a:r>
            <a:r>
              <a:rPr lang="en-US" dirty="0"/>
              <a:t> des </a:t>
            </a:r>
            <a:r>
              <a:rPr lang="en-US" dirty="0" err="1"/>
              <a:t>antivitamines</a:t>
            </a:r>
            <a:r>
              <a:rPr lang="en-US" dirty="0"/>
              <a:t> K, </a:t>
            </a:r>
            <a:r>
              <a:rPr lang="en-US" dirty="0" err="1"/>
              <a:t>l’ibuprofène</a:t>
            </a:r>
            <a:r>
              <a:rPr lang="en-US" dirty="0"/>
              <a:t> à </a:t>
            </a:r>
            <a:r>
              <a:rPr lang="en-US" dirty="0" err="1"/>
              <a:t>celle</a:t>
            </a:r>
            <a:r>
              <a:rPr lang="en-US" dirty="0"/>
              <a:t> des anti-</a:t>
            </a:r>
            <a:r>
              <a:rPr lang="en-US" dirty="0" err="1"/>
              <a:t>inflammatoires</a:t>
            </a:r>
            <a:r>
              <a:rPr lang="en-US" dirty="0"/>
              <a:t>, </a:t>
            </a:r>
            <a:r>
              <a:rPr lang="en-US" dirty="0" err="1"/>
              <a:t>selon</a:t>
            </a:r>
            <a:r>
              <a:rPr lang="en-US" dirty="0"/>
              <a:t> le </a:t>
            </a:r>
            <a:r>
              <a:rPr lang="en-US" dirty="0" err="1"/>
              <a:t>graphe</a:t>
            </a:r>
            <a:r>
              <a:rPr lang="en-US" dirty="0"/>
              <a:t>. La source est le </a:t>
            </a:r>
            <a:r>
              <a:rPr lang="en-US" dirty="0" err="1"/>
              <a:t>Thésaurus</a:t>
            </a:r>
            <a:r>
              <a:rPr lang="en-US" dirty="0"/>
              <a:t> de </a:t>
            </a:r>
            <a:r>
              <a:rPr lang="en-US" dirty="0" err="1"/>
              <a:t>l’ANSM</a:t>
            </a:r>
            <a:r>
              <a:rPr lang="en-US" dirty="0"/>
              <a:t>.</a:t>
            </a:r>
            <a:br>
              <a:rPr lang="en-US" dirty="0"/>
            </a:br>
            <a:r>
              <a:rPr lang="en-US" dirty="0" err="1"/>
              <a:t>Autre</a:t>
            </a:r>
            <a:r>
              <a:rPr lang="en-US" dirty="0"/>
              <a:t> point fort : un </a:t>
            </a:r>
            <a:r>
              <a:rPr lang="en-US" dirty="0" err="1"/>
              <a:t>médicament</a:t>
            </a:r>
            <a:r>
              <a:rPr lang="en-US" dirty="0"/>
              <a:t> </a:t>
            </a:r>
            <a:r>
              <a:rPr lang="en-US" dirty="0" err="1"/>
              <a:t>comme</a:t>
            </a:r>
            <a:r>
              <a:rPr lang="en-US" dirty="0"/>
              <a:t> le </a:t>
            </a:r>
            <a:r>
              <a:rPr lang="en-US" dirty="0" err="1"/>
              <a:t>Previscan</a:t>
            </a:r>
            <a:r>
              <a:rPr lang="en-US" dirty="0"/>
              <a:t>, absent du </a:t>
            </a:r>
            <a:r>
              <a:rPr lang="en-US" dirty="0" err="1"/>
              <a:t>graphe</a:t>
            </a:r>
            <a:r>
              <a:rPr lang="en-US" dirty="0"/>
              <a:t>, est </a:t>
            </a:r>
            <a:r>
              <a:rPr lang="en-US" dirty="0" err="1"/>
              <a:t>quand</a:t>
            </a:r>
            <a:r>
              <a:rPr lang="en-US" dirty="0"/>
              <a:t> </a:t>
            </a:r>
            <a:r>
              <a:rPr lang="en-US" dirty="0" err="1"/>
              <a:t>même</a:t>
            </a:r>
            <a:r>
              <a:rPr lang="en-US" dirty="0"/>
              <a:t> </a:t>
            </a:r>
            <a:r>
              <a:rPr lang="en-US" dirty="0" err="1"/>
              <a:t>reconnu</a:t>
            </a:r>
            <a:r>
              <a:rPr lang="en-US" dirty="0"/>
              <a:t> et </a:t>
            </a:r>
            <a:r>
              <a:rPr lang="en-US" dirty="0" err="1"/>
              <a:t>classé</a:t>
            </a:r>
            <a:r>
              <a:rPr lang="en-US" dirty="0"/>
              <a:t> grâce à </a:t>
            </a:r>
            <a:r>
              <a:rPr lang="en-US" dirty="0" err="1"/>
              <a:t>notre</a:t>
            </a:r>
            <a:r>
              <a:rPr lang="en-US" dirty="0"/>
              <a:t> table ATC.</a:t>
            </a:r>
            <a:endParaRPr lang="fr-FR" dirty="0"/>
          </a:p>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pPr/>
              <a:t>6</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a:t>
            </a:r>
            <a:r>
              <a:rPr lang="en-US" dirty="0" err="1"/>
              <a:t>évaluer</a:t>
            </a:r>
            <a:r>
              <a:rPr lang="en-US" dirty="0"/>
              <a:t> le </a:t>
            </a:r>
            <a:r>
              <a:rPr lang="en-US" dirty="0" err="1"/>
              <a:t>système</a:t>
            </a:r>
            <a:r>
              <a:rPr lang="en-US" dirty="0"/>
              <a:t>, nous </a:t>
            </a:r>
            <a:r>
              <a:rPr lang="en-US" dirty="0" err="1"/>
              <a:t>avons</a:t>
            </a:r>
            <a:r>
              <a:rPr lang="en-US" dirty="0"/>
              <a:t> </a:t>
            </a:r>
            <a:r>
              <a:rPr lang="en-US" dirty="0" err="1"/>
              <a:t>réuni</a:t>
            </a:r>
            <a:r>
              <a:rPr lang="en-US" dirty="0"/>
              <a:t> 40 ordonnances, 20 </a:t>
            </a:r>
            <a:r>
              <a:rPr lang="en-US" dirty="0" err="1"/>
              <a:t>écrites</a:t>
            </a:r>
            <a:r>
              <a:rPr lang="en-US" dirty="0"/>
              <a:t> par chacun de nous, avec 54 associations à </a:t>
            </a:r>
            <a:r>
              <a:rPr lang="en-US" dirty="0" err="1"/>
              <a:t>risque</a:t>
            </a:r>
            <a:r>
              <a:rPr lang="en-US" dirty="0"/>
              <a:t> </a:t>
            </a:r>
            <a:r>
              <a:rPr lang="en-US" dirty="0" err="1"/>
              <a:t>attendues</a:t>
            </a:r>
            <a:r>
              <a:rPr lang="en-US" dirty="0"/>
              <a:t>.</a:t>
            </a:r>
            <a:r>
              <a:rPr lang="en-US" dirty="0">
                <a:cs typeface="+mn-lt"/>
              </a:rPr>
              <a:t/>
            </a:r>
            <a:br>
              <a:rPr lang="en-US" dirty="0">
                <a:cs typeface="+mn-lt"/>
              </a:rPr>
            </a:br>
            <a:r>
              <a:rPr lang="en-US" dirty="0"/>
              <a:t>Nous le </a:t>
            </a:r>
            <a:r>
              <a:rPr lang="en-US" dirty="0" err="1"/>
              <a:t>comparons</a:t>
            </a:r>
            <a:r>
              <a:rPr lang="en-US" dirty="0"/>
              <a:t> à </a:t>
            </a:r>
            <a:r>
              <a:rPr lang="en-US" dirty="0" err="1"/>
              <a:t>une</a:t>
            </a:r>
            <a:r>
              <a:rPr lang="en-US" dirty="0"/>
              <a:t> </a:t>
            </a:r>
            <a:r>
              <a:rPr lang="en-US" dirty="0" err="1"/>
              <a:t>référence</a:t>
            </a:r>
            <a:r>
              <a:rPr lang="en-US" dirty="0"/>
              <a:t> non </a:t>
            </a:r>
            <a:r>
              <a:rPr lang="en-US" dirty="0" err="1"/>
              <a:t>hybride</a:t>
            </a:r>
            <a:r>
              <a:rPr lang="en-US" dirty="0"/>
              <a:t> : </a:t>
            </a:r>
            <a:r>
              <a:rPr lang="en-US" dirty="0" err="1"/>
              <a:t>une</a:t>
            </a:r>
            <a:r>
              <a:rPr lang="en-US" dirty="0"/>
              <a:t> simple </a:t>
            </a:r>
            <a:r>
              <a:rPr lang="en-US" dirty="0" err="1"/>
              <a:t>liste</a:t>
            </a:r>
            <a:r>
              <a:rPr lang="en-US" dirty="0"/>
              <a:t> de 26 associations </a:t>
            </a:r>
            <a:r>
              <a:rPr lang="en-US" dirty="0" err="1"/>
              <a:t>connues</a:t>
            </a:r>
            <a:r>
              <a:rPr lang="en-US" dirty="0"/>
              <a:t>, sans </a:t>
            </a:r>
            <a:r>
              <a:rPr lang="en-US" dirty="0" err="1"/>
              <a:t>graphe</a:t>
            </a:r>
            <a:r>
              <a:rPr lang="en-US" dirty="0"/>
              <a:t> </a:t>
            </a:r>
            <a:r>
              <a:rPr lang="en-US" dirty="0" err="1"/>
              <a:t>ni</a:t>
            </a:r>
            <a:r>
              <a:rPr lang="en-US" dirty="0"/>
              <a:t> classes.</a:t>
            </a:r>
            <a:r>
              <a:rPr lang="en-US" dirty="0">
                <a:cs typeface="+mn-lt"/>
              </a:rPr>
              <a:t/>
            </a:r>
            <a:br>
              <a:rPr lang="en-US" dirty="0">
                <a:cs typeface="+mn-lt"/>
              </a:rPr>
            </a:br>
            <a:r>
              <a:rPr lang="en-US" dirty="0"/>
              <a:t>Nous </a:t>
            </a:r>
            <a:r>
              <a:rPr lang="en-US" dirty="0" err="1"/>
              <a:t>mesurons</a:t>
            </a:r>
            <a:r>
              <a:rPr lang="en-US" dirty="0"/>
              <a:t> la </a:t>
            </a:r>
            <a:r>
              <a:rPr lang="en-US" dirty="0" err="1"/>
              <a:t>précision</a:t>
            </a:r>
            <a:r>
              <a:rPr lang="en-US" dirty="0"/>
              <a:t>, le rappel, le F1, le </a:t>
            </a:r>
            <a:r>
              <a:rPr lang="en-US" dirty="0" err="1"/>
              <a:t>niveau</a:t>
            </a:r>
            <a:r>
              <a:rPr lang="en-US" dirty="0"/>
              <a:t> de </a:t>
            </a:r>
            <a:r>
              <a:rPr lang="en-US" dirty="0" err="1"/>
              <a:t>gravité</a:t>
            </a:r>
            <a:r>
              <a:rPr lang="en-US" dirty="0"/>
              <a:t>, le </a:t>
            </a:r>
            <a:r>
              <a:rPr lang="en-US" dirty="0" err="1"/>
              <a:t>nombre</a:t>
            </a:r>
            <a:r>
              <a:rPr lang="en-US" dirty="0"/>
              <a:t> </a:t>
            </a:r>
            <a:r>
              <a:rPr lang="en-US" dirty="0" err="1"/>
              <a:t>d’alertes</a:t>
            </a:r>
            <a:r>
              <a:rPr lang="en-US" dirty="0"/>
              <a:t> par ordonnance et la </a:t>
            </a:r>
            <a:r>
              <a:rPr lang="en-US" dirty="0" err="1"/>
              <a:t>cohérence</a:t>
            </a:r>
            <a:r>
              <a:rPr lang="en-US" dirty="0"/>
              <a:t>.</a:t>
            </a:r>
            <a:r>
              <a:rPr lang="en-US" dirty="0">
                <a:cs typeface="+mn-lt"/>
              </a:rPr>
              <a:t/>
            </a:r>
            <a:br>
              <a:rPr lang="en-US" dirty="0">
                <a:cs typeface="+mn-lt"/>
              </a:rPr>
            </a:br>
            <a:r>
              <a:rPr lang="en-US" dirty="0"/>
              <a:t>Comme chacun a </a:t>
            </a:r>
            <a:r>
              <a:rPr lang="en-US" dirty="0" err="1"/>
              <a:t>écrit</a:t>
            </a:r>
            <a:r>
              <a:rPr lang="en-US" dirty="0"/>
              <a:t> </a:t>
            </a:r>
            <a:r>
              <a:rPr lang="en-US" dirty="0" err="1"/>
              <a:t>ses</a:t>
            </a:r>
            <a:r>
              <a:rPr lang="en-US" dirty="0"/>
              <a:t> </a:t>
            </a:r>
            <a:r>
              <a:rPr lang="en-US" dirty="0" err="1"/>
              <a:t>règles</a:t>
            </a:r>
            <a:r>
              <a:rPr lang="en-US" dirty="0"/>
              <a:t> et </a:t>
            </a:r>
            <a:r>
              <a:rPr lang="en-US" dirty="0" err="1"/>
              <a:t>ses</a:t>
            </a:r>
            <a:r>
              <a:rPr lang="en-US" dirty="0"/>
              <a:t> ordonnances, nous </a:t>
            </a:r>
            <a:r>
              <a:rPr lang="en-US" dirty="0" err="1"/>
              <a:t>avons</a:t>
            </a:r>
            <a:r>
              <a:rPr lang="en-US" dirty="0"/>
              <a:t> </a:t>
            </a:r>
            <a:r>
              <a:rPr lang="en-US" dirty="0" err="1"/>
              <a:t>aussi</a:t>
            </a:r>
            <a:r>
              <a:rPr lang="en-US" dirty="0"/>
              <a:t> fait </a:t>
            </a:r>
            <a:r>
              <a:rPr lang="en-US" dirty="0" err="1"/>
              <a:t>une</a:t>
            </a:r>
            <a:r>
              <a:rPr lang="en-US" dirty="0"/>
              <a:t> </a:t>
            </a:r>
            <a:r>
              <a:rPr lang="en-US" dirty="0" err="1"/>
              <a:t>évaluation</a:t>
            </a:r>
            <a:r>
              <a:rPr lang="en-US" dirty="0"/>
              <a:t> </a:t>
            </a:r>
            <a:r>
              <a:rPr lang="en-US" dirty="0" err="1"/>
              <a:t>croisée</a:t>
            </a:r>
            <a:r>
              <a:rPr lang="en-US" dirty="0"/>
              <a:t> et </a:t>
            </a:r>
            <a:r>
              <a:rPr lang="en-US" dirty="0" err="1"/>
              <a:t>testé</a:t>
            </a:r>
            <a:r>
              <a:rPr lang="en-US" dirty="0"/>
              <a:t> 5 </a:t>
            </a:r>
            <a:r>
              <a:rPr lang="en-US" dirty="0" err="1"/>
              <a:t>cas</a:t>
            </a:r>
            <a:r>
              <a:rPr lang="en-US" dirty="0"/>
              <a:t> de </a:t>
            </a:r>
            <a:r>
              <a:rPr lang="en-US" dirty="0" err="1"/>
              <a:t>généralisation</a:t>
            </a:r>
            <a:r>
              <a:rPr lang="en-US" dirty="0"/>
              <a:t>.</a:t>
            </a:r>
            <a:r>
              <a:rPr lang="en-US" dirty="0">
                <a:cs typeface="+mn-lt"/>
              </a:rPr>
              <a:t/>
            </a:r>
            <a:br>
              <a:rPr lang="en-US" dirty="0">
                <a:cs typeface="+mn-lt"/>
              </a:rPr>
            </a:br>
            <a:r>
              <a:rPr lang="en-US" dirty="0" err="1"/>
              <a:t>Enfin</a:t>
            </a:r>
            <a:r>
              <a:rPr lang="en-US" dirty="0"/>
              <a:t>, 16 </a:t>
            </a:r>
            <a:r>
              <a:rPr lang="en-US" dirty="0" err="1"/>
              <a:t>niveaux</a:t>
            </a:r>
            <a:r>
              <a:rPr lang="en-US" dirty="0"/>
              <a:t> de </a:t>
            </a:r>
            <a:r>
              <a:rPr lang="en-US" dirty="0" err="1"/>
              <a:t>gravité</a:t>
            </a:r>
            <a:r>
              <a:rPr lang="en-US" dirty="0"/>
              <a:t> </a:t>
            </a:r>
            <a:r>
              <a:rPr lang="en-US" dirty="0" err="1"/>
              <a:t>restent</a:t>
            </a:r>
            <a:r>
              <a:rPr lang="en-US" dirty="0"/>
              <a:t> à confirmer dans le </a:t>
            </a:r>
            <a:r>
              <a:rPr lang="en-US" dirty="0" err="1"/>
              <a:t>Thésaurus</a:t>
            </a:r>
            <a:r>
              <a:rPr lang="en-US" dirty="0"/>
              <a:t>.</a:t>
            </a:r>
            <a:r>
              <a:rPr lang="en-US" dirty="0">
                <a:cs typeface="+mn-lt"/>
              </a:rPr>
              <a:t/>
            </a:r>
            <a:br>
              <a:rPr lang="en-US" dirty="0">
                <a:cs typeface="+mn-lt"/>
              </a:rPr>
            </a:br>
            <a:r>
              <a:rPr lang="en-US" dirty="0"/>
              <a:t>Je laisse </a:t>
            </a:r>
            <a:r>
              <a:rPr lang="en-US" dirty="0" err="1"/>
              <a:t>maintenant</a:t>
            </a:r>
            <a:r>
              <a:rPr lang="en-US" dirty="0"/>
              <a:t> la parole à Aziz pour les </a:t>
            </a:r>
            <a:r>
              <a:rPr lang="en-US" dirty="0" err="1"/>
              <a:t>résultats</a:t>
            </a:r>
            <a:r>
              <a:rPr lang="en-US" dirty="0"/>
              <a:t>.</a:t>
            </a:r>
            <a:endParaRPr lang="fr-FR" dirty="0"/>
          </a:p>
          <a:p>
            <a:endParaRPr lang="en-US" dirty="0">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pPr/>
              <a:t>7</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(Aziz). Chiffre clé : F1 0,92 contre 0,56. Le gain vient du rappel (0,89 contre 0,39) sans exploser le nombre d'alertes (1,25 par </a:t>
            </a:r>
            <a:r>
              <a:rPr lang="en-US" dirty="0" err="1"/>
              <a:t>ordonnance</a:t>
            </a:r>
            <a:r>
              <a:rPr lang="en-US" dirty="0" smtClean="0"/>
              <a:t>).</a:t>
            </a:r>
          </a:p>
          <a:p>
            <a:endParaRPr lang="en-US" dirty="0" smtClean="0"/>
          </a:p>
          <a:p>
            <a:pPr>
              <a:buFont typeface="Wingdings"/>
              <a:buChar char="Ø"/>
            </a:pPr>
            <a:r>
              <a:rPr lang="fr-FR" dirty="0" smtClean="0"/>
              <a:t>Sur les 54 interactions attendues, le système hybride en trouve 48 et produit deux fausses alertes. Il atteint une précision de 0,96, un rappel de 0,89 et un F1 de 0,92.&gt; La configuration concise produit en moyenne 1,25 alerte par ordonnance. C'est le compromis retenu entre couverture et fatigue d'alerte.&gt;</a:t>
            </a:r>
          </a:p>
          <a:p>
            <a:pPr>
              <a:buFont typeface="Wingdings"/>
              <a:buChar char="Ø"/>
            </a:pPr>
            <a:endParaRPr lang="fr-FR" dirty="0" smtClean="0"/>
          </a:p>
          <a:p>
            <a:pPr>
              <a:buFont typeface="Wingdings"/>
              <a:buChar char="Ø"/>
            </a:pPr>
            <a:r>
              <a:rPr lang="fr-FR" dirty="0" smtClean="0"/>
              <a:t> La référence par liste de paires a une précision de 1,00, mais un rappel de seulement 0,39 et un F1 de 0,56. Elle ne se trompe pas sur les paires qu'elle connaît, mais elle rate environ six interactions sur dix parce qu'elle ne généralise pas aux classes de médicaments.</a:t>
            </a:r>
          </a:p>
          <a:p>
            <a:pPr>
              <a:buFont typeface="Wingdings"/>
              <a:buChar char="Ø"/>
            </a:pPr>
            <a:endParaRPr lang="fr-FR" dirty="0" smtClean="0"/>
          </a:p>
          <a:p>
            <a:pPr>
              <a:buFont typeface="Wingdings"/>
              <a:buChar char="Ø"/>
            </a:pPr>
            <a:r>
              <a:rPr lang="fr-FR" dirty="0" smtClean="0"/>
              <a:t> L'ablation aide à comprendre d'où vient ce résultat.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8</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smtClean="0"/>
              <a:t>L'hybride complet atteint un F1 de 0,92. Quand nous retirons le filtre de marge thérapeutique étroite, le F1 descend à 0,81. Sans les règles R19 à R24, il tombe à 0,80. Sans la table ATC, il tombe à 0,71.</a:t>
            </a:r>
          </a:p>
          <a:p>
            <a:endParaRPr lang="fr-FR" dirty="0" smtClean="0"/>
          </a:p>
          <a:p>
            <a:pPr>
              <a:buFont typeface="Wingdings"/>
              <a:buChar char="Ø"/>
            </a:pPr>
            <a:r>
              <a:rPr lang="fr-FR" dirty="0" smtClean="0"/>
              <a:t>Ces résultats montrent que la table complémentaire et les règles ajoutées lors de la fusion apportent une couverture importante face aux manques du graphe.</a:t>
            </a:r>
          </a:p>
          <a:p>
            <a:pPr>
              <a:buFont typeface="Wingdings"/>
              <a:buNone/>
            </a:pPr>
            <a:endParaRPr lang="fr-FR" dirty="0" smtClean="0"/>
          </a:p>
          <a:p>
            <a:pPr>
              <a:buFont typeface="Wingdings"/>
              <a:buChar char="Ø"/>
            </a:pPr>
            <a:r>
              <a:rPr lang="fr-FR" dirty="0" smtClean="0"/>
              <a:t>Un graphe seul, avec seulement G1 à G3, atteint 0,31. Et si nous supprimons le filtre </a:t>
            </a:r>
            <a:r>
              <a:rPr lang="fr-FR" dirty="0" err="1" smtClean="0"/>
              <a:t>anti-fatigue</a:t>
            </a:r>
            <a:r>
              <a:rPr lang="fr-FR" dirty="0" smtClean="0"/>
              <a:t>, le rappel monte à 0,94, mais le système produit 70 fausses alertes sur 40 ordonnances. Le filtre améliore donc directement l'utilité de la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9</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smtClean="0"/>
              <a:t>Avant la fusion, chaque version était meilleure sur son propre jeu de test. La version d'</a:t>
            </a:r>
            <a:r>
              <a:rPr lang="fr-FR" dirty="0" err="1" smtClean="0"/>
              <a:t>Imane</a:t>
            </a:r>
            <a:r>
              <a:rPr lang="fr-FR" dirty="0" smtClean="0"/>
              <a:t> passe de 0,83 sur son jeu à 0,76 sur celui d'Aziz.</a:t>
            </a:r>
          </a:p>
          <a:p>
            <a:r>
              <a:rPr lang="fr-FR" dirty="0" smtClean="0"/>
              <a:t> La version d'Aziz passe de 0,94 sur son jeu à 0,38 sur celui d'</a:t>
            </a:r>
            <a:r>
              <a:rPr lang="fr-FR" dirty="0" err="1" smtClean="0"/>
              <a:t>Imane</a:t>
            </a:r>
            <a:endParaRPr lang="fr-FR" dirty="0" smtClean="0"/>
          </a:p>
          <a:p>
            <a:r>
              <a:rPr lang="fr-FR" dirty="0" smtClean="0"/>
              <a:t>.</a:t>
            </a:r>
          </a:p>
          <a:p>
            <a:r>
              <a:rPr lang="fr-FR" dirty="0" smtClean="0"/>
              <a:t>&gt;</a:t>
            </a:r>
          </a:p>
          <a:p>
            <a:r>
              <a:rPr lang="fr-FR" dirty="0" smtClean="0"/>
              <a:t> La leçon est claire : lorsqu'une même personne construit les règles et les données de test, le score peut être optimiste.</a:t>
            </a:r>
          </a:p>
          <a:p>
            <a:r>
              <a:rPr lang="fr-FR" dirty="0" smtClean="0"/>
              <a:t>&gt;</a:t>
            </a:r>
          </a:p>
          <a:p>
            <a:r>
              <a:rPr lang="fr-FR" dirty="0" smtClean="0"/>
              <a:t> Après fusion, les règles R19 à R24 ont été ajoutées après consultation des ordonnances d'Aziz. Le F1 de 0,98 sur ces ordonnances reste donc optimiste. Nous l'indiquons explicitement plutôt que de présenter ce score comme une validation indépendante.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10</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smtClean="0"/>
              <a:t>Nous attribuons les huit erreurs à une brique précise. Trois oublis viennent du filtre </a:t>
            </a:r>
            <a:r>
              <a:rPr lang="fr-FR" dirty="0" err="1" smtClean="0"/>
              <a:t>anti-fatigue</a:t>
            </a:r>
            <a:r>
              <a:rPr lang="fr-FR" dirty="0" smtClean="0"/>
              <a:t>. Par exemple, le graphe relie allopurinol et </a:t>
            </a:r>
            <a:r>
              <a:rPr lang="fr-FR" dirty="0" err="1" smtClean="0"/>
              <a:t>azathioprine</a:t>
            </a:r>
            <a:r>
              <a:rPr lang="fr-FR" dirty="0" smtClean="0"/>
              <a:t> à une cible commune, XDH, mais le signal de niveau 1 est masqué.</a:t>
            </a:r>
          </a:p>
          <a:p>
            <a:endParaRPr lang="fr-FR" dirty="0" smtClean="0"/>
          </a:p>
          <a:p>
            <a:pPr>
              <a:buFont typeface="Wingdings"/>
              <a:buChar char="Ø"/>
            </a:pPr>
            <a:r>
              <a:rPr lang="fr-FR" dirty="0" smtClean="0"/>
              <a:t>Trois autres oublis viennent de règles manquantes : </a:t>
            </a:r>
            <a:r>
              <a:rPr lang="fr-FR" dirty="0" err="1" smtClean="0"/>
              <a:t>digoxine</a:t>
            </a:r>
            <a:r>
              <a:rPr lang="fr-FR" dirty="0" smtClean="0"/>
              <a:t> avec furosémide et </a:t>
            </a:r>
            <a:r>
              <a:rPr lang="fr-FR" dirty="0" err="1" smtClean="0"/>
              <a:t>simvastatine</a:t>
            </a:r>
            <a:r>
              <a:rPr lang="fr-FR" dirty="0" smtClean="0"/>
              <a:t> avec </a:t>
            </a:r>
            <a:r>
              <a:rPr lang="fr-FR" dirty="0" err="1" smtClean="0"/>
              <a:t>amlodipine</a:t>
            </a:r>
            <a:r>
              <a:rPr lang="fr-FR" dirty="0" smtClean="0"/>
              <a:t> ne sont pas couverts par les règles disponibles ni par le graphe.&gt;</a:t>
            </a:r>
          </a:p>
          <a:p>
            <a:pPr>
              <a:buFont typeface="Wingdings"/>
              <a:buChar char="Ø"/>
            </a:pPr>
            <a:endParaRPr lang="fr-FR" dirty="0" smtClean="0"/>
          </a:p>
          <a:p>
            <a:pPr>
              <a:buFont typeface="Wingdings"/>
              <a:buChar char="Ø"/>
            </a:pPr>
            <a:r>
              <a:rPr lang="fr-FR" dirty="0" smtClean="0"/>
              <a:t> Nous avons aussi deux fausses alertes. La première vient d'une classe trop large : le graphe classe l'aspirine comme AINS, sans considérer son usage à dose </a:t>
            </a:r>
            <a:r>
              <a:rPr lang="fr-FR" dirty="0" err="1" smtClean="0"/>
              <a:t>antiagrégante</a:t>
            </a:r>
            <a:r>
              <a:rPr lang="fr-FR" dirty="0" smtClean="0"/>
              <a:t>. </a:t>
            </a:r>
          </a:p>
          <a:p>
            <a:pPr>
              <a:buFont typeface="Wingdings"/>
              <a:buChar char="Ø"/>
            </a:pPr>
            <a:endParaRPr lang="fr-FR" dirty="0" smtClean="0"/>
          </a:p>
          <a:p>
            <a:pPr>
              <a:buFont typeface="Wingdings"/>
              <a:buChar char="Ø"/>
            </a:pPr>
            <a:r>
              <a:rPr lang="fr-FR" dirty="0" smtClean="0"/>
              <a:t>La seconde vient de G1 : le graphe ne code pas la force de l'inhibition de l'</a:t>
            </a:r>
            <a:r>
              <a:rPr lang="fr-FR" dirty="0" err="1" smtClean="0"/>
              <a:t>oméprazole</a:t>
            </a:r>
            <a:r>
              <a:rPr lang="fr-FR" dirty="0" smtClean="0"/>
              <a:t> sur la </a:t>
            </a:r>
            <a:r>
              <a:rPr lang="fr-FR" dirty="0" err="1" smtClean="0"/>
              <a:t>warfarine</a:t>
            </a:r>
            <a:r>
              <a:rPr lang="fr-FR" dirty="0" smtClean="0"/>
              <a:t>.&gt; L'absence d'arête dans </a:t>
            </a:r>
            <a:r>
              <a:rPr lang="fr-FR" dirty="0" err="1" smtClean="0"/>
              <a:t>Hetionet</a:t>
            </a:r>
            <a:r>
              <a:rPr lang="fr-FR" dirty="0" smtClean="0"/>
              <a:t> ne prouve donc jamais l'absence de risque clinique.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11</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smtClean="0"/>
              <a:t>En bonus, nous avons traduit les règles en une version pondérée avec </a:t>
            </a:r>
            <a:r>
              <a:rPr lang="fr-FR" dirty="0" err="1" smtClean="0"/>
              <a:t>ProbLog</a:t>
            </a:r>
            <a:r>
              <a:rPr lang="fr-FR" dirty="0" smtClean="0"/>
              <a:t>. L'idée est de classer les alertes par probabilité, et non de remplacer les règles cliniques par une décision opaque.&gt;</a:t>
            </a:r>
          </a:p>
          <a:p>
            <a:endParaRPr lang="fr-FR" dirty="0" smtClean="0"/>
          </a:p>
          <a:p>
            <a:r>
              <a:rPr lang="fr-FR" dirty="0" smtClean="0"/>
              <a:t> Sur 152 paires, cette version obtient une AUC de 0,93 et une erreur de calibration de 0,07. Au seuil de 0,5, elle conserve 47 des 48 vraies alertes.</a:t>
            </a:r>
          </a:p>
          <a:p>
            <a:endParaRPr lang="fr-FR" dirty="0" smtClean="0"/>
          </a:p>
          <a:p>
            <a:r>
              <a:rPr lang="fr-FR" dirty="0" smtClean="0"/>
              <a:t>&gt; Les poids ont été fixés avant l'évaluation. La pondération sert principalement à ordonner les alertes ; la tranche de probabilité entre 0,2 et 0,4 reste surestimée.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12</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smtClean="0"/>
              <a:t>Notre première limite est la couverture : </a:t>
            </a:r>
            <a:r>
              <a:rPr lang="fr-FR" dirty="0" err="1" smtClean="0"/>
              <a:t>Hetionet</a:t>
            </a:r>
            <a:r>
              <a:rPr lang="fr-FR" dirty="0" smtClean="0"/>
              <a:t> date de 2017, il est incomplet et statique. Le système ne modélise ni les doses, ni les données patient, ni l'intensité réelle des inhibiteurs enzymatiques.&gt; La vérité terrain a été construite par le binôme. Seize niveaux restent à confirmer, et certaines règles ainsi que le filtre ont été ajoutés après l'analyse du jeu de test. Les résultats ne constituent donc pas une validation clinique.&gt;</a:t>
            </a:r>
          </a:p>
          <a:p>
            <a:endParaRPr lang="fr-FR" dirty="0" smtClean="0"/>
          </a:p>
          <a:p>
            <a:r>
              <a:rPr lang="fr-FR" dirty="0" smtClean="0"/>
              <a:t>La suite consiste à faire annoter un jeu de test indépendant par un pharmacien, à intégrer les doses et la force des inhibiteurs, puis à apprendre ou </a:t>
            </a:r>
            <a:r>
              <a:rPr lang="fr-FR" dirty="0" err="1" smtClean="0"/>
              <a:t>recalibrer</a:t>
            </a:r>
            <a:r>
              <a:rPr lang="fr-FR" dirty="0" smtClean="0"/>
              <a:t> les poids </a:t>
            </a:r>
            <a:r>
              <a:rPr lang="fr-FR" dirty="0" err="1" smtClean="0"/>
              <a:t>ProbLog</a:t>
            </a:r>
            <a:r>
              <a:rPr lang="fr-FR" dirty="0" smtClean="0"/>
              <a:t>. Les </a:t>
            </a:r>
            <a:r>
              <a:rPr lang="fr-FR" dirty="0" err="1" smtClean="0"/>
              <a:t>embeddings</a:t>
            </a:r>
            <a:r>
              <a:rPr lang="fr-FR" dirty="0" smtClean="0"/>
              <a:t>, comme </a:t>
            </a:r>
            <a:r>
              <a:rPr lang="fr-FR" dirty="0" err="1" smtClean="0"/>
              <a:t>TransE</a:t>
            </a:r>
            <a:r>
              <a:rPr lang="fr-FR" dirty="0" smtClean="0"/>
              <a:t>, resteraient des générateurs d'hypothèses et non une recommandation clinique directe.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13</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b="1" dirty="0" err="1" smtClean="0"/>
              <a:t>Imen</a:t>
            </a:r>
            <a:r>
              <a:rPr lang="fr-FR" b="1" dirty="0" smtClean="0"/>
              <a:t> :**&gt; Notre apport principal est de combiner les règles et le graphe : les règles donnent une gravité et une source explicites, tandis que le graphe aide à généraliser au-delà d'une liste de paires figée.</a:t>
            </a:r>
          </a:p>
          <a:p>
            <a:endParaRPr lang="fr-FR" b="1" dirty="0" smtClean="0"/>
          </a:p>
          <a:p>
            <a:r>
              <a:rPr lang="fr-FR" b="1" dirty="0" smtClean="0"/>
              <a:t>**AZIZ**&gt; Sur notre jeu fusionné, cette approche atteint un F1 de 0,92 contre 0,56 pour la référence, avec 1,25 alerte par ordonnance et une explication pour chaque alerte.</a:t>
            </a:r>
          </a:p>
          <a:p>
            <a:endParaRPr lang="fr-FR" b="1" dirty="0" smtClean="0"/>
          </a:p>
          <a:p>
            <a:r>
              <a:rPr lang="fr-FR" b="1" dirty="0" smtClean="0"/>
              <a:t>**</a:t>
            </a:r>
            <a:r>
              <a:rPr lang="fr-FR" b="1" smtClean="0"/>
              <a:t>Imen**&gt; </a:t>
            </a:r>
            <a:r>
              <a:rPr lang="fr-FR" b="1" dirty="0" smtClean="0"/>
              <a:t>Nous insistons néanmoins sur le fait qu'il s'agit d'un prototype pédagogique. Une validation indépendante par un professionnel de santé reste indispensable.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pPr/>
              <a:t>14</a:t>
            </a:fld>
            <a:endParaRPr lang="en-US"/>
          </a:p>
        </p:txBody>
      </p:sp>
    </p:spTree>
    <p:extLst>
      <p:ext uri="{BB962C8B-B14F-4D97-AF65-F5344CB8AC3E}">
        <p14:creationId xmlns:p14="http://schemas.microsoft.com/office/powerpoint/2010/main" xmlns=""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3950"/>
            <a:ext cx="10566400" cy="927100"/>
          </a:xfrm>
          <a:prstGeom prst="rect">
            <a:avLst/>
          </a:prstGeom>
          <a:noFill/>
          <a:ln/>
        </p:spPr>
        <p:txBody>
          <a:bodyPr wrap="square" lIns="0" tIns="0" rIns="0" bIns="0" rtlCol="0" anchor="t"/>
          <a:lstStyle>
            <a:lvl1pPr marL="0" indent="0" algn="l">
              <a:lnSpc>
                <a:spcPct val="115000"/>
              </a:lnSpc>
              <a:buNone/>
              <a:defRPr lang="en-US" sz="3200" dirty="0">
                <a:solidFill>
                  <a:srgbClr val="1B2A3A"/>
                </a:solidFill>
                <a:latin typeface="Georgia" pitchFamily="34" charset="0"/>
                <a:ea typeface="Georgia" pitchFamily="34" charset="-122"/>
                <a:cs typeface="Georgia"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355850"/>
            <a:ext cx="10566400" cy="3689350"/>
          </a:xfrm>
          <a:prstGeom prst="rect">
            <a:avLst/>
          </a:prstGeom>
          <a:noFill/>
          <a:ln/>
        </p:spPr>
        <p:txBody>
          <a:bodyPr wrap="square" lIns="0" tIns="0" rIns="0" bIns="0" rtlCol="0" anchor="t"/>
          <a:lstStyle>
            <a:lvl1pPr marL="0" indent="0" algn="l">
              <a:lnSpc>
                <a:spcPct val="140000"/>
              </a:lnSpc>
              <a:buNone/>
              <a:defRPr lang="en-US" sz="1600" dirty="0">
                <a:solidFill>
                  <a:srgbClr val="1B2A3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3950"/>
            <a:ext cx="10566400" cy="927100"/>
          </a:xfrm>
          <a:prstGeom prst="rect">
            <a:avLst/>
          </a:prstGeom>
          <a:noFill/>
          <a:ln/>
        </p:spPr>
        <p:txBody>
          <a:bodyPr wrap="square" lIns="0" tIns="0" rIns="0" bIns="0" rtlCol="0" anchor="t"/>
          <a:lstStyle>
            <a:lvl1pPr marL="0" indent="0" algn="l">
              <a:lnSpc>
                <a:spcPct val="115000"/>
              </a:lnSpc>
              <a:buNone/>
              <a:defRPr lang="en-US" sz="3200" dirty="0">
                <a:solidFill>
                  <a:srgbClr val="1B2A3A"/>
                </a:solidFill>
                <a:latin typeface="Georgia" pitchFamily="34" charset="0"/>
                <a:ea typeface="Georgia" pitchFamily="34" charset="-122"/>
                <a:cs typeface="Georgia"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355850"/>
            <a:ext cx="10566400" cy="3689350"/>
          </a:xfrm>
          <a:prstGeom prst="rect">
            <a:avLst/>
          </a:prstGeom>
          <a:noFill/>
          <a:ln/>
        </p:spPr>
        <p:txBody>
          <a:bodyPr wrap="square" lIns="0" tIns="0" rIns="0" bIns="0" rtlCol="0" anchor="t"/>
          <a:lstStyle>
            <a:lvl1pPr marL="0" indent="0" algn="l">
              <a:lnSpc>
                <a:spcPct val="140000"/>
              </a:lnSpc>
              <a:buNone/>
              <a:defRPr lang="en-US" sz="1600" dirty="0">
                <a:solidFill>
                  <a:srgbClr val="1B2A3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Imane-Guihia/Verification-Ordonnance-Hybride"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2A6FB0"/>
          </a:solidFill>
          <a:ln/>
        </p:spPr>
      </p:sp>
      <p:sp>
        <p:nvSpPr>
          <p:cNvPr id="3" name="Text 1"/>
          <p:cNvSpPr/>
          <p:nvPr/>
        </p:nvSpPr>
        <p:spPr>
          <a:xfrm>
            <a:off x="812800" y="182245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2A6FB0"/>
                </a:solidFill>
                <a:latin typeface="Arial" pitchFamily="34" charset="0"/>
                <a:ea typeface="Arial" pitchFamily="34" charset="-122"/>
                <a:cs typeface="Arial" pitchFamily="34" charset="-120"/>
              </a:rPr>
              <a:t>MINI-PROJET IA HYBRIDE · SUJET 3</a:t>
            </a:r>
            <a:endParaRPr lang="en-US" sz="1400" dirty="0"/>
          </a:p>
        </p:txBody>
      </p:sp>
      <p:sp>
        <p:nvSpPr>
          <p:cNvPr id="4" name="Text 2"/>
          <p:cNvSpPr>
            <a:spLocks noGrp="1"/>
          </p:cNvSpPr>
          <p:nvPr>
            <p:ph type="title"/>
          </p:nvPr>
        </p:nvSpPr>
        <p:spPr>
          <a:xfrm>
            <a:off x="812800" y="2324100"/>
            <a:ext cx="10883392" cy="1447800"/>
          </a:xfrm>
          <a:prstGeom prst="rect">
            <a:avLst/>
          </a:prstGeom>
          <a:noFill/>
          <a:ln/>
        </p:spPr>
        <p:txBody>
          <a:bodyPr wrap="square" lIns="0" tIns="0" rIns="0" bIns="0" rtlCol="0" anchor="t">
            <a:normAutofit/>
          </a:bodyPr>
          <a:lstStyle/>
          <a:p>
            <a:pPr marL="0" indent="0" algn="l">
              <a:lnSpc>
                <a:spcPts val="5616"/>
              </a:lnSpc>
              <a:buNone/>
            </a:pPr>
            <a:r>
              <a:rPr lang="en-US" sz="5200" b="1" i="0" dirty="0">
                <a:solidFill>
                  <a:srgbClr val="1B2A3A"/>
                </a:solidFill>
                <a:latin typeface="Georgia" pitchFamily="18" charset="0"/>
                <a:ea typeface="Georgia" pitchFamily="18" charset="-122"/>
                <a:cs typeface="Georgia" pitchFamily="18" charset="-120"/>
              </a:rPr>
              <a:t>Vérification d'ordonnance</a:t>
            </a:r>
            <a:endParaRPr lang="en-US" sz="5200" dirty="0"/>
          </a:p>
          <a:p>
            <a:pPr marL="0" indent="0" algn="l">
              <a:lnSpc>
                <a:spcPts val="5616"/>
              </a:lnSpc>
              <a:buNone/>
            </a:pPr>
            <a:r>
              <a:rPr lang="en-US" sz="5200" b="1" i="0" dirty="0">
                <a:solidFill>
                  <a:srgbClr val="1B2A3A"/>
                </a:solidFill>
                <a:latin typeface="Georgia" pitchFamily="18" charset="0"/>
                <a:ea typeface="Georgia" pitchFamily="18" charset="-122"/>
                <a:cs typeface="Georgia" pitchFamily="18" charset="-120"/>
              </a:rPr>
              <a:t>par graphe et règles</a:t>
            </a:r>
            <a:endParaRPr lang="en-US" sz="5200" dirty="0"/>
          </a:p>
        </p:txBody>
      </p:sp>
      <p:sp>
        <p:nvSpPr>
          <p:cNvPr id="5" name="Text 3"/>
          <p:cNvSpPr/>
          <p:nvPr/>
        </p:nvSpPr>
        <p:spPr>
          <a:xfrm>
            <a:off x="812800" y="4000500"/>
            <a:ext cx="10883392" cy="3429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4A5568"/>
                </a:solidFill>
                <a:latin typeface="Arial" pitchFamily="34" charset="0"/>
                <a:ea typeface="Arial" pitchFamily="34" charset="-122"/>
                <a:cs typeface="Arial" pitchFamily="34" charset="-120"/>
              </a:rPr>
              <a:t>Signaler, hiérarchiser et expliquer les associations médicamenteuses à risque</a:t>
            </a:r>
            <a:endParaRPr lang="en-US" sz="1800" dirty="0"/>
          </a:p>
        </p:txBody>
      </p:sp>
      <p:sp>
        <p:nvSpPr>
          <p:cNvPr id="6" name="Shape 4"/>
          <p:cNvSpPr/>
          <p:nvPr/>
        </p:nvSpPr>
        <p:spPr>
          <a:xfrm>
            <a:off x="812800" y="4578350"/>
            <a:ext cx="10566400" cy="0"/>
          </a:xfrm>
          <a:prstGeom prst="line">
            <a:avLst/>
          </a:prstGeom>
          <a:noFill/>
          <a:ln w="12700">
            <a:solidFill>
              <a:srgbClr val="D8DEE6"/>
            </a:solidFill>
            <a:prstDash val="solid"/>
          </a:ln>
        </p:spPr>
      </p:sp>
      <p:sp>
        <p:nvSpPr>
          <p:cNvPr id="7" name="Text 5"/>
          <p:cNvSpPr/>
          <p:nvPr/>
        </p:nvSpPr>
        <p:spPr>
          <a:xfrm>
            <a:off x="812800" y="4787900"/>
            <a:ext cx="3525540"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B2A3A"/>
                </a:solidFill>
                <a:latin typeface="Arial" pitchFamily="34" charset="0"/>
                <a:ea typeface="Arial" pitchFamily="34" charset="-122"/>
                <a:cs typeface="Arial" pitchFamily="34" charset="-120"/>
              </a:rPr>
              <a:t>Imane Guihia</a:t>
            </a:r>
            <a:r>
              <a:rPr lang="en-US" sz="1400" dirty="0">
                <a:solidFill>
                  <a:srgbClr val="1B2A3A"/>
                </a:solidFill>
                <a:latin typeface="Arial" pitchFamily="34" charset="0"/>
                <a:ea typeface="Arial" pitchFamily="34" charset="-122"/>
                <a:cs typeface="Arial" pitchFamily="34" charset="-120"/>
              </a:rPr>
              <a:t> · </a:t>
            </a:r>
            <a:r>
              <a:rPr lang="en-US" sz="1400" b="1" dirty="0">
                <a:solidFill>
                  <a:srgbClr val="1B2A3A"/>
                </a:solidFill>
                <a:latin typeface="Arial" pitchFamily="34" charset="0"/>
                <a:ea typeface="Arial" pitchFamily="34" charset="-122"/>
                <a:cs typeface="Arial" pitchFamily="34" charset="-120"/>
              </a:rPr>
              <a:t>Mohamed Aziz Braham</a:t>
            </a:r>
            <a:endParaRPr lang="en-US" sz="1400" dirty="0"/>
          </a:p>
        </p:txBody>
      </p:sp>
      <p:sp>
        <p:nvSpPr>
          <p:cNvPr id="8" name="Text 6"/>
          <p:cNvSpPr/>
          <p:nvPr/>
        </p:nvSpPr>
        <p:spPr>
          <a:xfrm>
            <a:off x="4338340" y="4787900"/>
            <a:ext cx="3759637"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ISIS Castres · 5e année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LE PROBLÈME</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Trouver les vraies interactions sans noyer le prescripteur</a:t>
            </a:r>
            <a:endParaRPr lang="en-US" sz="3200" dirty="0"/>
          </a:p>
        </p:txBody>
      </p:sp>
      <p:sp>
        <p:nvSpPr>
          <p:cNvPr id="4" name="Shape 2"/>
          <p:cNvSpPr/>
          <p:nvPr/>
        </p:nvSpPr>
        <p:spPr>
          <a:xfrm>
            <a:off x="815975" y="2409825"/>
            <a:ext cx="3380284" cy="1790700"/>
          </a:xfrm>
          <a:prstGeom prst="roundRect">
            <a:avLst>
              <a:gd name="adj" fmla="val 5496"/>
            </a:avLst>
          </a:prstGeom>
          <a:solidFill>
            <a:srgbClr val="FFFFFF"/>
          </a:solidFill>
          <a:ln w="6350">
            <a:solidFill>
              <a:srgbClr val="D8DEE6"/>
            </a:solidFill>
            <a:prstDash val="solid"/>
          </a:ln>
        </p:spPr>
      </p:sp>
      <p:pic>
        <p:nvPicPr>
          <p:cNvPr id="5" name="Image 0" descr="Search"/>
          <p:cNvPicPr>
            <a:picLocks noChangeAspect="1"/>
          </p:cNvPicPr>
          <p:nvPr/>
        </p:nvPicPr>
        <p:blipFill>
          <a:blip r:embed="rId3"/>
          <a:srcRect/>
          <a:stretch/>
        </p:blipFill>
        <p:spPr>
          <a:xfrm>
            <a:off x="1073150" y="2667000"/>
            <a:ext cx="304800" cy="304800"/>
          </a:xfrm>
          <a:prstGeom prst="rect">
            <a:avLst/>
          </a:prstGeom>
        </p:spPr>
      </p:pic>
      <p:sp>
        <p:nvSpPr>
          <p:cNvPr id="6" name="Text 3"/>
          <p:cNvSpPr/>
          <p:nvPr/>
        </p:nvSpPr>
        <p:spPr>
          <a:xfrm>
            <a:off x="1073150" y="3073400"/>
            <a:ext cx="2951912"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Détecter</a:t>
            </a:r>
            <a:endParaRPr lang="en-US" sz="1800" dirty="0"/>
          </a:p>
        </p:txBody>
      </p:sp>
      <p:sp>
        <p:nvSpPr>
          <p:cNvPr id="7" name="Text 4"/>
          <p:cNvSpPr/>
          <p:nvPr/>
        </p:nvSpPr>
        <p:spPr>
          <a:xfrm>
            <a:off x="1073150" y="3448050"/>
            <a:ext cx="2951912"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les associations à risque d'une ordonnance (rappel)</a:t>
            </a:r>
            <a:endParaRPr lang="en-US" sz="1400" dirty="0"/>
          </a:p>
        </p:txBody>
      </p:sp>
      <p:sp>
        <p:nvSpPr>
          <p:cNvPr id="8" name="Shape 5"/>
          <p:cNvSpPr/>
          <p:nvPr/>
        </p:nvSpPr>
        <p:spPr>
          <a:xfrm>
            <a:off x="4405809" y="2409825"/>
            <a:ext cx="3380284" cy="1790700"/>
          </a:xfrm>
          <a:prstGeom prst="roundRect">
            <a:avLst>
              <a:gd name="adj" fmla="val 5496"/>
            </a:avLst>
          </a:prstGeom>
          <a:solidFill>
            <a:srgbClr val="FFFFFF"/>
          </a:solidFill>
          <a:ln w="6350">
            <a:solidFill>
              <a:srgbClr val="D8DEE6"/>
            </a:solidFill>
            <a:prstDash val="solid"/>
          </a:ln>
        </p:spPr>
      </p:sp>
      <p:pic>
        <p:nvPicPr>
          <p:cNvPr id="9" name="Image 1" descr="Warning"/>
          <p:cNvPicPr>
            <a:picLocks noChangeAspect="1"/>
          </p:cNvPicPr>
          <p:nvPr/>
        </p:nvPicPr>
        <p:blipFill>
          <a:blip r:embed="rId4"/>
          <a:srcRect/>
          <a:stretch/>
        </p:blipFill>
        <p:spPr>
          <a:xfrm>
            <a:off x="4662984" y="2667000"/>
            <a:ext cx="304800" cy="304800"/>
          </a:xfrm>
          <a:prstGeom prst="rect">
            <a:avLst/>
          </a:prstGeom>
        </p:spPr>
      </p:pic>
      <p:sp>
        <p:nvSpPr>
          <p:cNvPr id="10" name="Text 6"/>
          <p:cNvSpPr/>
          <p:nvPr/>
        </p:nvSpPr>
        <p:spPr>
          <a:xfrm>
            <a:off x="4662984" y="3073400"/>
            <a:ext cx="2951912"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Hiérarchiser</a:t>
            </a:r>
            <a:endParaRPr lang="en-US" sz="1800" dirty="0"/>
          </a:p>
        </p:txBody>
      </p:sp>
      <p:sp>
        <p:nvSpPr>
          <p:cNvPr id="11" name="Text 7"/>
          <p:cNvSpPr/>
          <p:nvPr/>
        </p:nvSpPr>
        <p:spPr>
          <a:xfrm>
            <a:off x="4662984" y="3448050"/>
            <a:ext cx="2951912"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par gravité, avec l'échelle du Thésaurus ANSM (1 à 4)</a:t>
            </a:r>
            <a:endParaRPr lang="en-US" sz="1400" dirty="0"/>
          </a:p>
        </p:txBody>
      </p:sp>
      <p:sp>
        <p:nvSpPr>
          <p:cNvPr id="12" name="Shape 8"/>
          <p:cNvSpPr/>
          <p:nvPr/>
        </p:nvSpPr>
        <p:spPr>
          <a:xfrm>
            <a:off x="7995642" y="2409825"/>
            <a:ext cx="3380383" cy="1790700"/>
          </a:xfrm>
          <a:prstGeom prst="roundRect">
            <a:avLst>
              <a:gd name="adj" fmla="val 5496"/>
            </a:avLst>
          </a:prstGeom>
          <a:solidFill>
            <a:srgbClr val="FFFFFF"/>
          </a:solidFill>
          <a:ln w="6350">
            <a:solidFill>
              <a:srgbClr val="D8DEE6"/>
            </a:solidFill>
            <a:prstDash val="solid"/>
          </a:ln>
        </p:spPr>
      </p:sp>
      <p:pic>
        <p:nvPicPr>
          <p:cNvPr id="13" name="Image 2" descr="Lightbulb"/>
          <p:cNvPicPr>
            <a:picLocks noChangeAspect="1"/>
          </p:cNvPicPr>
          <p:nvPr/>
        </p:nvPicPr>
        <p:blipFill>
          <a:blip r:embed="rId5"/>
          <a:srcRect/>
          <a:stretch/>
        </p:blipFill>
        <p:spPr>
          <a:xfrm>
            <a:off x="8252817" y="2667000"/>
            <a:ext cx="304800" cy="304800"/>
          </a:xfrm>
          <a:prstGeom prst="rect">
            <a:avLst/>
          </a:prstGeom>
        </p:spPr>
      </p:pic>
      <p:sp>
        <p:nvSpPr>
          <p:cNvPr id="14" name="Text 9"/>
          <p:cNvSpPr/>
          <p:nvPr/>
        </p:nvSpPr>
        <p:spPr>
          <a:xfrm>
            <a:off x="8252817" y="3073400"/>
            <a:ext cx="2952014"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Expliquer</a:t>
            </a:r>
            <a:endParaRPr lang="en-US" sz="1800" dirty="0"/>
          </a:p>
        </p:txBody>
      </p:sp>
      <p:sp>
        <p:nvSpPr>
          <p:cNvPr id="15" name="Text 10"/>
          <p:cNvSpPr/>
          <p:nvPr/>
        </p:nvSpPr>
        <p:spPr>
          <a:xfrm>
            <a:off x="8252817" y="3448050"/>
            <a:ext cx="2952014"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chaque alerte : règle, source et chemin dans le graphe</a:t>
            </a:r>
            <a:endParaRPr lang="en-US" sz="1400" dirty="0"/>
          </a:p>
        </p:txBody>
      </p:sp>
      <p:sp>
        <p:nvSpPr>
          <p:cNvPr id="16" name="Shape 11"/>
          <p:cNvSpPr/>
          <p:nvPr/>
        </p:nvSpPr>
        <p:spPr>
          <a:xfrm>
            <a:off x="812800" y="4559300"/>
            <a:ext cx="10566400" cy="685800"/>
          </a:xfrm>
          <a:prstGeom prst="roundRect">
            <a:avLst>
              <a:gd name="adj" fmla="val 11111"/>
            </a:avLst>
          </a:prstGeom>
          <a:solidFill>
            <a:srgbClr val="EEF3F9"/>
          </a:solidFill>
          <a:ln/>
        </p:spPr>
      </p:sp>
      <p:sp>
        <p:nvSpPr>
          <p:cNvPr id="17" name="Text 12"/>
          <p:cNvSpPr/>
          <p:nvPr/>
        </p:nvSpPr>
        <p:spPr>
          <a:xfrm>
            <a:off x="1066800" y="4762500"/>
            <a:ext cx="10360152"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B2A3A"/>
                </a:solidFill>
                <a:latin typeface="Arial" pitchFamily="34" charset="0"/>
                <a:ea typeface="Arial" pitchFamily="34" charset="-122"/>
                <a:cs typeface="Arial" pitchFamily="34" charset="-120"/>
              </a:rPr>
              <a:t>Contrainte :</a:t>
            </a:r>
            <a:r>
              <a:rPr lang="en-US" sz="1600" dirty="0">
                <a:solidFill>
                  <a:srgbClr val="1B2A3A"/>
                </a:solidFill>
                <a:latin typeface="Arial" pitchFamily="34" charset="0"/>
                <a:ea typeface="Arial" pitchFamily="34" charset="-122"/>
                <a:cs typeface="Arial" pitchFamily="34" charset="-120"/>
              </a:rPr>
              <a:t> trop d'alertes = </a:t>
            </a:r>
            <a:r>
              <a:rPr lang="en-US" sz="1600" b="1" dirty="0">
                <a:solidFill>
                  <a:srgbClr val="1B2A3A"/>
                </a:solidFill>
                <a:latin typeface="Arial" pitchFamily="34" charset="0"/>
                <a:ea typeface="Arial" pitchFamily="34" charset="-122"/>
                <a:cs typeface="Arial" pitchFamily="34" charset="-120"/>
              </a:rPr>
              <a:t>fatigue d'alerte</a:t>
            </a:r>
            <a:r>
              <a:rPr lang="en-US" sz="1600" dirty="0">
                <a:solidFill>
                  <a:srgbClr val="1B2A3A"/>
                </a:solidFill>
                <a:latin typeface="Arial" pitchFamily="34" charset="0"/>
                <a:ea typeface="Arial" pitchFamily="34" charset="-122"/>
                <a:cs typeface="Arial" pitchFamily="34" charset="-120"/>
              </a:rPr>
              <a:t>, et le prescripteur finit par les ignorer.</a:t>
            </a:r>
            <a:endParaRPr lang="en-US" sz="1600" dirty="0"/>
          </a:p>
        </p:txBody>
      </p:sp>
      <p:sp>
        <p:nvSpPr>
          <p:cNvPr id="18" name="Text 13"/>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LES DONNÉES</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Hetionet est riche, mais incomplet pour notre usage</a:t>
            </a:r>
            <a:endParaRPr lang="en-US" sz="3200" dirty="0"/>
          </a:p>
        </p:txBody>
      </p:sp>
      <p:sp>
        <p:nvSpPr>
          <p:cNvPr id="4" name="Shape 2"/>
          <p:cNvSpPr/>
          <p:nvPr/>
        </p:nvSpPr>
        <p:spPr>
          <a:xfrm>
            <a:off x="812800" y="2419350"/>
            <a:ext cx="3386634" cy="0"/>
          </a:xfrm>
          <a:prstGeom prst="line">
            <a:avLst/>
          </a:prstGeom>
          <a:noFill/>
          <a:ln w="25400">
            <a:solidFill>
              <a:srgbClr val="2A6FB0"/>
            </a:solidFill>
            <a:prstDash val="solid"/>
          </a:ln>
        </p:spPr>
      </p:sp>
      <p:sp>
        <p:nvSpPr>
          <p:cNvPr id="5" name="Text 3"/>
          <p:cNvSpPr/>
          <p:nvPr/>
        </p:nvSpPr>
        <p:spPr>
          <a:xfrm>
            <a:off x="812800" y="2584450"/>
            <a:ext cx="3488233" cy="806450"/>
          </a:xfrm>
          <a:prstGeom prst="rect">
            <a:avLst/>
          </a:prstGeom>
          <a:noFill/>
          <a:ln/>
        </p:spPr>
        <p:txBody>
          <a:bodyPr wrap="square" lIns="0" tIns="0" rIns="0" bIns="0" rtlCol="0" anchor="t">
            <a:normAutofit/>
          </a:bodyPr>
          <a:lstStyle/>
          <a:p>
            <a:pPr marL="0" indent="0" algn="l">
              <a:lnSpc>
                <a:spcPts val="6160"/>
              </a:lnSpc>
              <a:buNone/>
            </a:pPr>
            <a:r>
              <a:rPr lang="en-US" sz="4400" b="1" dirty="0">
                <a:solidFill>
                  <a:srgbClr val="1B2A3A"/>
                </a:solidFill>
                <a:latin typeface="Georgia" pitchFamily="18" charset="0"/>
                <a:ea typeface="Georgia" pitchFamily="18" charset="-122"/>
                <a:cs typeface="Georgia" pitchFamily="18" charset="-120"/>
              </a:rPr>
              <a:t>9 364</a:t>
            </a:r>
            <a:endParaRPr lang="en-US" sz="4400" dirty="0"/>
          </a:p>
        </p:txBody>
      </p:sp>
      <p:sp>
        <p:nvSpPr>
          <p:cNvPr id="6" name="Text 4"/>
          <p:cNvSpPr/>
          <p:nvPr/>
        </p:nvSpPr>
        <p:spPr>
          <a:xfrm>
            <a:off x="812800" y="3416300"/>
            <a:ext cx="3488233"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nœuds gardés (médicaments, classes, gènes, effets) sur 47 031</a:t>
            </a:r>
            <a:endParaRPr lang="en-US" sz="1400" dirty="0"/>
          </a:p>
        </p:txBody>
      </p:sp>
      <p:sp>
        <p:nvSpPr>
          <p:cNvPr id="7" name="Shape 5"/>
          <p:cNvSpPr/>
          <p:nvPr/>
        </p:nvSpPr>
        <p:spPr>
          <a:xfrm>
            <a:off x="4402634" y="2419350"/>
            <a:ext cx="3386634" cy="0"/>
          </a:xfrm>
          <a:prstGeom prst="line">
            <a:avLst/>
          </a:prstGeom>
          <a:noFill/>
          <a:ln w="25400">
            <a:solidFill>
              <a:srgbClr val="D9822B"/>
            </a:solidFill>
            <a:prstDash val="solid"/>
          </a:ln>
        </p:spPr>
      </p:sp>
      <p:sp>
        <p:nvSpPr>
          <p:cNvPr id="8" name="Text 6"/>
          <p:cNvSpPr/>
          <p:nvPr/>
        </p:nvSpPr>
        <p:spPr>
          <a:xfrm>
            <a:off x="4402634" y="2584450"/>
            <a:ext cx="3488233" cy="806450"/>
          </a:xfrm>
          <a:prstGeom prst="rect">
            <a:avLst/>
          </a:prstGeom>
          <a:noFill/>
          <a:ln/>
        </p:spPr>
        <p:txBody>
          <a:bodyPr wrap="square" lIns="0" tIns="0" rIns="0" bIns="0" rtlCol="0" anchor="t">
            <a:normAutofit/>
          </a:bodyPr>
          <a:lstStyle/>
          <a:p>
            <a:pPr marL="0" indent="0" algn="l">
              <a:lnSpc>
                <a:spcPts val="6160"/>
              </a:lnSpc>
              <a:buNone/>
            </a:pPr>
            <a:r>
              <a:rPr lang="en-US" sz="4400" b="1" dirty="0">
                <a:solidFill>
                  <a:srgbClr val="1B2A3A"/>
                </a:solidFill>
                <a:latin typeface="Georgia" pitchFamily="18" charset="0"/>
                <a:ea typeface="Georgia" pitchFamily="18" charset="-122"/>
                <a:cs typeface="Georgia" pitchFamily="18" charset="-120"/>
              </a:rPr>
              <a:t>47 %</a:t>
            </a:r>
            <a:endParaRPr lang="en-US" sz="4400" dirty="0"/>
          </a:p>
        </p:txBody>
      </p:sp>
      <p:sp>
        <p:nvSpPr>
          <p:cNvPr id="9" name="Text 7"/>
          <p:cNvSpPr/>
          <p:nvPr/>
        </p:nvSpPr>
        <p:spPr>
          <a:xfrm>
            <a:off x="4402634" y="3416300"/>
            <a:ext cx="3488233" cy="7683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des médicaments seulement ont une classe (aucune pour statines, IEC, potassium)</a:t>
            </a:r>
            <a:endParaRPr lang="en-US" sz="1400" dirty="0"/>
          </a:p>
        </p:txBody>
      </p:sp>
      <p:sp>
        <p:nvSpPr>
          <p:cNvPr id="10" name="Shape 8"/>
          <p:cNvSpPr/>
          <p:nvPr/>
        </p:nvSpPr>
        <p:spPr>
          <a:xfrm>
            <a:off x="7992467" y="2419350"/>
            <a:ext cx="3386733" cy="0"/>
          </a:xfrm>
          <a:prstGeom prst="line">
            <a:avLst/>
          </a:prstGeom>
          <a:noFill/>
          <a:ln w="25400">
            <a:solidFill>
              <a:srgbClr val="D9822B"/>
            </a:solidFill>
            <a:prstDash val="solid"/>
          </a:ln>
        </p:spPr>
      </p:sp>
      <p:sp>
        <p:nvSpPr>
          <p:cNvPr id="11" name="Text 9"/>
          <p:cNvSpPr/>
          <p:nvPr/>
        </p:nvSpPr>
        <p:spPr>
          <a:xfrm>
            <a:off x="7992467" y="2584450"/>
            <a:ext cx="3488335" cy="806450"/>
          </a:xfrm>
          <a:prstGeom prst="rect">
            <a:avLst/>
          </a:prstGeom>
          <a:noFill/>
          <a:ln/>
        </p:spPr>
        <p:txBody>
          <a:bodyPr wrap="square" lIns="0" tIns="0" rIns="0" bIns="0" rtlCol="0" anchor="t">
            <a:normAutofit/>
          </a:bodyPr>
          <a:lstStyle/>
          <a:p>
            <a:pPr marL="0" indent="0" algn="l">
              <a:lnSpc>
                <a:spcPts val="6160"/>
              </a:lnSpc>
              <a:buNone/>
            </a:pPr>
            <a:r>
              <a:rPr lang="en-US" sz="4400" b="1" dirty="0">
                <a:solidFill>
                  <a:srgbClr val="1B2A3A"/>
                </a:solidFill>
                <a:latin typeface="Georgia" pitchFamily="18" charset="0"/>
                <a:ea typeface="Georgia" pitchFamily="18" charset="-122"/>
                <a:cs typeface="Georgia" pitchFamily="18" charset="-120"/>
              </a:rPr>
              <a:t>0</a:t>
            </a:r>
            <a:endParaRPr lang="en-US" sz="4400" dirty="0"/>
          </a:p>
        </p:txBody>
      </p:sp>
      <p:sp>
        <p:nvSpPr>
          <p:cNvPr id="12" name="Text 10"/>
          <p:cNvSpPr/>
          <p:nvPr/>
        </p:nvSpPr>
        <p:spPr>
          <a:xfrm>
            <a:off x="7992467" y="3416300"/>
            <a:ext cx="3488335"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effet indésirable pour la warfarine dans le graphe</a:t>
            </a:r>
            <a:endParaRPr lang="en-US" sz="1400" dirty="0"/>
          </a:p>
        </p:txBody>
      </p:sp>
      <p:sp>
        <p:nvSpPr>
          <p:cNvPr id="13" name="Text 11"/>
          <p:cNvSpPr/>
          <p:nvPr/>
        </p:nvSpPr>
        <p:spPr>
          <a:xfrm>
            <a:off x="812800" y="4514850"/>
            <a:ext cx="10883392"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Nos ajouts, tous sourcés</a:t>
            </a:r>
            <a:endParaRPr lang="en-US" sz="1800" dirty="0"/>
          </a:p>
        </p:txBody>
      </p:sp>
      <p:sp>
        <p:nvSpPr>
          <p:cNvPr id="14" name="Text 12"/>
          <p:cNvSpPr/>
          <p:nvPr/>
        </p:nvSpPr>
        <p:spPr>
          <a:xfrm>
            <a:off x="812800" y="4864100"/>
            <a:ext cx="10883392" cy="57150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4A5568"/>
                </a:solidFill>
                <a:latin typeface="Arial" pitchFamily="34" charset="0"/>
                <a:ea typeface="Arial" pitchFamily="34" charset="-122"/>
                <a:cs typeface="Arial" pitchFamily="34" charset="-120"/>
              </a:rPr>
              <a:t>Table ATC de 28 classes · dictionnaire de synonymes (DCI françaises, noms commerciaux) · 17 effets graves · 14 médicaments à marge thérapeutique étroite</a:t>
            </a:r>
            <a:endParaRPr lang="en-US" sz="1500" dirty="0"/>
          </a:p>
        </p:txBody>
      </p:sp>
      <p:sp>
        <p:nvSpPr>
          <p:cNvPr id="15" name="Text 13"/>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Hetionet v1.0 (CC0) · arêtes PCiC, CbG, CcSE, CtD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4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L'ARCHITECTURE</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Deux familles de règles, un filtre, des alertes expliquées</a:t>
            </a:r>
            <a:endParaRPr lang="en-US" sz="3200" dirty="0"/>
          </a:p>
        </p:txBody>
      </p:sp>
      <p:sp>
        <p:nvSpPr>
          <p:cNvPr id="4" name="Shape 2"/>
          <p:cNvSpPr/>
          <p:nvPr/>
        </p:nvSpPr>
        <p:spPr>
          <a:xfrm>
            <a:off x="815975" y="2359025"/>
            <a:ext cx="3143250" cy="768350"/>
          </a:xfrm>
          <a:prstGeom prst="roundRect">
            <a:avLst>
              <a:gd name="adj" fmla="val 9504"/>
            </a:avLst>
          </a:prstGeom>
          <a:solidFill>
            <a:srgbClr val="FFFFFF"/>
          </a:solidFill>
          <a:ln w="6350">
            <a:solidFill>
              <a:srgbClr val="C9D2DC"/>
            </a:solidFill>
            <a:prstDash val="solid"/>
          </a:ln>
        </p:spPr>
      </p:sp>
      <p:sp>
        <p:nvSpPr>
          <p:cNvPr id="5" name="Text 3"/>
          <p:cNvSpPr/>
          <p:nvPr/>
        </p:nvSpPr>
        <p:spPr>
          <a:xfrm>
            <a:off x="929069" y="2514600"/>
            <a:ext cx="2917063" cy="273050"/>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B2A3A"/>
                </a:solidFill>
                <a:latin typeface="Arial" pitchFamily="34" charset="0"/>
                <a:ea typeface="Arial" pitchFamily="34" charset="-122"/>
                <a:cs typeface="Arial" pitchFamily="34" charset="-120"/>
              </a:rPr>
              <a:t>Ordonnance</a:t>
            </a:r>
            <a:endParaRPr lang="en-US" sz="1400" dirty="0"/>
          </a:p>
        </p:txBody>
      </p:sp>
      <p:sp>
        <p:nvSpPr>
          <p:cNvPr id="6" name="Text 4"/>
          <p:cNvSpPr/>
          <p:nvPr/>
        </p:nvSpPr>
        <p:spPr>
          <a:xfrm>
            <a:off x="929069" y="2762250"/>
            <a:ext cx="2917063"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Arial" pitchFamily="34" charset="0"/>
                <a:ea typeface="Arial" pitchFamily="34" charset="-122"/>
                <a:cs typeface="Arial" pitchFamily="34" charset="-120"/>
              </a:rPr>
              <a:t>2 à 9 médicaments</a:t>
            </a:r>
            <a:endParaRPr lang="en-US" sz="1200" dirty="0"/>
          </a:p>
        </p:txBody>
      </p:sp>
      <p:pic>
        <p:nvPicPr>
          <p:cNvPr id="7" name="Image 0" descr="arrow-right"/>
          <p:cNvPicPr>
            <a:picLocks noChangeAspect="1"/>
          </p:cNvPicPr>
          <p:nvPr/>
        </p:nvPicPr>
        <p:blipFill>
          <a:blip r:embed="rId3"/>
          <a:srcRect/>
          <a:stretch/>
        </p:blipFill>
        <p:spPr>
          <a:xfrm>
            <a:off x="4064000" y="2654300"/>
            <a:ext cx="355600" cy="177800"/>
          </a:xfrm>
          <a:prstGeom prst="rect">
            <a:avLst/>
          </a:prstGeom>
        </p:spPr>
      </p:pic>
      <p:sp>
        <p:nvSpPr>
          <p:cNvPr id="8" name="Shape 5"/>
          <p:cNvSpPr/>
          <p:nvPr/>
        </p:nvSpPr>
        <p:spPr>
          <a:xfrm>
            <a:off x="4524375" y="2359025"/>
            <a:ext cx="3143250" cy="768350"/>
          </a:xfrm>
          <a:prstGeom prst="roundRect">
            <a:avLst>
              <a:gd name="adj" fmla="val 9504"/>
            </a:avLst>
          </a:prstGeom>
          <a:solidFill>
            <a:srgbClr val="FFFFFF"/>
          </a:solidFill>
          <a:ln w="6350">
            <a:solidFill>
              <a:srgbClr val="C9D2DC"/>
            </a:solidFill>
            <a:prstDash val="solid"/>
          </a:ln>
        </p:spPr>
      </p:sp>
      <p:sp>
        <p:nvSpPr>
          <p:cNvPr id="9" name="Text 6"/>
          <p:cNvSpPr/>
          <p:nvPr/>
        </p:nvSpPr>
        <p:spPr>
          <a:xfrm>
            <a:off x="4637468" y="2514600"/>
            <a:ext cx="2917063" cy="273050"/>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B2A3A"/>
                </a:solidFill>
                <a:latin typeface="Arial" pitchFamily="34" charset="0"/>
                <a:ea typeface="Arial" pitchFamily="34" charset="-122"/>
                <a:cs typeface="Arial" pitchFamily="34" charset="-120"/>
              </a:rPr>
              <a:t>Reconnaissance</a:t>
            </a:r>
            <a:endParaRPr lang="en-US" sz="1400" dirty="0"/>
          </a:p>
        </p:txBody>
      </p:sp>
      <p:sp>
        <p:nvSpPr>
          <p:cNvPr id="10" name="Text 7"/>
          <p:cNvSpPr/>
          <p:nvPr/>
        </p:nvSpPr>
        <p:spPr>
          <a:xfrm>
            <a:off x="4637468" y="2762250"/>
            <a:ext cx="2917063"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Arial" pitchFamily="34" charset="0"/>
                <a:ea typeface="Arial" pitchFamily="34" charset="-122"/>
                <a:cs typeface="Arial" pitchFamily="34" charset="-120"/>
              </a:rPr>
              <a:t>synonymes, nom approché</a:t>
            </a:r>
            <a:endParaRPr lang="en-US" sz="1200" dirty="0"/>
          </a:p>
        </p:txBody>
      </p:sp>
      <p:pic>
        <p:nvPicPr>
          <p:cNvPr id="11" name="Image 1" descr="arrow-right"/>
          <p:cNvPicPr>
            <a:picLocks noChangeAspect="1"/>
          </p:cNvPicPr>
          <p:nvPr/>
        </p:nvPicPr>
        <p:blipFill>
          <a:blip r:embed="rId3"/>
          <a:srcRect/>
          <a:stretch/>
        </p:blipFill>
        <p:spPr>
          <a:xfrm>
            <a:off x="7772400" y="2654300"/>
            <a:ext cx="355600" cy="177800"/>
          </a:xfrm>
          <a:prstGeom prst="rect">
            <a:avLst/>
          </a:prstGeom>
        </p:spPr>
      </p:pic>
      <p:sp>
        <p:nvSpPr>
          <p:cNvPr id="12" name="Shape 8"/>
          <p:cNvSpPr/>
          <p:nvPr/>
        </p:nvSpPr>
        <p:spPr>
          <a:xfrm>
            <a:off x="8232775" y="2359025"/>
            <a:ext cx="3143250" cy="768350"/>
          </a:xfrm>
          <a:prstGeom prst="roundRect">
            <a:avLst>
              <a:gd name="adj" fmla="val 9504"/>
            </a:avLst>
          </a:prstGeom>
          <a:solidFill>
            <a:srgbClr val="FFFFFF"/>
          </a:solidFill>
          <a:ln w="6350">
            <a:solidFill>
              <a:srgbClr val="C9D2DC"/>
            </a:solidFill>
            <a:prstDash val="solid"/>
          </a:ln>
        </p:spPr>
      </p:sp>
      <p:sp>
        <p:nvSpPr>
          <p:cNvPr id="13" name="Text 9"/>
          <p:cNvSpPr/>
          <p:nvPr/>
        </p:nvSpPr>
        <p:spPr>
          <a:xfrm>
            <a:off x="8345868" y="2514600"/>
            <a:ext cx="2917063" cy="273050"/>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B2A3A"/>
                </a:solidFill>
                <a:latin typeface="Arial" pitchFamily="34" charset="0"/>
                <a:ea typeface="Arial" pitchFamily="34" charset="-122"/>
                <a:cs typeface="Arial" pitchFamily="34" charset="-120"/>
              </a:rPr>
              <a:t>Paires A + B</a:t>
            </a:r>
            <a:endParaRPr lang="en-US" sz="1400" dirty="0"/>
          </a:p>
        </p:txBody>
      </p:sp>
      <p:sp>
        <p:nvSpPr>
          <p:cNvPr id="14" name="Text 10"/>
          <p:cNvSpPr/>
          <p:nvPr/>
        </p:nvSpPr>
        <p:spPr>
          <a:xfrm>
            <a:off x="8345868" y="2762250"/>
            <a:ext cx="2917063"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Arial" pitchFamily="34" charset="0"/>
                <a:ea typeface="Arial" pitchFamily="34" charset="-122"/>
                <a:cs typeface="Arial" pitchFamily="34" charset="-120"/>
              </a:rPr>
              <a:t>toutes les paires</a:t>
            </a:r>
            <a:endParaRPr lang="en-US" sz="1200" dirty="0"/>
          </a:p>
        </p:txBody>
      </p:sp>
      <p:sp>
        <p:nvSpPr>
          <p:cNvPr id="15" name="Shape 11"/>
          <p:cNvSpPr/>
          <p:nvPr/>
        </p:nvSpPr>
        <p:spPr>
          <a:xfrm>
            <a:off x="815975" y="3438525"/>
            <a:ext cx="5175250" cy="889000"/>
          </a:xfrm>
          <a:prstGeom prst="roundRect">
            <a:avLst>
              <a:gd name="adj" fmla="val 8214"/>
            </a:avLst>
          </a:prstGeom>
          <a:solidFill>
            <a:srgbClr val="FFFFFF"/>
          </a:solidFill>
          <a:ln w="6350">
            <a:solidFill>
              <a:srgbClr val="C9D2DC"/>
            </a:solidFill>
            <a:prstDash val="solid"/>
          </a:ln>
        </p:spPr>
      </p:sp>
      <p:sp>
        <p:nvSpPr>
          <p:cNvPr id="16" name="Text 12"/>
          <p:cNvSpPr/>
          <p:nvPr/>
        </p:nvSpPr>
        <p:spPr>
          <a:xfrm>
            <a:off x="996950" y="3619500"/>
            <a:ext cx="495769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B2A3A"/>
                </a:solidFill>
                <a:latin typeface="Arial" pitchFamily="34" charset="0"/>
                <a:ea typeface="Arial" pitchFamily="34" charset="-122"/>
                <a:cs typeface="Arial" pitchFamily="34" charset="-120"/>
              </a:rPr>
              <a:t>Règles expertes R01-R24</a:t>
            </a:r>
            <a:endParaRPr lang="en-US" sz="1500" dirty="0"/>
          </a:p>
        </p:txBody>
      </p:sp>
      <p:sp>
        <p:nvSpPr>
          <p:cNvPr id="17" name="Text 13"/>
          <p:cNvSpPr/>
          <p:nvPr/>
        </p:nvSpPr>
        <p:spPr>
          <a:xfrm>
            <a:off x="996950" y="3937000"/>
            <a:ext cx="4957699"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classe lue dans le graphe (PCiC) ou la table ATC · niveau ANSM</a:t>
            </a:r>
            <a:endParaRPr lang="en-US" sz="1200" dirty="0"/>
          </a:p>
        </p:txBody>
      </p:sp>
      <p:sp>
        <p:nvSpPr>
          <p:cNvPr id="18" name="Shape 14"/>
          <p:cNvSpPr/>
          <p:nvPr/>
        </p:nvSpPr>
        <p:spPr>
          <a:xfrm>
            <a:off x="6200775" y="3438525"/>
            <a:ext cx="5175250" cy="889000"/>
          </a:xfrm>
          <a:prstGeom prst="roundRect">
            <a:avLst>
              <a:gd name="adj" fmla="val 8214"/>
            </a:avLst>
          </a:prstGeom>
          <a:solidFill>
            <a:srgbClr val="FFFFFF"/>
          </a:solidFill>
          <a:ln w="6350">
            <a:solidFill>
              <a:srgbClr val="C9D2DC"/>
            </a:solidFill>
            <a:prstDash val="solid"/>
          </a:ln>
        </p:spPr>
      </p:sp>
      <p:sp>
        <p:nvSpPr>
          <p:cNvPr id="19" name="Text 15"/>
          <p:cNvSpPr/>
          <p:nvPr/>
        </p:nvSpPr>
        <p:spPr>
          <a:xfrm>
            <a:off x="6381750" y="3619500"/>
            <a:ext cx="495769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B2A3A"/>
                </a:solidFill>
                <a:latin typeface="Arial" pitchFamily="34" charset="0"/>
                <a:ea typeface="Arial" pitchFamily="34" charset="-122"/>
                <a:cs typeface="Arial" pitchFamily="34" charset="-120"/>
              </a:rPr>
              <a:t>Règles du graphe G1-G3</a:t>
            </a:r>
            <a:endParaRPr lang="en-US" sz="1500" dirty="0"/>
          </a:p>
        </p:txBody>
      </p:sp>
      <p:sp>
        <p:nvSpPr>
          <p:cNvPr id="20" name="Text 16"/>
          <p:cNvSpPr/>
          <p:nvPr/>
        </p:nvSpPr>
        <p:spPr>
          <a:xfrm>
            <a:off x="6381750" y="3937000"/>
            <a:ext cx="4957699"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pharmacocinétique, effet partagé, cible commune</a:t>
            </a:r>
            <a:endParaRPr lang="en-US" sz="1200" dirty="0"/>
          </a:p>
        </p:txBody>
      </p:sp>
      <p:sp>
        <p:nvSpPr>
          <p:cNvPr id="21" name="Shape 17"/>
          <p:cNvSpPr/>
          <p:nvPr/>
        </p:nvSpPr>
        <p:spPr>
          <a:xfrm>
            <a:off x="815975" y="4645025"/>
            <a:ext cx="4991100" cy="768350"/>
          </a:xfrm>
          <a:prstGeom prst="roundRect">
            <a:avLst>
              <a:gd name="adj" fmla="val 9504"/>
            </a:avLst>
          </a:prstGeom>
          <a:solidFill>
            <a:srgbClr val="FFFFFF"/>
          </a:solidFill>
          <a:ln w="6350">
            <a:solidFill>
              <a:srgbClr val="C9D2DC"/>
            </a:solidFill>
            <a:prstDash val="solid"/>
          </a:ln>
        </p:spPr>
      </p:sp>
      <p:sp>
        <p:nvSpPr>
          <p:cNvPr id="22" name="Text 18"/>
          <p:cNvSpPr/>
          <p:nvPr/>
        </p:nvSpPr>
        <p:spPr>
          <a:xfrm>
            <a:off x="901351" y="4800600"/>
            <a:ext cx="4820349" cy="273050"/>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B2A3A"/>
                </a:solidFill>
                <a:latin typeface="Arial" pitchFamily="34" charset="0"/>
                <a:ea typeface="Arial" pitchFamily="34" charset="-122"/>
                <a:cs typeface="Arial" pitchFamily="34" charset="-120"/>
              </a:rPr>
              <a:t>Filtre anti-fatigue</a:t>
            </a:r>
            <a:endParaRPr lang="en-US" sz="1400" dirty="0"/>
          </a:p>
        </p:txBody>
      </p:sp>
      <p:sp>
        <p:nvSpPr>
          <p:cNvPr id="23" name="Text 19"/>
          <p:cNvSpPr/>
          <p:nvPr/>
        </p:nvSpPr>
        <p:spPr>
          <a:xfrm>
            <a:off x="901351" y="5048250"/>
            <a:ext cx="4820349"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Arial" pitchFamily="34" charset="0"/>
                <a:ea typeface="Arial" pitchFamily="34" charset="-122"/>
                <a:cs typeface="Arial" pitchFamily="34" charset="-120"/>
              </a:rPr>
              <a:t>expertes toujours · graphe si niveau ≥ 2</a:t>
            </a:r>
            <a:endParaRPr lang="en-US" sz="1200" dirty="0"/>
          </a:p>
        </p:txBody>
      </p:sp>
      <p:pic>
        <p:nvPicPr>
          <p:cNvPr id="24" name="Image 2" descr="arrow-right"/>
          <p:cNvPicPr>
            <a:picLocks noChangeAspect="1"/>
          </p:cNvPicPr>
          <p:nvPr/>
        </p:nvPicPr>
        <p:blipFill>
          <a:blip r:embed="rId3"/>
          <a:srcRect/>
          <a:stretch/>
        </p:blipFill>
        <p:spPr>
          <a:xfrm>
            <a:off x="5911850" y="4940300"/>
            <a:ext cx="355600" cy="177800"/>
          </a:xfrm>
          <a:prstGeom prst="rect">
            <a:avLst/>
          </a:prstGeom>
        </p:spPr>
      </p:pic>
      <p:sp>
        <p:nvSpPr>
          <p:cNvPr id="25" name="Shape 20"/>
          <p:cNvSpPr/>
          <p:nvPr/>
        </p:nvSpPr>
        <p:spPr>
          <a:xfrm>
            <a:off x="6375400" y="4641850"/>
            <a:ext cx="4997450" cy="774700"/>
          </a:xfrm>
          <a:prstGeom prst="roundRect">
            <a:avLst>
              <a:gd name="adj" fmla="val 9016"/>
            </a:avLst>
          </a:prstGeom>
          <a:solidFill>
            <a:srgbClr val="EEF3F9"/>
          </a:solidFill>
          <a:ln w="12700">
            <a:solidFill>
              <a:srgbClr val="2A6FB0"/>
            </a:solidFill>
            <a:prstDash val="solid"/>
          </a:ln>
        </p:spPr>
      </p:sp>
      <p:sp>
        <p:nvSpPr>
          <p:cNvPr id="26" name="Text 21"/>
          <p:cNvSpPr/>
          <p:nvPr/>
        </p:nvSpPr>
        <p:spPr>
          <a:xfrm>
            <a:off x="6463951" y="4800600"/>
            <a:ext cx="4820349" cy="273050"/>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B2A3A"/>
                </a:solidFill>
                <a:latin typeface="Arial" pitchFamily="34" charset="0"/>
                <a:ea typeface="Arial" pitchFamily="34" charset="-122"/>
                <a:cs typeface="Arial" pitchFamily="34" charset="-120"/>
              </a:rPr>
              <a:t>Alertes triées par gravité</a:t>
            </a:r>
            <a:endParaRPr lang="en-US" sz="1400" dirty="0"/>
          </a:p>
        </p:txBody>
      </p:sp>
      <p:sp>
        <p:nvSpPr>
          <p:cNvPr id="27" name="Text 22"/>
          <p:cNvSpPr/>
          <p:nvPr/>
        </p:nvSpPr>
        <p:spPr>
          <a:xfrm>
            <a:off x="6463951" y="5048250"/>
            <a:ext cx="4820349"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B2A3A"/>
                </a:solidFill>
                <a:latin typeface="Arial" pitchFamily="34" charset="0"/>
                <a:ea typeface="Arial" pitchFamily="34" charset="-122"/>
                <a:cs typeface="Arial" pitchFamily="34" charset="-120"/>
              </a:rPr>
              <a:t>règle + source + chemin</a:t>
            </a:r>
            <a:endParaRPr lang="en-US" sz="1200" dirty="0"/>
          </a:p>
        </p:txBody>
      </p:sp>
      <p:sp>
        <p:nvSpPr>
          <p:cNvPr id="28" name="Text 23"/>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LES RÈGLES</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24 règles expertes sourcées, 3 règles tirées du graphe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xmlns="" val="1579011935"/>
              </p:ext>
            </p:extLst>
          </p:nvPr>
        </p:nvGraphicFramePr>
        <p:xfrm>
          <a:off x="825500" y="2266950"/>
          <a:ext cx="10553700" cy="2474715"/>
        </p:xfrm>
        <a:graphic>
          <a:graphicData uri="http://schemas.openxmlformats.org/drawingml/2006/table">
            <a:tbl>
              <a:tblPr/>
              <a:tblGrid>
                <a:gridCol w="2532888">
                  <a:extLst>
                    <a:ext uri="{9D8B030D-6E8A-4147-A177-3AD203B41FA5}">
                      <a16:colId xmlns:a16="http://schemas.microsoft.com/office/drawing/2014/main" xmlns="" val="20000"/>
                    </a:ext>
                  </a:extLst>
                </a:gridCol>
                <a:gridCol w="4854702">
                  <a:extLst>
                    <a:ext uri="{9D8B030D-6E8A-4147-A177-3AD203B41FA5}">
                      <a16:colId xmlns:a16="http://schemas.microsoft.com/office/drawing/2014/main" xmlns="" val="20001"/>
                    </a:ext>
                  </a:extLst>
                </a:gridCol>
                <a:gridCol w="3166110">
                  <a:extLst>
                    <a:ext uri="{9D8B030D-6E8A-4147-A177-3AD203B41FA5}">
                      <a16:colId xmlns:a16="http://schemas.microsoft.com/office/drawing/2014/main" xmlns="" val="20002"/>
                    </a:ext>
                  </a:extLst>
                </a:gridCol>
              </a:tblGrid>
              <a:tr h="359271">
                <a:tc>
                  <a:txBody>
                    <a:bodyPr/>
                    <a:lstStyle/>
                    <a:p>
                      <a:pPr marL="0" indent="0">
                        <a:lnSpc>
                          <a:spcPts val="1820"/>
                        </a:lnSpc>
                        <a:buNone/>
                      </a:pPr>
                      <a:r>
                        <a:rPr lang="en-US" sz="1300" b="1" dirty="0">
                          <a:solidFill>
                            <a:srgbClr val="1B2A3A"/>
                          </a:solidFill>
                          <a:latin typeface="Arial" pitchFamily="34" charset="0"/>
                          <a:ea typeface="Arial" pitchFamily="34" charset="-122"/>
                          <a:cs typeface="Arial" pitchFamily="34" charset="-120"/>
                        </a:rPr>
                        <a:t>Famille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marL="0" indent="0">
                        <a:lnSpc>
                          <a:spcPts val="1820"/>
                        </a:lnSpc>
                        <a:buNone/>
                      </a:pPr>
                      <a:r>
                        <a:rPr lang="en-US" sz="1300" b="1" dirty="0">
                          <a:solidFill>
                            <a:srgbClr val="1B2A3A"/>
                          </a:solidFill>
                          <a:latin typeface="Arial" pitchFamily="34" charset="0"/>
                          <a:ea typeface="Arial" pitchFamily="34" charset="-122"/>
                          <a:cs typeface="Arial" pitchFamily="34" charset="-120"/>
                        </a:rPr>
                        <a:t>Ce qu'elle vérifie</a:t>
                      </a:r>
                      <a:endParaRPr lang="en-US" sz="1300" dirty="0">
                        <a:latin typeface="Arial" charset="0"/>
                        <a:ea typeface="Arial" charset="0"/>
                        <a:cs typeface="Arial" charset="0"/>
                      </a:endParaRPr>
                    </a:p>
                  </a:txBody>
                  <a:tcPr marL="57785" marR="57785" marT="57785" marB="57785">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marL="0" indent="0">
                        <a:lnSpc>
                          <a:spcPts val="1820"/>
                        </a:lnSpc>
                        <a:buNone/>
                      </a:pPr>
                      <a:r>
                        <a:rPr lang="en-US" sz="1300" b="1" dirty="0">
                          <a:solidFill>
                            <a:srgbClr val="1B2A3A"/>
                          </a:solidFill>
                          <a:latin typeface="Arial" pitchFamily="34" charset="0"/>
                          <a:ea typeface="Arial" pitchFamily="34" charset="-122"/>
                          <a:cs typeface="Arial" pitchFamily="34" charset="-120"/>
                        </a:rPr>
                        <a:t>Niveau</a:t>
                      </a:r>
                      <a:endParaRPr lang="en-US" sz="1300" dirty="0">
                        <a:latin typeface="Arial" charset="0"/>
                        <a:ea typeface="Arial" charset="0"/>
                        <a:cs typeface="Arial" charset="0"/>
                      </a:endParaRPr>
                    </a:p>
                  </a:txBody>
                  <a:tcPr marL="57785" marR="57785" marT="57785" marB="57785">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extLst>
                  <a:ext uri="{0D108BD9-81ED-4DB2-BD59-A6C34878D82A}">
                    <a16:rowId xmlns:a16="http://schemas.microsoft.com/office/drawing/2014/main" xmlns="" val="10000"/>
                  </a:ext>
                </a:extLst>
              </a:tr>
              <a:tr h="585391">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R01-R18</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EC2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deux classes connues pour interagir : AVK + AINS, statine + inhibiteur CYP3A4, nitré + IPDE5…</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EC2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1 à 4 selon le Thésaurus ANSM</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EC2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xmlns="" val="10001"/>
                  </a:ext>
                </a:extLst>
              </a:tr>
              <a:tr h="585391">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R19-R24 (version d'Aziz)</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ISRS/IRSN + AINS ou AVK, antiagrégant + AINS, digoxine + macrolide, potassium + épargneur</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1 à 4 selon le Thésaurus ANSM</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xmlns="" val="10002"/>
                  </a:ext>
                </a:extLst>
              </a:tr>
              <a:tr h="359271">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G1 pharmacocinétique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A inhibe une enzyme (PCiC) à laquelle B est lié (CbG)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2 si B est à marge étroite, sinon 1</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xmlns="" val="10003"/>
                  </a:ext>
                </a:extLst>
              </a:tr>
              <a:tr h="585391">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G2 / G3</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effet grave partagé (CcSE) / cible commune hors enzymes (CbG)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B2A3A"/>
                          </a:solidFill>
                          <a:latin typeface="Arial" pitchFamily="34" charset="0"/>
                          <a:ea typeface="Arial" pitchFamily="34" charset="-122"/>
                          <a:cs typeface="Arial" pitchFamily="34" charset="-120"/>
                        </a:rPr>
                        <a:t>1, masqué en mode concis</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5" name="Text 2"/>
          <p:cNvSpPr/>
          <p:nvPr/>
        </p:nvSpPr>
        <p:spPr>
          <a:xfrm>
            <a:off x="812800" y="4944864"/>
            <a:ext cx="10883392"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Sources : Thésaurus ANSM, classification ATC (OMS), RCP EMA et étiquettes FDA.</a:t>
            </a:r>
            <a:endParaRPr lang="en-US" sz="1400" dirty="0"/>
          </a:p>
        </p:txBody>
      </p:sp>
      <p:sp>
        <p:nvSpPr>
          <p:cNvPr id="6" name="Text 3"/>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4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UNE ALERTE EXPLIQUÉE</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Warfarine + ibuprofène : la règle, sa source et sa preuve</a:t>
            </a:r>
            <a:endParaRPr lang="en-US" sz="3200" dirty="0"/>
          </a:p>
        </p:txBody>
      </p:sp>
      <p:sp>
        <p:nvSpPr>
          <p:cNvPr id="4" name="Shape 2"/>
          <p:cNvSpPr/>
          <p:nvPr/>
        </p:nvSpPr>
        <p:spPr>
          <a:xfrm>
            <a:off x="815975" y="2308225"/>
            <a:ext cx="10560050" cy="2501900"/>
          </a:xfrm>
          <a:prstGeom prst="roundRect">
            <a:avLst>
              <a:gd name="adj" fmla="val 2919"/>
            </a:avLst>
          </a:prstGeom>
          <a:solidFill>
            <a:srgbClr val="FFFFFF"/>
          </a:solidFill>
          <a:ln w="6350">
            <a:solidFill>
              <a:srgbClr val="C9D2DC"/>
            </a:solidFill>
            <a:prstDash val="solid"/>
          </a:ln>
        </p:spPr>
      </p:sp>
      <p:sp>
        <p:nvSpPr>
          <p:cNvPr id="5" name="Text 3"/>
          <p:cNvSpPr/>
          <p:nvPr/>
        </p:nvSpPr>
        <p:spPr>
          <a:xfrm>
            <a:off x="1123950" y="2565400"/>
            <a:ext cx="1024242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Courier New" pitchFamily="49" charset="0"/>
                <a:ea typeface="Courier New" pitchFamily="49" charset="-122"/>
                <a:cs typeface="Courier New" pitchFamily="49" charset="-120"/>
              </a:rPr>
              <a:t>$ python src/verifier.py warfarine ibuprofène oméprazole</a:t>
            </a:r>
            <a:endParaRPr lang="en-US" sz="1200" dirty="0"/>
          </a:p>
        </p:txBody>
      </p:sp>
      <p:sp>
        <p:nvSpPr>
          <p:cNvPr id="6" name="Text 4"/>
          <p:cNvSpPr/>
          <p:nvPr/>
        </p:nvSpPr>
        <p:spPr>
          <a:xfrm>
            <a:off x="1123950" y="2901950"/>
            <a:ext cx="10242423" cy="32385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B2A3A"/>
                </a:solidFill>
                <a:latin typeface="Arial" pitchFamily="34" charset="0"/>
                <a:ea typeface="Arial" pitchFamily="34" charset="-122"/>
                <a:cs typeface="Arial" pitchFamily="34" charset="-120"/>
              </a:rPr>
              <a:t>Association déconseillée · warfarine + ibuprofène</a:t>
            </a:r>
            <a:endParaRPr lang="en-US" sz="1700" dirty="0"/>
          </a:p>
        </p:txBody>
      </p:sp>
      <p:sp>
        <p:nvSpPr>
          <p:cNvPr id="7" name="Text 5"/>
          <p:cNvSpPr/>
          <p:nvPr/>
        </p:nvSpPr>
        <p:spPr>
          <a:xfrm>
            <a:off x="1123950" y="3327400"/>
            <a:ext cx="10242423"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R01 : majoration du risque hémorragique</a:t>
            </a:r>
            <a:endParaRPr lang="en-US" sz="1400" dirty="0"/>
          </a:p>
        </p:txBody>
      </p:sp>
      <p:sp>
        <p:nvSpPr>
          <p:cNvPr id="8" name="Text 6"/>
          <p:cNvSpPr/>
          <p:nvPr/>
        </p:nvSpPr>
        <p:spPr>
          <a:xfrm>
            <a:off x="1123950" y="3702050"/>
            <a:ext cx="10242423" cy="520700"/>
          </a:xfrm>
          <a:prstGeom prst="rect">
            <a:avLst/>
          </a:prstGeom>
          <a:noFill/>
          <a:ln/>
        </p:spPr>
        <p:txBody>
          <a:bodyPr wrap="square" lIns="0" tIns="0" rIns="0" bIns="0" rtlCol="0" anchor="t">
            <a:normAutofit/>
          </a:bodyPr>
          <a:lstStyle/>
          <a:p>
            <a:pPr marL="0" indent="0" algn="l">
              <a:lnSpc>
                <a:spcPts val="1950"/>
              </a:lnSpc>
              <a:buNone/>
            </a:pPr>
            <a:r>
              <a:rPr lang="en-US" sz="1300" dirty="0">
                <a:solidFill>
                  <a:srgbClr val="4A5568"/>
                </a:solidFill>
                <a:latin typeface="Courier New" pitchFamily="49" charset="0"/>
                <a:ea typeface="Courier New" pitchFamily="49" charset="-122"/>
                <a:cs typeface="Courier New" pitchFamily="49" charset="-120"/>
              </a:rPr>
              <a:t>Warfarin ←[PCiC]— « Vitamin K Inhibitors » ⇒ antivitamines K</a:t>
            </a:r>
            <a:endParaRPr lang="en-US" sz="1300" dirty="0"/>
          </a:p>
          <a:p>
            <a:pPr marL="0" indent="0" algn="l">
              <a:lnSpc>
                <a:spcPts val="1950"/>
              </a:lnSpc>
              <a:buNone/>
            </a:pPr>
            <a:r>
              <a:rPr lang="en-US" sz="1300" dirty="0">
                <a:solidFill>
                  <a:srgbClr val="4A5568"/>
                </a:solidFill>
                <a:latin typeface="Courier New" pitchFamily="49" charset="0"/>
                <a:ea typeface="Courier New" pitchFamily="49" charset="-122"/>
                <a:cs typeface="Courier New" pitchFamily="49" charset="-120"/>
              </a:rPr>
              <a:t>Ibuprofen ←[PCiC]— « Nonsteroidal Anti-inflammatory Compounds » ⇒ AINS</a:t>
            </a:r>
            <a:endParaRPr lang="en-US" sz="1300" dirty="0"/>
          </a:p>
        </p:txBody>
      </p:sp>
      <p:sp>
        <p:nvSpPr>
          <p:cNvPr id="9" name="Text 7"/>
          <p:cNvSpPr/>
          <p:nvPr/>
        </p:nvSpPr>
        <p:spPr>
          <a:xfrm>
            <a:off x="1123950" y="4324350"/>
            <a:ext cx="10242423"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Arial" pitchFamily="34" charset="0"/>
                <a:ea typeface="Arial" pitchFamily="34" charset="-122"/>
                <a:cs typeface="Arial" pitchFamily="34" charset="-120"/>
              </a:rPr>
              <a:t>Source : ANSM, Thésaurus des interactions médicamenteuses : AVK + AINS</a:t>
            </a:r>
            <a:endParaRPr lang="en-US" sz="1300" dirty="0"/>
          </a:p>
        </p:txBody>
      </p:sp>
      <p:sp>
        <p:nvSpPr>
          <p:cNvPr id="10" name="Text 8"/>
          <p:cNvSpPr/>
          <p:nvPr/>
        </p:nvSpPr>
        <p:spPr>
          <a:xfrm>
            <a:off x="812800" y="506730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B2A3A"/>
                </a:solidFill>
                <a:latin typeface="Arial" pitchFamily="34" charset="0"/>
                <a:ea typeface="Arial" pitchFamily="34" charset="-122"/>
                <a:cs typeface="Arial" pitchFamily="34" charset="-120"/>
              </a:rPr>
              <a:t>Fluindione (Previscan), absente du graphe, est classée par la table ATC ; un nom inconnu est toujours signalé.</a:t>
            </a:r>
            <a:endParaRPr lang="en-US" sz="1500" dirty="0"/>
          </a:p>
        </p:txBody>
      </p:sp>
      <p:sp>
        <p:nvSpPr>
          <p:cNvPr id="11" name="Text 9"/>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LE PROTOCOLE</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40 ordonnances, 54 paires à risque, une référence non hybride</a:t>
            </a:r>
            <a:endParaRPr lang="en-US" sz="3200" dirty="0"/>
          </a:p>
        </p:txBody>
      </p:sp>
      <p:sp>
        <p:nvSpPr>
          <p:cNvPr id="4" name="Shape 2"/>
          <p:cNvSpPr/>
          <p:nvPr/>
        </p:nvSpPr>
        <p:spPr>
          <a:xfrm>
            <a:off x="815975" y="2409825"/>
            <a:ext cx="5175250" cy="1555750"/>
          </a:xfrm>
          <a:prstGeom prst="roundRect">
            <a:avLst>
              <a:gd name="adj" fmla="val 6327"/>
            </a:avLst>
          </a:prstGeom>
          <a:solidFill>
            <a:srgbClr val="FFFFFF"/>
          </a:solidFill>
          <a:ln w="6350">
            <a:solidFill>
              <a:srgbClr val="D8DEE6"/>
            </a:solidFill>
            <a:prstDash val="solid"/>
          </a:ln>
        </p:spPr>
      </p:sp>
      <p:sp>
        <p:nvSpPr>
          <p:cNvPr id="5" name="Text 3"/>
          <p:cNvSpPr/>
          <p:nvPr/>
        </p:nvSpPr>
        <p:spPr>
          <a:xfrm>
            <a:off x="1047750" y="2641600"/>
            <a:ext cx="4853051" cy="279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B2A3A"/>
                </a:solidFill>
                <a:latin typeface="Arial" pitchFamily="34" charset="0"/>
                <a:ea typeface="Arial" pitchFamily="34" charset="-122"/>
                <a:cs typeface="Arial" pitchFamily="34" charset="-120"/>
              </a:rPr>
              <a:t>Jeu de test fusionné</a:t>
            </a:r>
            <a:endParaRPr lang="en-US" sz="1700" dirty="0"/>
          </a:p>
        </p:txBody>
      </p:sp>
      <p:sp>
        <p:nvSpPr>
          <p:cNvPr id="6" name="Text 4"/>
          <p:cNvSpPr/>
          <p:nvPr/>
        </p:nvSpPr>
        <p:spPr>
          <a:xfrm>
            <a:off x="1047750" y="2971800"/>
            <a:ext cx="4853051" cy="78740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5568"/>
                </a:solidFill>
                <a:latin typeface="Arial" pitchFamily="34" charset="0"/>
                <a:ea typeface="Arial" pitchFamily="34" charset="-122"/>
                <a:cs typeface="Arial" pitchFamily="34" charset="-120"/>
              </a:rPr>
              <a:t>20 ordonnances par membre du binôme, dont 3 sans interaction et 2 avec un médicament absent du graphe. Niveaux ANSM ; 16 paires à confirmer.</a:t>
            </a:r>
            <a:endParaRPr lang="en-US" sz="1400" dirty="0"/>
          </a:p>
        </p:txBody>
      </p:sp>
      <p:sp>
        <p:nvSpPr>
          <p:cNvPr id="7" name="Shape 5"/>
          <p:cNvSpPr/>
          <p:nvPr/>
        </p:nvSpPr>
        <p:spPr>
          <a:xfrm>
            <a:off x="6200775" y="2409825"/>
            <a:ext cx="5175250" cy="1555750"/>
          </a:xfrm>
          <a:prstGeom prst="roundRect">
            <a:avLst>
              <a:gd name="adj" fmla="val 6327"/>
            </a:avLst>
          </a:prstGeom>
          <a:solidFill>
            <a:srgbClr val="FFFFFF"/>
          </a:solidFill>
          <a:ln w="6350">
            <a:solidFill>
              <a:srgbClr val="D8DEE6"/>
            </a:solidFill>
            <a:prstDash val="solid"/>
          </a:ln>
        </p:spPr>
      </p:sp>
      <p:sp>
        <p:nvSpPr>
          <p:cNvPr id="8" name="Text 6"/>
          <p:cNvSpPr/>
          <p:nvPr/>
        </p:nvSpPr>
        <p:spPr>
          <a:xfrm>
            <a:off x="6432550" y="2641600"/>
            <a:ext cx="4853051" cy="279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B2A3A"/>
                </a:solidFill>
                <a:latin typeface="Arial" pitchFamily="34" charset="0"/>
                <a:ea typeface="Arial" pitchFamily="34" charset="-122"/>
                <a:cs typeface="Arial" pitchFamily="34" charset="-120"/>
              </a:rPr>
              <a:t>Référence non hybride</a:t>
            </a:r>
            <a:endParaRPr lang="en-US" sz="1700" dirty="0"/>
          </a:p>
        </p:txBody>
      </p:sp>
      <p:sp>
        <p:nvSpPr>
          <p:cNvPr id="9" name="Text 7"/>
          <p:cNvSpPr/>
          <p:nvPr/>
        </p:nvSpPr>
        <p:spPr>
          <a:xfrm>
            <a:off x="6432550" y="2971800"/>
            <a:ext cx="4853051" cy="53340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5568"/>
                </a:solidFill>
                <a:latin typeface="Arial" pitchFamily="34" charset="0"/>
                <a:ea typeface="Arial" pitchFamily="34" charset="-122"/>
                <a:cs typeface="Arial" pitchFamily="34" charset="-120"/>
              </a:rPr>
              <a:t>Recherche exacte de la paire dans une liste de 26 interactions, sans classes ni graphe.</a:t>
            </a:r>
            <a:endParaRPr lang="en-US" sz="1400" dirty="0"/>
          </a:p>
        </p:txBody>
      </p:sp>
      <p:sp>
        <p:nvSpPr>
          <p:cNvPr id="10" name="Shape 8"/>
          <p:cNvSpPr/>
          <p:nvPr/>
        </p:nvSpPr>
        <p:spPr>
          <a:xfrm>
            <a:off x="815975" y="4175125"/>
            <a:ext cx="5175250" cy="1301750"/>
          </a:xfrm>
          <a:prstGeom prst="roundRect">
            <a:avLst>
              <a:gd name="adj" fmla="val 7561"/>
            </a:avLst>
          </a:prstGeom>
          <a:solidFill>
            <a:srgbClr val="FFFFFF"/>
          </a:solidFill>
          <a:ln w="6350">
            <a:solidFill>
              <a:srgbClr val="D8DEE6"/>
            </a:solidFill>
            <a:prstDash val="solid"/>
          </a:ln>
        </p:spPr>
      </p:sp>
      <p:sp>
        <p:nvSpPr>
          <p:cNvPr id="11" name="Text 9"/>
          <p:cNvSpPr/>
          <p:nvPr/>
        </p:nvSpPr>
        <p:spPr>
          <a:xfrm>
            <a:off x="1047750" y="4406900"/>
            <a:ext cx="4853051" cy="279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B2A3A"/>
                </a:solidFill>
                <a:latin typeface="Arial" pitchFamily="34" charset="0"/>
                <a:ea typeface="Arial" pitchFamily="34" charset="-122"/>
                <a:cs typeface="Arial" pitchFamily="34" charset="-120"/>
              </a:rPr>
              <a:t>Mesures</a:t>
            </a:r>
            <a:endParaRPr lang="en-US" sz="1700" dirty="0"/>
          </a:p>
        </p:txBody>
      </p:sp>
      <p:sp>
        <p:nvSpPr>
          <p:cNvPr id="12" name="Text 10"/>
          <p:cNvSpPr/>
          <p:nvPr/>
        </p:nvSpPr>
        <p:spPr>
          <a:xfrm>
            <a:off x="1047750" y="4737100"/>
            <a:ext cx="4853051" cy="53340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5568"/>
                </a:solidFill>
                <a:latin typeface="Arial" pitchFamily="34" charset="0"/>
                <a:ea typeface="Arial" pitchFamily="34" charset="-122"/>
                <a:cs typeface="Arial" pitchFamily="34" charset="-120"/>
              </a:rPr>
              <a:t>Précision, rappel, F1, niveau exact, alertes par ordonnance, cohérence, temps.</a:t>
            </a:r>
            <a:endParaRPr lang="en-US" sz="1400" dirty="0"/>
          </a:p>
        </p:txBody>
      </p:sp>
      <p:sp>
        <p:nvSpPr>
          <p:cNvPr id="13" name="Shape 11"/>
          <p:cNvSpPr/>
          <p:nvPr/>
        </p:nvSpPr>
        <p:spPr>
          <a:xfrm>
            <a:off x="6200775" y="4175125"/>
            <a:ext cx="5175250" cy="1301750"/>
          </a:xfrm>
          <a:prstGeom prst="roundRect">
            <a:avLst>
              <a:gd name="adj" fmla="val 7561"/>
            </a:avLst>
          </a:prstGeom>
          <a:solidFill>
            <a:srgbClr val="FFFFFF"/>
          </a:solidFill>
          <a:ln w="6350">
            <a:solidFill>
              <a:srgbClr val="D8DEE6"/>
            </a:solidFill>
            <a:prstDash val="solid"/>
          </a:ln>
        </p:spPr>
      </p:sp>
      <p:sp>
        <p:nvSpPr>
          <p:cNvPr id="14" name="Text 12"/>
          <p:cNvSpPr/>
          <p:nvPr/>
        </p:nvSpPr>
        <p:spPr>
          <a:xfrm>
            <a:off x="6432550" y="4406900"/>
            <a:ext cx="4853051" cy="279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B2A3A"/>
                </a:solidFill>
                <a:latin typeface="Arial" pitchFamily="34" charset="0"/>
                <a:ea typeface="Arial" pitchFamily="34" charset="-122"/>
                <a:cs typeface="Arial" pitchFamily="34" charset="-120"/>
              </a:rPr>
              <a:t>Contre le biais d'auteur</a:t>
            </a:r>
            <a:endParaRPr lang="en-US" sz="1700" dirty="0"/>
          </a:p>
        </p:txBody>
      </p:sp>
      <p:sp>
        <p:nvSpPr>
          <p:cNvPr id="15" name="Text 13"/>
          <p:cNvSpPr/>
          <p:nvPr/>
        </p:nvSpPr>
        <p:spPr>
          <a:xfrm>
            <a:off x="6432550" y="4737100"/>
            <a:ext cx="4853051" cy="53340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5568"/>
                </a:solidFill>
                <a:latin typeface="Arial" pitchFamily="34" charset="0"/>
                <a:ea typeface="Arial" pitchFamily="34" charset="-122"/>
                <a:cs typeface="Arial" pitchFamily="34" charset="-120"/>
              </a:rPr>
              <a:t>Évaluation croisée avant fusion et 5 ordonnances de généralisation hors table.</a:t>
            </a:r>
            <a:endParaRPr lang="en-US" sz="1400" dirty="0"/>
          </a:p>
        </p:txBody>
      </p:sp>
      <p:sp>
        <p:nvSpPr>
          <p:cNvPr id="16" name="Text 14"/>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3F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RÉSULTAT PRINCIPAL</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L'hybride trouve 48 des 54 interactions, avec 2 fausses alertes</a:t>
            </a:r>
            <a:endParaRPr lang="en-US" sz="3200" dirty="0"/>
          </a:p>
        </p:txBody>
      </p:sp>
      <p:sp>
        <p:nvSpPr>
          <p:cNvPr id="4" name="Shape 2"/>
          <p:cNvSpPr/>
          <p:nvPr/>
        </p:nvSpPr>
        <p:spPr>
          <a:xfrm>
            <a:off x="819150" y="2413000"/>
            <a:ext cx="5118100" cy="2203450"/>
          </a:xfrm>
          <a:prstGeom prst="roundRect">
            <a:avLst>
              <a:gd name="adj" fmla="val 4323"/>
            </a:avLst>
          </a:prstGeom>
          <a:solidFill>
            <a:srgbClr val="FFFFFF"/>
          </a:solidFill>
          <a:ln w="12700">
            <a:solidFill>
              <a:srgbClr val="2A6FB0"/>
            </a:solidFill>
            <a:prstDash val="solid"/>
          </a:ln>
        </p:spPr>
      </p:sp>
      <p:sp>
        <p:nvSpPr>
          <p:cNvPr id="5" name="Text 3"/>
          <p:cNvSpPr/>
          <p:nvPr/>
        </p:nvSpPr>
        <p:spPr>
          <a:xfrm>
            <a:off x="1079500" y="2673350"/>
            <a:ext cx="4735322"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6FB0"/>
                </a:solidFill>
                <a:latin typeface="Arial" pitchFamily="34" charset="0"/>
                <a:ea typeface="Arial" pitchFamily="34" charset="-122"/>
                <a:cs typeface="Arial" pitchFamily="34" charset="-120"/>
              </a:rPr>
              <a:t>Hybride (graphe + règles)</a:t>
            </a:r>
            <a:endParaRPr lang="en-US" sz="1400" dirty="0"/>
          </a:p>
        </p:txBody>
      </p:sp>
      <p:sp>
        <p:nvSpPr>
          <p:cNvPr id="6" name="Text 4"/>
          <p:cNvSpPr/>
          <p:nvPr/>
        </p:nvSpPr>
        <p:spPr>
          <a:xfrm>
            <a:off x="1079500" y="2971800"/>
            <a:ext cx="4735322" cy="863600"/>
          </a:xfrm>
          <a:prstGeom prst="rect">
            <a:avLst/>
          </a:prstGeom>
          <a:noFill/>
          <a:ln/>
        </p:spPr>
        <p:txBody>
          <a:bodyPr wrap="square" lIns="0" tIns="0" rIns="0" bIns="0" rtlCol="0" anchor="t">
            <a:normAutofit/>
          </a:bodyPr>
          <a:lstStyle/>
          <a:p>
            <a:pPr marL="0" indent="0" algn="l">
              <a:lnSpc>
                <a:spcPts val="6600"/>
              </a:lnSpc>
              <a:buNone/>
            </a:pPr>
            <a:r>
              <a:rPr lang="en-US" sz="6000" b="1" dirty="0">
                <a:solidFill>
                  <a:srgbClr val="1B2A3A"/>
                </a:solidFill>
                <a:latin typeface="Georgia" pitchFamily="18" charset="0"/>
                <a:ea typeface="Georgia" pitchFamily="18" charset="-122"/>
                <a:cs typeface="Georgia" pitchFamily="18" charset="-120"/>
              </a:rPr>
              <a:t>F1 0,92</a:t>
            </a:r>
            <a:endParaRPr lang="en-US" sz="6000" dirty="0"/>
          </a:p>
        </p:txBody>
      </p:sp>
      <p:sp>
        <p:nvSpPr>
          <p:cNvPr id="7" name="Text 5"/>
          <p:cNvSpPr/>
          <p:nvPr/>
        </p:nvSpPr>
        <p:spPr>
          <a:xfrm>
            <a:off x="1079500" y="3860800"/>
            <a:ext cx="4735322"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précision 0,96 · rappel 0,89</a:t>
            </a:r>
            <a:endParaRPr lang="en-US" sz="1400" dirty="0"/>
          </a:p>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1,25 alerte par ordonnance</a:t>
            </a:r>
            <a:endParaRPr lang="en-US" sz="1400" dirty="0"/>
          </a:p>
        </p:txBody>
      </p:sp>
      <p:sp>
        <p:nvSpPr>
          <p:cNvPr id="8" name="Shape 6"/>
          <p:cNvSpPr/>
          <p:nvPr/>
        </p:nvSpPr>
        <p:spPr>
          <a:xfrm>
            <a:off x="6251575" y="2409825"/>
            <a:ext cx="5124450" cy="2209800"/>
          </a:xfrm>
          <a:prstGeom prst="roundRect">
            <a:avLst>
              <a:gd name="adj" fmla="val 4454"/>
            </a:avLst>
          </a:prstGeom>
          <a:solidFill>
            <a:srgbClr val="FFFFFF"/>
          </a:solidFill>
          <a:ln w="6350">
            <a:solidFill>
              <a:srgbClr val="C9D2DC"/>
            </a:solidFill>
            <a:prstDash val="solid"/>
          </a:ln>
        </p:spPr>
      </p:sp>
      <p:sp>
        <p:nvSpPr>
          <p:cNvPr id="9" name="Text 7"/>
          <p:cNvSpPr/>
          <p:nvPr/>
        </p:nvSpPr>
        <p:spPr>
          <a:xfrm>
            <a:off x="6508750" y="2667000"/>
            <a:ext cx="4748403"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Arial" pitchFamily="34" charset="0"/>
                <a:ea typeface="Arial" pitchFamily="34" charset="-122"/>
                <a:cs typeface="Arial" pitchFamily="34" charset="-120"/>
              </a:rPr>
              <a:t>Référence : liste de paires</a:t>
            </a:r>
            <a:endParaRPr lang="en-US" sz="1400" dirty="0"/>
          </a:p>
        </p:txBody>
      </p:sp>
      <p:sp>
        <p:nvSpPr>
          <p:cNvPr id="10" name="Text 8"/>
          <p:cNvSpPr/>
          <p:nvPr/>
        </p:nvSpPr>
        <p:spPr>
          <a:xfrm>
            <a:off x="6508750" y="2965450"/>
            <a:ext cx="4748403" cy="863600"/>
          </a:xfrm>
          <a:prstGeom prst="rect">
            <a:avLst/>
          </a:prstGeom>
          <a:noFill/>
          <a:ln/>
        </p:spPr>
        <p:txBody>
          <a:bodyPr wrap="square" lIns="0" tIns="0" rIns="0" bIns="0" rtlCol="0" anchor="t">
            <a:normAutofit/>
          </a:bodyPr>
          <a:lstStyle/>
          <a:p>
            <a:pPr marL="0" indent="0" algn="l">
              <a:lnSpc>
                <a:spcPts val="6600"/>
              </a:lnSpc>
              <a:buNone/>
            </a:pPr>
            <a:r>
              <a:rPr lang="en-US" sz="6000" b="1" dirty="0">
                <a:solidFill>
                  <a:srgbClr val="7A8594"/>
                </a:solidFill>
                <a:latin typeface="Georgia" pitchFamily="18" charset="0"/>
                <a:ea typeface="Georgia" pitchFamily="18" charset="-122"/>
                <a:cs typeface="Georgia" pitchFamily="18" charset="-120"/>
              </a:rPr>
              <a:t>F1 0,56</a:t>
            </a:r>
            <a:endParaRPr lang="en-US" sz="6000" dirty="0"/>
          </a:p>
        </p:txBody>
      </p:sp>
      <p:sp>
        <p:nvSpPr>
          <p:cNvPr id="11" name="Text 9"/>
          <p:cNvSpPr/>
          <p:nvPr/>
        </p:nvSpPr>
        <p:spPr>
          <a:xfrm>
            <a:off x="6508750" y="3854450"/>
            <a:ext cx="4748403"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précision 1,00 · rappel 0,39</a:t>
            </a:r>
            <a:endParaRPr lang="en-US" sz="1400" dirty="0"/>
          </a:p>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0,53 alerte par ordonnance</a:t>
            </a:r>
            <a:endParaRPr lang="en-US" sz="1400" dirty="0"/>
          </a:p>
        </p:txBody>
      </p:sp>
      <p:sp>
        <p:nvSpPr>
          <p:cNvPr id="12" name="Text 10"/>
          <p:cNvSpPr/>
          <p:nvPr/>
        </p:nvSpPr>
        <p:spPr>
          <a:xfrm>
            <a:off x="812800" y="497840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B2A3A"/>
                </a:solidFill>
                <a:latin typeface="Arial" pitchFamily="34" charset="0"/>
                <a:ea typeface="Arial" pitchFamily="34" charset="-122"/>
                <a:cs typeface="Arial" pitchFamily="34" charset="-120"/>
              </a:rPr>
              <a:t>La référence ne se trompe jamais, mais elle rate 6 interactions sur 10 : elle ne généralise pas aux classes.</a:t>
            </a:r>
            <a:endParaRPr lang="en-US" sz="1500" dirty="0"/>
          </a:p>
        </p:txBody>
      </p:sp>
      <p:sp>
        <p:nvSpPr>
          <p:cNvPr id="13" name="Text 11"/>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40 ordonnances · 54 paires attendues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ABLATION</a:t>
            </a:r>
            <a:endParaRPr lang="en-US" sz="1200" dirty="0"/>
          </a:p>
        </p:txBody>
      </p:sp>
      <p:sp>
        <p:nvSpPr>
          <p:cNvPr id="3" name="Text 1"/>
          <p:cNvSpPr>
            <a:spLocks noGrp="1"/>
          </p:cNvSpPr>
          <p:nvPr>
            <p:ph type="title"/>
          </p:nvPr>
        </p:nvSpPr>
        <p:spPr>
          <a:xfrm>
            <a:off x="812800" y="11239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Chaque brique retirée fait baisser le F1</a:t>
            </a:r>
            <a:endParaRPr lang="en-US" sz="3200" dirty="0"/>
          </a:p>
        </p:txBody>
      </p:sp>
      <p:sp>
        <p:nvSpPr>
          <p:cNvPr id="4" name="Text 2"/>
          <p:cNvSpPr/>
          <p:nvPr/>
        </p:nvSpPr>
        <p:spPr>
          <a:xfrm>
            <a:off x="812800" y="1844675"/>
            <a:ext cx="3924300"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B2A3A"/>
                </a:solidFill>
                <a:latin typeface="Arial" pitchFamily="34" charset="0"/>
                <a:ea typeface="Arial" pitchFamily="34" charset="-122"/>
                <a:cs typeface="Arial" pitchFamily="34" charset="-120"/>
              </a:rPr>
              <a:t>Hybride complet</a:t>
            </a:r>
            <a:endParaRPr lang="en-US" sz="1400" dirty="0"/>
          </a:p>
        </p:txBody>
      </p:sp>
      <p:sp>
        <p:nvSpPr>
          <p:cNvPr id="5" name="Shape 3"/>
          <p:cNvSpPr/>
          <p:nvPr/>
        </p:nvSpPr>
        <p:spPr>
          <a:xfrm>
            <a:off x="4775200" y="1841500"/>
            <a:ext cx="5257800" cy="254000"/>
          </a:xfrm>
          <a:prstGeom prst="roundRect">
            <a:avLst>
              <a:gd name="adj" fmla="val 15000"/>
            </a:avLst>
          </a:prstGeom>
          <a:solidFill>
            <a:srgbClr val="2A6FB0"/>
          </a:solidFill>
          <a:ln/>
        </p:spPr>
      </p:sp>
      <p:sp>
        <p:nvSpPr>
          <p:cNvPr id="6" name="Text 4"/>
          <p:cNvSpPr/>
          <p:nvPr/>
        </p:nvSpPr>
        <p:spPr>
          <a:xfrm>
            <a:off x="10185400" y="1844675"/>
            <a:ext cx="415290"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B2A3A"/>
                </a:solidFill>
                <a:latin typeface="Arial" pitchFamily="34" charset="0"/>
                <a:ea typeface="Arial" pitchFamily="34" charset="-122"/>
                <a:cs typeface="Arial" pitchFamily="34" charset="-120"/>
              </a:rPr>
              <a:t>0,92</a:t>
            </a:r>
            <a:endParaRPr lang="en-US" sz="1400" dirty="0"/>
          </a:p>
        </p:txBody>
      </p:sp>
      <p:sp>
        <p:nvSpPr>
          <p:cNvPr id="7" name="Text 5"/>
          <p:cNvSpPr/>
          <p:nvPr/>
        </p:nvSpPr>
        <p:spPr>
          <a:xfrm>
            <a:off x="812800" y="2212975"/>
            <a:ext cx="392430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Sans filtre « marge étroite »</a:t>
            </a:r>
            <a:endParaRPr lang="en-US" sz="1400" dirty="0"/>
          </a:p>
        </p:txBody>
      </p:sp>
      <p:sp>
        <p:nvSpPr>
          <p:cNvPr id="8" name="Shape 6"/>
          <p:cNvSpPr/>
          <p:nvPr/>
        </p:nvSpPr>
        <p:spPr>
          <a:xfrm>
            <a:off x="4775200" y="2209800"/>
            <a:ext cx="4629150" cy="254000"/>
          </a:xfrm>
          <a:prstGeom prst="roundRect">
            <a:avLst>
              <a:gd name="adj" fmla="val 15000"/>
            </a:avLst>
          </a:prstGeom>
          <a:solidFill>
            <a:srgbClr val="B7C3CF"/>
          </a:solidFill>
          <a:ln/>
        </p:spPr>
      </p:sp>
      <p:sp>
        <p:nvSpPr>
          <p:cNvPr id="9" name="Text 7"/>
          <p:cNvSpPr/>
          <p:nvPr/>
        </p:nvSpPr>
        <p:spPr>
          <a:xfrm>
            <a:off x="9556750" y="2212975"/>
            <a:ext cx="41529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0,81</a:t>
            </a:r>
            <a:endParaRPr lang="en-US" sz="1400" dirty="0"/>
          </a:p>
        </p:txBody>
      </p:sp>
      <p:sp>
        <p:nvSpPr>
          <p:cNvPr id="10" name="Text 8"/>
          <p:cNvSpPr/>
          <p:nvPr/>
        </p:nvSpPr>
        <p:spPr>
          <a:xfrm>
            <a:off x="812800" y="2581275"/>
            <a:ext cx="392430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Sans règles d'Aziz (R19-R24)</a:t>
            </a:r>
            <a:endParaRPr lang="en-US" sz="1400" dirty="0"/>
          </a:p>
        </p:txBody>
      </p:sp>
      <p:sp>
        <p:nvSpPr>
          <p:cNvPr id="11" name="Shape 9"/>
          <p:cNvSpPr/>
          <p:nvPr/>
        </p:nvSpPr>
        <p:spPr>
          <a:xfrm>
            <a:off x="4775200" y="2578100"/>
            <a:ext cx="4572000" cy="254000"/>
          </a:xfrm>
          <a:prstGeom prst="roundRect">
            <a:avLst>
              <a:gd name="adj" fmla="val 15000"/>
            </a:avLst>
          </a:prstGeom>
          <a:solidFill>
            <a:srgbClr val="B7C3CF"/>
          </a:solidFill>
          <a:ln/>
        </p:spPr>
      </p:sp>
      <p:sp>
        <p:nvSpPr>
          <p:cNvPr id="12" name="Text 10"/>
          <p:cNvSpPr/>
          <p:nvPr/>
        </p:nvSpPr>
        <p:spPr>
          <a:xfrm>
            <a:off x="9499600" y="2581275"/>
            <a:ext cx="41529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0,80</a:t>
            </a:r>
            <a:endParaRPr lang="en-US" sz="1400" dirty="0"/>
          </a:p>
        </p:txBody>
      </p:sp>
      <p:sp>
        <p:nvSpPr>
          <p:cNvPr id="13" name="Text 11"/>
          <p:cNvSpPr/>
          <p:nvPr/>
        </p:nvSpPr>
        <p:spPr>
          <a:xfrm>
            <a:off x="812800" y="2949575"/>
            <a:ext cx="392430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Sans table ATC</a:t>
            </a:r>
            <a:endParaRPr lang="en-US" sz="1400" dirty="0"/>
          </a:p>
        </p:txBody>
      </p:sp>
      <p:sp>
        <p:nvSpPr>
          <p:cNvPr id="14" name="Shape 12"/>
          <p:cNvSpPr/>
          <p:nvPr/>
        </p:nvSpPr>
        <p:spPr>
          <a:xfrm>
            <a:off x="4775200" y="2946400"/>
            <a:ext cx="4057650" cy="254000"/>
          </a:xfrm>
          <a:prstGeom prst="roundRect">
            <a:avLst>
              <a:gd name="adj" fmla="val 15000"/>
            </a:avLst>
          </a:prstGeom>
          <a:solidFill>
            <a:srgbClr val="B7C3CF"/>
          </a:solidFill>
          <a:ln/>
        </p:spPr>
      </p:sp>
      <p:sp>
        <p:nvSpPr>
          <p:cNvPr id="15" name="Text 13"/>
          <p:cNvSpPr/>
          <p:nvPr/>
        </p:nvSpPr>
        <p:spPr>
          <a:xfrm>
            <a:off x="8985250" y="2949575"/>
            <a:ext cx="41529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0,71</a:t>
            </a:r>
            <a:endParaRPr lang="en-US" sz="1400" dirty="0"/>
          </a:p>
        </p:txBody>
      </p:sp>
      <p:sp>
        <p:nvSpPr>
          <p:cNvPr id="16" name="Text 14"/>
          <p:cNvSpPr/>
          <p:nvPr/>
        </p:nvSpPr>
        <p:spPr>
          <a:xfrm>
            <a:off x="812800" y="3317875"/>
            <a:ext cx="392430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Sans filtre anti-fatigue</a:t>
            </a:r>
            <a:endParaRPr lang="en-US" sz="1400" dirty="0"/>
          </a:p>
        </p:txBody>
      </p:sp>
      <p:sp>
        <p:nvSpPr>
          <p:cNvPr id="17" name="Shape 15"/>
          <p:cNvSpPr/>
          <p:nvPr/>
        </p:nvSpPr>
        <p:spPr>
          <a:xfrm>
            <a:off x="4775200" y="3314700"/>
            <a:ext cx="3314700" cy="254000"/>
          </a:xfrm>
          <a:prstGeom prst="roundRect">
            <a:avLst>
              <a:gd name="adj" fmla="val 15000"/>
            </a:avLst>
          </a:prstGeom>
          <a:solidFill>
            <a:srgbClr val="B7C3CF"/>
          </a:solidFill>
          <a:ln/>
        </p:spPr>
      </p:sp>
      <p:sp>
        <p:nvSpPr>
          <p:cNvPr id="18" name="Text 16"/>
          <p:cNvSpPr/>
          <p:nvPr/>
        </p:nvSpPr>
        <p:spPr>
          <a:xfrm>
            <a:off x="8242300" y="3317875"/>
            <a:ext cx="41529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0,58</a:t>
            </a:r>
            <a:endParaRPr lang="en-US" sz="1400" dirty="0"/>
          </a:p>
        </p:txBody>
      </p:sp>
      <p:sp>
        <p:nvSpPr>
          <p:cNvPr id="19" name="Text 17"/>
          <p:cNvSpPr/>
          <p:nvPr/>
        </p:nvSpPr>
        <p:spPr>
          <a:xfrm>
            <a:off x="812800" y="3686175"/>
            <a:ext cx="392430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Graphe seul (G1-G3)</a:t>
            </a:r>
            <a:endParaRPr lang="en-US" sz="1400" dirty="0"/>
          </a:p>
        </p:txBody>
      </p:sp>
      <p:sp>
        <p:nvSpPr>
          <p:cNvPr id="20" name="Shape 18"/>
          <p:cNvSpPr/>
          <p:nvPr/>
        </p:nvSpPr>
        <p:spPr>
          <a:xfrm>
            <a:off x="4775200" y="3683000"/>
            <a:ext cx="1771650" cy="254000"/>
          </a:xfrm>
          <a:prstGeom prst="roundRect">
            <a:avLst>
              <a:gd name="adj" fmla="val 15000"/>
            </a:avLst>
          </a:prstGeom>
          <a:solidFill>
            <a:srgbClr val="B7C3CF"/>
          </a:solidFill>
          <a:ln/>
        </p:spPr>
      </p:sp>
      <p:sp>
        <p:nvSpPr>
          <p:cNvPr id="21" name="Text 19"/>
          <p:cNvSpPr/>
          <p:nvPr/>
        </p:nvSpPr>
        <p:spPr>
          <a:xfrm>
            <a:off x="6699250" y="3686175"/>
            <a:ext cx="41529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A3A"/>
                </a:solidFill>
                <a:latin typeface="Arial" pitchFamily="34" charset="0"/>
                <a:ea typeface="Arial" pitchFamily="34" charset="-122"/>
                <a:cs typeface="Arial" pitchFamily="34" charset="-120"/>
              </a:rPr>
              <a:t>0,31</a:t>
            </a:r>
            <a:endParaRPr lang="en-US" sz="1400" dirty="0"/>
          </a:p>
        </p:txBody>
      </p:sp>
      <p:sp>
        <p:nvSpPr>
          <p:cNvPr id="22" name="Shape 20"/>
          <p:cNvSpPr/>
          <p:nvPr/>
        </p:nvSpPr>
        <p:spPr>
          <a:xfrm>
            <a:off x="812800" y="4057650"/>
            <a:ext cx="10566400" cy="0"/>
          </a:xfrm>
          <a:prstGeom prst="line">
            <a:avLst/>
          </a:prstGeom>
          <a:noFill/>
          <a:ln w="12700">
            <a:solidFill>
              <a:srgbClr val="C9D2DC"/>
            </a:solidFill>
            <a:prstDash val="dash"/>
          </a:ln>
        </p:spPr>
      </p:sp>
      <p:sp>
        <p:nvSpPr>
          <p:cNvPr id="23" name="Text 21"/>
          <p:cNvSpPr/>
          <p:nvPr/>
        </p:nvSpPr>
        <p:spPr>
          <a:xfrm>
            <a:off x="812800" y="4181475"/>
            <a:ext cx="3924300"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D9822B"/>
                </a:solidFill>
                <a:latin typeface="Arial" pitchFamily="34" charset="0"/>
                <a:ea typeface="Arial" pitchFamily="34" charset="-122"/>
                <a:cs typeface="Arial" pitchFamily="34" charset="-120"/>
              </a:rPr>
              <a:t>Référence : liste de paires</a:t>
            </a:r>
            <a:endParaRPr lang="en-US" sz="1400" dirty="0"/>
          </a:p>
        </p:txBody>
      </p:sp>
      <p:sp>
        <p:nvSpPr>
          <p:cNvPr id="24" name="Shape 22"/>
          <p:cNvSpPr/>
          <p:nvPr/>
        </p:nvSpPr>
        <p:spPr>
          <a:xfrm>
            <a:off x="4775200" y="4178300"/>
            <a:ext cx="3200400" cy="254000"/>
          </a:xfrm>
          <a:prstGeom prst="roundRect">
            <a:avLst>
              <a:gd name="adj" fmla="val 15000"/>
            </a:avLst>
          </a:prstGeom>
          <a:solidFill>
            <a:srgbClr val="F2C9A0"/>
          </a:solidFill>
          <a:ln/>
        </p:spPr>
      </p:sp>
      <p:sp>
        <p:nvSpPr>
          <p:cNvPr id="25" name="Text 23"/>
          <p:cNvSpPr/>
          <p:nvPr/>
        </p:nvSpPr>
        <p:spPr>
          <a:xfrm>
            <a:off x="8128000" y="4181475"/>
            <a:ext cx="415290"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D9822B"/>
                </a:solidFill>
                <a:latin typeface="Arial" pitchFamily="34" charset="0"/>
                <a:ea typeface="Arial" pitchFamily="34" charset="-122"/>
                <a:cs typeface="Arial" pitchFamily="34" charset="-120"/>
              </a:rPr>
              <a:t>0,56</a:t>
            </a:r>
            <a:endParaRPr lang="en-US" sz="1400" dirty="0"/>
          </a:p>
        </p:txBody>
      </p:sp>
      <p:sp>
        <p:nvSpPr>
          <p:cNvPr id="26" name="Text 24"/>
          <p:cNvSpPr/>
          <p:nvPr/>
        </p:nvSpPr>
        <p:spPr>
          <a:xfrm>
            <a:off x="812800" y="46863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Sans filtre anti-fatigue : rappel 0,94, mais 70 fausses alertes pour 40 ordonnances.</a:t>
            </a:r>
            <a:endParaRPr lang="en-US" sz="1400" dirty="0"/>
          </a:p>
        </p:txBody>
      </p:sp>
      <p:sp>
        <p:nvSpPr>
          <p:cNvPr id="27" name="Text 25"/>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F1 sur le jeu fusionné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4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ÉVALUATION CROISÉE, AVANT LA FUSION</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Chaque version était meilleure sur son propre jeu de test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xmlns="" val="1579011935"/>
              </p:ext>
            </p:extLst>
          </p:nvPr>
        </p:nvGraphicFramePr>
        <p:xfrm>
          <a:off x="825500" y="2368550"/>
          <a:ext cx="7607300" cy="1317723"/>
        </p:xfrm>
        <a:graphic>
          <a:graphicData uri="http://schemas.openxmlformats.org/drawingml/2006/table">
            <a:tbl>
              <a:tblPr/>
              <a:tblGrid>
                <a:gridCol w="3042920">
                  <a:extLst>
                    <a:ext uri="{9D8B030D-6E8A-4147-A177-3AD203B41FA5}">
                      <a16:colId xmlns:a16="http://schemas.microsoft.com/office/drawing/2014/main" xmlns="" val="20000"/>
                    </a:ext>
                  </a:extLst>
                </a:gridCol>
                <a:gridCol w="2282190">
                  <a:extLst>
                    <a:ext uri="{9D8B030D-6E8A-4147-A177-3AD203B41FA5}">
                      <a16:colId xmlns:a16="http://schemas.microsoft.com/office/drawing/2014/main" xmlns="" val="20001"/>
                    </a:ext>
                  </a:extLst>
                </a:gridCol>
                <a:gridCol w="2282190">
                  <a:extLst>
                    <a:ext uri="{9D8B030D-6E8A-4147-A177-3AD203B41FA5}">
                      <a16:colId xmlns:a16="http://schemas.microsoft.com/office/drawing/2014/main" xmlns="" val="20002"/>
                    </a:ext>
                  </a:extLst>
                </a:gridCol>
              </a:tblGrid>
              <a:tr h="439241">
                <a:tc>
                  <a:txBody>
                    <a:bodyPr/>
                    <a:lstStyle/>
                    <a:p>
                      <a:pPr marL="0" indent="0">
                        <a:lnSpc>
                          <a:spcPts val="2240"/>
                        </a:lnSpc>
                        <a:buNone/>
                      </a:pPr>
                      <a:r>
                        <a:rPr lang="en-US" sz="1600" b="1" dirty="0">
                          <a:solidFill>
                            <a:srgbClr val="1B2A3A"/>
                          </a:solidFill>
                          <a:latin typeface="Arial" pitchFamily="34" charset="0"/>
                          <a:ea typeface="Arial" pitchFamily="34" charset="-122"/>
                          <a:cs typeface="Arial" pitchFamily="34" charset="-120"/>
                        </a:rPr>
                        <a:t>F1 de la version…</a:t>
                      </a:r>
                      <a:endParaRPr lang="en-US" sz="1600" dirty="0">
                        <a:latin typeface="Arial" charset="0"/>
                        <a:ea typeface="Arial" charset="0"/>
                        <a:cs typeface="Arial" charset="0"/>
                      </a:endParaRPr>
                    </a:p>
                  </a:txBody>
                  <a:tcPr marL="71120" marR="71120" marT="71120" marB="71120">
                    <a:lnL w="12700" cap="flat" cmpd="sng" algn="ctr">
                      <a:solidFill>
                        <a:srgbClr val="C0C3C5"/>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3C5"/>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gn="ctr">
                        <a:lnSpc>
                          <a:spcPts val="2240"/>
                        </a:lnSpc>
                        <a:buNone/>
                      </a:pPr>
                      <a:r>
                        <a:rPr lang="en-US" sz="1600" b="1" dirty="0">
                          <a:solidFill>
                            <a:srgbClr val="1B2A3A"/>
                          </a:solidFill>
                          <a:latin typeface="Arial" pitchFamily="34" charset="0"/>
                          <a:ea typeface="Arial" pitchFamily="34" charset="-122"/>
                          <a:cs typeface="Arial" pitchFamily="34" charset="-120"/>
                        </a:rPr>
                        <a:t>sur le jeu d'Imane</a:t>
                      </a:r>
                      <a:endParaRPr lang="en-US" sz="1600" dirty="0">
                        <a:latin typeface="Arial" charset="0"/>
                        <a:ea typeface="Arial" charset="0"/>
                        <a:cs typeface="Arial" charset="0"/>
                      </a:endParaRPr>
                    </a:p>
                  </a:txBody>
                  <a:tcPr marL="71120" marR="71120" marT="71120" marB="7112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3C5"/>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gn="ctr">
                        <a:lnSpc>
                          <a:spcPts val="2240"/>
                        </a:lnSpc>
                        <a:buNone/>
                      </a:pPr>
                      <a:r>
                        <a:rPr lang="en-US" sz="1600" b="1" dirty="0">
                          <a:solidFill>
                            <a:srgbClr val="1B2A3A"/>
                          </a:solidFill>
                          <a:latin typeface="Arial" pitchFamily="34" charset="0"/>
                          <a:ea typeface="Arial" pitchFamily="34" charset="-122"/>
                          <a:cs typeface="Arial" pitchFamily="34" charset="-120"/>
                        </a:rPr>
                        <a:t>sur le jeu d'Aziz</a:t>
                      </a:r>
                      <a:endParaRPr lang="en-US" sz="1600" dirty="0">
                        <a:latin typeface="Arial" charset="0"/>
                        <a:ea typeface="Arial" charset="0"/>
                        <a:cs typeface="Arial" charset="0"/>
                      </a:endParaRPr>
                    </a:p>
                  </a:txBody>
                  <a:tcPr marL="71120" marR="71120" marT="71120" marB="7112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3C5"/>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xmlns="" val="10000"/>
                  </a:ext>
                </a:extLst>
              </a:tr>
              <a:tr h="439241">
                <a:tc>
                  <a:txBody>
                    <a:bodyPr/>
                    <a:lstStyle/>
                    <a:p>
                      <a:pPr marL="0" indent="0">
                        <a:lnSpc>
                          <a:spcPts val="2240"/>
                        </a:lnSpc>
                        <a:buNone/>
                      </a:pPr>
                      <a:r>
                        <a:rPr lang="en-US" sz="1600" dirty="0">
                          <a:solidFill>
                            <a:srgbClr val="1B2A3A"/>
                          </a:solidFill>
                          <a:latin typeface="Arial" pitchFamily="34" charset="0"/>
                          <a:ea typeface="Arial" pitchFamily="34" charset="-122"/>
                          <a:cs typeface="Arial" pitchFamily="34" charset="-120"/>
                        </a:rPr>
                        <a:t>d'Imane</a:t>
                      </a:r>
                      <a:endParaRPr lang="en-US" sz="1600" dirty="0">
                        <a:latin typeface="Arial" charset="0"/>
                        <a:ea typeface="Arial" charset="0"/>
                        <a:cs typeface="Arial" charset="0"/>
                      </a:endParaRPr>
                    </a:p>
                  </a:txBody>
                  <a:tcPr marL="71120" marR="71120" marT="71120" marB="71120">
                    <a:lnL w="12700" cap="flat" cmpd="sng" algn="ctr">
                      <a:solidFill>
                        <a:srgbClr val="C0C3C5"/>
                      </a:solidFill>
                      <a:prstDash val="solid"/>
                      <a:round/>
                      <a:headEnd type="none" w="med" len="med"/>
                      <a:tailEnd type="none" w="med" len="med"/>
                    </a:lnL>
                    <a:lnR w="12700" cap="flat" cmpd="sng" algn="ctr">
                      <a:solidFill>
                        <a:srgbClr val="C0C3C5"/>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3C5"/>
                      </a:solidFill>
                      <a:prstDash val="solid"/>
                      <a:round/>
                      <a:headEnd type="none" w="med" len="med"/>
                      <a:tailEnd type="none" w="med" len="med"/>
                    </a:lnB>
                  </a:tcPr>
                </a:tc>
                <a:tc>
                  <a:txBody>
                    <a:bodyPr/>
                    <a:lstStyle/>
                    <a:p>
                      <a:pPr marL="0" indent="0" algn="ctr">
                        <a:lnSpc>
                          <a:spcPts val="2240"/>
                        </a:lnSpc>
                        <a:buNone/>
                      </a:pPr>
                      <a:r>
                        <a:rPr lang="en-US" sz="1600" dirty="0">
                          <a:solidFill>
                            <a:srgbClr val="1B2A3A"/>
                          </a:solidFill>
                          <a:latin typeface="Arial" pitchFamily="34" charset="0"/>
                          <a:ea typeface="Arial" pitchFamily="34" charset="-122"/>
                          <a:cs typeface="Arial" pitchFamily="34" charset="-120"/>
                        </a:rPr>
                        <a:t>0,83</a:t>
                      </a:r>
                      <a:endParaRPr lang="en-US" sz="1600" dirty="0">
                        <a:latin typeface="Arial" charset="0"/>
                        <a:ea typeface="Arial" charset="0"/>
                        <a:cs typeface="Arial" charset="0"/>
                      </a:endParaRPr>
                    </a:p>
                  </a:txBody>
                  <a:tcPr marL="71120" marR="71120" marT="71120" marB="71120">
                    <a:lnL w="12700" cap="flat" cmpd="sng" algn="ctr">
                      <a:solidFill>
                        <a:srgbClr val="C0C3C5"/>
                      </a:solidFill>
                      <a:prstDash val="solid"/>
                      <a:round/>
                      <a:headEnd type="none" w="med" len="med"/>
                      <a:tailEnd type="none" w="med" len="med"/>
                    </a:lnL>
                    <a:lnR w="12700" cap="flat" cmpd="sng" algn="ctr">
                      <a:solidFill>
                        <a:srgbClr val="C0C3C5"/>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3C5"/>
                      </a:solidFill>
                      <a:prstDash val="solid"/>
                      <a:round/>
                      <a:headEnd type="none" w="med" len="med"/>
                      <a:tailEnd type="none" w="med" len="med"/>
                    </a:lnB>
                  </a:tcPr>
                </a:tc>
                <a:tc>
                  <a:txBody>
                    <a:bodyPr/>
                    <a:lstStyle/>
                    <a:p>
                      <a:pPr marL="0" indent="0" algn="ctr">
                        <a:lnSpc>
                          <a:spcPts val="2240"/>
                        </a:lnSpc>
                        <a:buNone/>
                      </a:pPr>
                      <a:r>
                        <a:rPr lang="en-US" sz="1600" dirty="0">
                          <a:solidFill>
                            <a:srgbClr val="1B2A3A"/>
                          </a:solidFill>
                          <a:latin typeface="Arial" pitchFamily="34" charset="0"/>
                          <a:ea typeface="Arial" pitchFamily="34" charset="-122"/>
                          <a:cs typeface="Arial" pitchFamily="34" charset="-120"/>
                        </a:rPr>
                        <a:t>0,76</a:t>
                      </a:r>
                      <a:endParaRPr lang="en-US" sz="1600" dirty="0">
                        <a:latin typeface="Arial" charset="0"/>
                        <a:ea typeface="Arial" charset="0"/>
                        <a:cs typeface="Arial" charset="0"/>
                      </a:endParaRPr>
                    </a:p>
                  </a:txBody>
                  <a:tcPr marL="71120" marR="71120" marT="71120" marB="71120">
                    <a:lnL w="12700" cap="flat" cmpd="sng" algn="ctr">
                      <a:solidFill>
                        <a:srgbClr val="C0C3C5"/>
                      </a:solidFill>
                      <a:prstDash val="solid"/>
                      <a:round/>
                      <a:headEnd type="none" w="med" len="med"/>
                      <a:tailEnd type="none" w="med" len="med"/>
                    </a:lnL>
                    <a:lnR w="12700" cap="flat" cmpd="sng" algn="ctr">
                      <a:solidFill>
                        <a:srgbClr val="C0C3C5"/>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3C5"/>
                      </a:solidFill>
                      <a:prstDash val="solid"/>
                      <a:round/>
                      <a:headEnd type="none" w="med" len="med"/>
                      <a:tailEnd type="none" w="med" len="med"/>
                    </a:lnB>
                  </a:tcPr>
                </a:tc>
                <a:extLst>
                  <a:ext uri="{0D108BD9-81ED-4DB2-BD59-A6C34878D82A}">
                    <a16:rowId xmlns:a16="http://schemas.microsoft.com/office/drawing/2014/main" xmlns="" val="10001"/>
                  </a:ext>
                </a:extLst>
              </a:tr>
              <a:tr h="439241">
                <a:tc>
                  <a:txBody>
                    <a:bodyPr/>
                    <a:lstStyle/>
                    <a:p>
                      <a:pPr marL="0" indent="0">
                        <a:lnSpc>
                          <a:spcPts val="2240"/>
                        </a:lnSpc>
                        <a:buNone/>
                      </a:pPr>
                      <a:r>
                        <a:rPr lang="en-US" sz="1600" dirty="0">
                          <a:solidFill>
                            <a:srgbClr val="1B2A3A"/>
                          </a:solidFill>
                          <a:latin typeface="Arial" pitchFamily="34" charset="0"/>
                          <a:ea typeface="Arial" pitchFamily="34" charset="-122"/>
                          <a:cs typeface="Arial" pitchFamily="34" charset="-120"/>
                        </a:rPr>
                        <a:t>d'Aziz</a:t>
                      </a:r>
                      <a:endParaRPr lang="en-US" sz="1600" dirty="0">
                        <a:latin typeface="Arial" charset="0"/>
                        <a:ea typeface="Arial" charset="0"/>
                        <a:cs typeface="Arial" charset="0"/>
                      </a:endParaRPr>
                    </a:p>
                  </a:txBody>
                  <a:tcPr marL="71120" marR="71120" marT="71120" marB="71120">
                    <a:lnL w="12700" cap="flat" cmpd="sng" algn="ctr">
                      <a:solidFill>
                        <a:srgbClr val="C0C3C5"/>
                      </a:solidFill>
                      <a:prstDash val="solid"/>
                      <a:round/>
                      <a:headEnd type="none" w="med" len="med"/>
                      <a:tailEnd type="none" w="med" len="med"/>
                    </a:lnL>
                    <a:lnR w="12700" cap="flat" cmpd="sng" algn="ctr">
                      <a:solidFill>
                        <a:srgbClr val="C0C3C5"/>
                      </a:solidFill>
                      <a:prstDash val="solid"/>
                      <a:round/>
                      <a:headEnd type="none" w="med" len="med"/>
                      <a:tailEnd type="none" w="med" len="med"/>
                    </a:lnR>
                    <a:lnT w="12700" cap="flat" cmpd="sng" algn="ctr">
                      <a:solidFill>
                        <a:srgbClr val="C0C3C5"/>
                      </a:solidFill>
                      <a:prstDash val="solid"/>
                      <a:round/>
                      <a:headEnd type="none" w="med" len="med"/>
                      <a:tailEnd type="none" w="med" len="med"/>
                    </a:lnT>
                    <a:lnB w="12700" cap="flat" cmpd="sng" algn="ctr">
                      <a:solidFill>
                        <a:srgbClr val="C0C3C5"/>
                      </a:solidFill>
                      <a:prstDash val="solid"/>
                      <a:round/>
                      <a:headEnd type="none" w="med" len="med"/>
                      <a:tailEnd type="none" w="med" len="med"/>
                    </a:lnB>
                  </a:tcPr>
                </a:tc>
                <a:tc>
                  <a:txBody>
                    <a:bodyPr/>
                    <a:lstStyle/>
                    <a:p>
                      <a:pPr marL="0" indent="0" algn="ctr">
                        <a:lnSpc>
                          <a:spcPts val="2240"/>
                        </a:lnSpc>
                        <a:buNone/>
                      </a:pPr>
                      <a:r>
                        <a:rPr lang="en-US" sz="1600" dirty="0">
                          <a:solidFill>
                            <a:srgbClr val="1B2A3A"/>
                          </a:solidFill>
                          <a:latin typeface="Arial" pitchFamily="34" charset="0"/>
                          <a:ea typeface="Arial" pitchFamily="34" charset="-122"/>
                          <a:cs typeface="Arial" pitchFamily="34" charset="-120"/>
                        </a:rPr>
                        <a:t>0,38</a:t>
                      </a:r>
                      <a:endParaRPr lang="en-US" sz="1600" dirty="0">
                        <a:latin typeface="Arial" charset="0"/>
                        <a:ea typeface="Arial" charset="0"/>
                        <a:cs typeface="Arial" charset="0"/>
                      </a:endParaRPr>
                    </a:p>
                  </a:txBody>
                  <a:tcPr marL="71120" marR="71120" marT="71120" marB="71120">
                    <a:lnL w="12700" cap="flat" cmpd="sng" algn="ctr">
                      <a:solidFill>
                        <a:srgbClr val="C0C3C5"/>
                      </a:solidFill>
                      <a:prstDash val="solid"/>
                      <a:round/>
                      <a:headEnd type="none" w="med" len="med"/>
                      <a:tailEnd type="none" w="med" len="med"/>
                    </a:lnL>
                    <a:lnR w="12700" cap="flat" cmpd="sng" algn="ctr">
                      <a:solidFill>
                        <a:srgbClr val="C0C3C5"/>
                      </a:solidFill>
                      <a:prstDash val="solid"/>
                      <a:round/>
                      <a:headEnd type="none" w="med" len="med"/>
                      <a:tailEnd type="none" w="med" len="med"/>
                    </a:lnR>
                    <a:lnT w="12700" cap="flat" cmpd="sng" algn="ctr">
                      <a:solidFill>
                        <a:srgbClr val="C0C3C5"/>
                      </a:solidFill>
                      <a:prstDash val="solid"/>
                      <a:round/>
                      <a:headEnd type="none" w="med" len="med"/>
                      <a:tailEnd type="none" w="med" len="med"/>
                    </a:lnT>
                    <a:lnB w="12700" cap="flat" cmpd="sng" algn="ctr">
                      <a:solidFill>
                        <a:srgbClr val="C0C3C5"/>
                      </a:solidFill>
                      <a:prstDash val="solid"/>
                      <a:round/>
                      <a:headEnd type="none" w="med" len="med"/>
                      <a:tailEnd type="none" w="med" len="med"/>
                    </a:lnB>
                  </a:tcPr>
                </a:tc>
                <a:tc>
                  <a:txBody>
                    <a:bodyPr/>
                    <a:lstStyle/>
                    <a:p>
                      <a:pPr marL="0" indent="0" algn="ctr">
                        <a:lnSpc>
                          <a:spcPts val="2240"/>
                        </a:lnSpc>
                        <a:buNone/>
                      </a:pPr>
                      <a:r>
                        <a:rPr lang="en-US" sz="1600" dirty="0">
                          <a:solidFill>
                            <a:srgbClr val="1B2A3A"/>
                          </a:solidFill>
                          <a:latin typeface="Arial" pitchFamily="34" charset="0"/>
                          <a:ea typeface="Arial" pitchFamily="34" charset="-122"/>
                          <a:cs typeface="Arial" pitchFamily="34" charset="-120"/>
                        </a:rPr>
                        <a:t>0,94</a:t>
                      </a:r>
                      <a:endParaRPr lang="en-US" sz="1600" dirty="0">
                        <a:latin typeface="Arial" charset="0"/>
                        <a:ea typeface="Arial" charset="0"/>
                        <a:cs typeface="Arial" charset="0"/>
                      </a:endParaRPr>
                    </a:p>
                  </a:txBody>
                  <a:tcPr marL="71120" marR="71120" marT="71120" marB="71120">
                    <a:lnL w="12700" cap="flat" cmpd="sng" algn="ctr">
                      <a:solidFill>
                        <a:srgbClr val="C0C3C5"/>
                      </a:solidFill>
                      <a:prstDash val="solid"/>
                      <a:round/>
                      <a:headEnd type="none" w="med" len="med"/>
                      <a:tailEnd type="none" w="med" len="med"/>
                    </a:lnL>
                    <a:lnR w="12700" cap="flat" cmpd="sng" algn="ctr">
                      <a:solidFill>
                        <a:srgbClr val="C0C3C5"/>
                      </a:solidFill>
                      <a:prstDash val="solid"/>
                      <a:round/>
                      <a:headEnd type="none" w="med" len="med"/>
                      <a:tailEnd type="none" w="med" len="med"/>
                    </a:lnR>
                    <a:lnT w="12700" cap="flat" cmpd="sng" algn="ctr">
                      <a:solidFill>
                        <a:srgbClr val="C0C3C5"/>
                      </a:solidFill>
                      <a:prstDash val="solid"/>
                      <a:round/>
                      <a:headEnd type="none" w="med" len="med"/>
                      <a:tailEnd type="none" w="med" len="med"/>
                    </a:lnT>
                    <a:lnB w="12700" cap="flat" cmpd="sng" algn="ctr">
                      <a:solidFill>
                        <a:srgbClr val="C0C3C5"/>
                      </a:solidFill>
                      <a:prstDash val="solid"/>
                      <a:round/>
                      <a:headEnd type="none" w="med" len="med"/>
                      <a:tailEnd type="none" w="med" len="med"/>
                    </a:lnB>
                  </a:tcPr>
                </a:tc>
                <a:extLst>
                  <a:ext uri="{0D108BD9-81ED-4DB2-BD59-A6C34878D82A}">
                    <a16:rowId xmlns:a16="http://schemas.microsoft.com/office/drawing/2014/main" xmlns="" val="10002"/>
                  </a:ext>
                </a:extLst>
              </a:tr>
            </a:tbl>
          </a:graphicData>
        </a:graphic>
      </p:graphicFrame>
      <p:sp>
        <p:nvSpPr>
          <p:cNvPr id="5" name="Shape 2"/>
          <p:cNvSpPr/>
          <p:nvPr/>
        </p:nvSpPr>
        <p:spPr>
          <a:xfrm>
            <a:off x="815975" y="3994249"/>
            <a:ext cx="5175250" cy="1200150"/>
          </a:xfrm>
          <a:prstGeom prst="roundRect">
            <a:avLst>
              <a:gd name="adj" fmla="val 6085"/>
            </a:avLst>
          </a:prstGeom>
          <a:solidFill>
            <a:srgbClr val="FFFFFF"/>
          </a:solidFill>
          <a:ln w="6350">
            <a:solidFill>
              <a:srgbClr val="C9D2DC"/>
            </a:solidFill>
            <a:prstDash val="solid"/>
          </a:ln>
        </p:spPr>
      </p:sp>
      <p:sp>
        <p:nvSpPr>
          <p:cNvPr id="6" name="Text 3"/>
          <p:cNvSpPr/>
          <p:nvPr/>
        </p:nvSpPr>
        <p:spPr>
          <a:xfrm>
            <a:off x="1022350" y="4200624"/>
            <a:ext cx="490537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B2A3A"/>
                </a:solidFill>
                <a:latin typeface="Arial" pitchFamily="34" charset="0"/>
                <a:ea typeface="Arial" pitchFamily="34" charset="-122"/>
                <a:cs typeface="Arial" pitchFamily="34" charset="-120"/>
              </a:rPr>
              <a:t>Leçon</a:t>
            </a:r>
            <a:endParaRPr lang="en-US" sz="1600" dirty="0"/>
          </a:p>
        </p:txBody>
      </p:sp>
      <p:sp>
        <p:nvSpPr>
          <p:cNvPr id="7" name="Text 4"/>
          <p:cNvSpPr/>
          <p:nvPr/>
        </p:nvSpPr>
        <p:spPr>
          <a:xfrm>
            <a:off x="1022350" y="4492724"/>
            <a:ext cx="4905375"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un jeu de test écrit par l'auteur des règles surestime la performance</a:t>
            </a:r>
            <a:endParaRPr lang="en-US" sz="1400" dirty="0"/>
          </a:p>
        </p:txBody>
      </p:sp>
      <p:sp>
        <p:nvSpPr>
          <p:cNvPr id="8" name="Shape 5"/>
          <p:cNvSpPr/>
          <p:nvPr/>
        </p:nvSpPr>
        <p:spPr>
          <a:xfrm>
            <a:off x="6200775" y="3994249"/>
            <a:ext cx="5175250" cy="1200150"/>
          </a:xfrm>
          <a:prstGeom prst="roundRect">
            <a:avLst>
              <a:gd name="adj" fmla="val 6085"/>
            </a:avLst>
          </a:prstGeom>
          <a:solidFill>
            <a:srgbClr val="FFFFFF"/>
          </a:solidFill>
          <a:ln w="6350">
            <a:solidFill>
              <a:srgbClr val="C9D2DC"/>
            </a:solidFill>
            <a:prstDash val="solid"/>
          </a:ln>
        </p:spPr>
      </p:sp>
      <p:sp>
        <p:nvSpPr>
          <p:cNvPr id="9" name="Text 6"/>
          <p:cNvSpPr/>
          <p:nvPr/>
        </p:nvSpPr>
        <p:spPr>
          <a:xfrm>
            <a:off x="6407150" y="4200624"/>
            <a:ext cx="490537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B2A3A"/>
                </a:solidFill>
                <a:latin typeface="Arial" pitchFamily="34" charset="0"/>
                <a:ea typeface="Arial" pitchFamily="34" charset="-122"/>
                <a:cs typeface="Arial" pitchFamily="34" charset="-120"/>
              </a:rPr>
              <a:t>Fusion</a:t>
            </a:r>
            <a:endParaRPr lang="en-US" sz="1600" dirty="0"/>
          </a:p>
        </p:txBody>
      </p:sp>
      <p:sp>
        <p:nvSpPr>
          <p:cNvPr id="10" name="Text 7"/>
          <p:cNvSpPr/>
          <p:nvPr/>
        </p:nvSpPr>
        <p:spPr>
          <a:xfrm>
            <a:off x="6407150" y="4492724"/>
            <a:ext cx="4905375" cy="520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base d'Imane + règles et ordonnances d'Aziz ; F1 0,98 sur ses ordonnances, donc optimiste</a:t>
            </a:r>
            <a:endParaRPr lang="en-US" sz="1400" dirty="0"/>
          </a:p>
        </p:txBody>
      </p:sp>
      <p:sp>
        <p:nvSpPr>
          <p:cNvPr id="11" name="Text 8"/>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ANALYSE D'ERREURS</a:t>
            </a:r>
            <a:endParaRPr lang="en-US" sz="1200" dirty="0"/>
          </a:p>
        </p:txBody>
      </p:sp>
      <p:sp>
        <p:nvSpPr>
          <p:cNvPr id="3" name="Text 1"/>
          <p:cNvSpPr>
            <a:spLocks noGrp="1"/>
          </p:cNvSpPr>
          <p:nvPr>
            <p:ph type="title"/>
          </p:nvPr>
        </p:nvSpPr>
        <p:spPr>
          <a:xfrm>
            <a:off x="812800" y="11239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8 erreurs, chacune attribuée à sa brique</a:t>
            </a:r>
            <a:endParaRPr lang="en-US" sz="3200" dirty="0"/>
          </a:p>
        </p:txBody>
      </p:sp>
      <p:sp>
        <p:nvSpPr>
          <p:cNvPr id="4" name="Shape 2"/>
          <p:cNvSpPr/>
          <p:nvPr/>
        </p:nvSpPr>
        <p:spPr>
          <a:xfrm>
            <a:off x="815975" y="1895475"/>
            <a:ext cx="5175250" cy="1187450"/>
          </a:xfrm>
          <a:prstGeom prst="roundRect">
            <a:avLst>
              <a:gd name="adj" fmla="val 6150"/>
            </a:avLst>
          </a:prstGeom>
          <a:solidFill>
            <a:srgbClr val="FFFFFF"/>
          </a:solidFill>
          <a:ln w="6350">
            <a:solidFill>
              <a:srgbClr val="D8DEE6"/>
            </a:solidFill>
            <a:prstDash val="solid"/>
          </a:ln>
        </p:spPr>
      </p:sp>
      <p:sp>
        <p:nvSpPr>
          <p:cNvPr id="5" name="Text 3"/>
          <p:cNvSpPr/>
          <p:nvPr/>
        </p:nvSpPr>
        <p:spPr>
          <a:xfrm>
            <a:off x="1022350" y="2101850"/>
            <a:ext cx="490537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B2A3A"/>
                </a:solidFill>
                <a:latin typeface="Arial" pitchFamily="34" charset="0"/>
                <a:ea typeface="Arial" pitchFamily="34" charset="-122"/>
                <a:cs typeface="Arial" pitchFamily="34" charset="-120"/>
              </a:rPr>
              <a:t>Filtre anti-fatigue · 3 oublis</a:t>
            </a:r>
            <a:endParaRPr lang="en-US" sz="1600" dirty="0"/>
          </a:p>
        </p:txBody>
      </p:sp>
      <p:sp>
        <p:nvSpPr>
          <p:cNvPr id="6" name="Text 4"/>
          <p:cNvSpPr/>
          <p:nvPr/>
        </p:nvSpPr>
        <p:spPr>
          <a:xfrm>
            <a:off x="1022350" y="2406650"/>
            <a:ext cx="4905375" cy="49530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4A5568"/>
                </a:solidFill>
                <a:latin typeface="Arial" pitchFamily="34" charset="0"/>
                <a:ea typeface="Arial" pitchFamily="34" charset="-122"/>
                <a:cs typeface="Arial" pitchFamily="34" charset="-120"/>
              </a:rPr>
              <a:t>allopurinol + azathioprine : le graphe savait (cible commune XDH), mais le signal de niveau 1 est masqué</a:t>
            </a:r>
            <a:endParaRPr lang="en-US" sz="1300" dirty="0"/>
          </a:p>
        </p:txBody>
      </p:sp>
      <p:sp>
        <p:nvSpPr>
          <p:cNvPr id="7" name="Shape 5"/>
          <p:cNvSpPr/>
          <p:nvPr/>
        </p:nvSpPr>
        <p:spPr>
          <a:xfrm>
            <a:off x="6200775" y="1895475"/>
            <a:ext cx="5175250" cy="1187450"/>
          </a:xfrm>
          <a:prstGeom prst="roundRect">
            <a:avLst>
              <a:gd name="adj" fmla="val 6150"/>
            </a:avLst>
          </a:prstGeom>
          <a:solidFill>
            <a:srgbClr val="FFFFFF"/>
          </a:solidFill>
          <a:ln w="6350">
            <a:solidFill>
              <a:srgbClr val="D8DEE6"/>
            </a:solidFill>
            <a:prstDash val="solid"/>
          </a:ln>
        </p:spPr>
      </p:sp>
      <p:sp>
        <p:nvSpPr>
          <p:cNvPr id="8" name="Text 6"/>
          <p:cNvSpPr/>
          <p:nvPr/>
        </p:nvSpPr>
        <p:spPr>
          <a:xfrm>
            <a:off x="6407150" y="2101850"/>
            <a:ext cx="490537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B2A3A"/>
                </a:solidFill>
                <a:latin typeface="Arial" pitchFamily="34" charset="0"/>
                <a:ea typeface="Arial" pitchFamily="34" charset="-122"/>
                <a:cs typeface="Arial" pitchFamily="34" charset="-120"/>
              </a:rPr>
              <a:t>Règle manquante · 3 oublis</a:t>
            </a:r>
            <a:endParaRPr lang="en-US" sz="1600" dirty="0"/>
          </a:p>
        </p:txBody>
      </p:sp>
      <p:sp>
        <p:nvSpPr>
          <p:cNvPr id="9" name="Text 7"/>
          <p:cNvSpPr/>
          <p:nvPr/>
        </p:nvSpPr>
        <p:spPr>
          <a:xfrm>
            <a:off x="6407150" y="2406650"/>
            <a:ext cx="4905375" cy="49530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4A5568"/>
                </a:solidFill>
                <a:latin typeface="Arial" pitchFamily="34" charset="0"/>
                <a:ea typeface="Arial" pitchFamily="34" charset="-122"/>
                <a:cs typeface="Arial" pitchFamily="34" charset="-120"/>
              </a:rPr>
              <a:t>digoxine + furosémide (hypokaliémie), simvastatine + amlodipine : rien dans les règles ni le graphe</a:t>
            </a:r>
            <a:endParaRPr lang="en-US" sz="1300" dirty="0"/>
          </a:p>
        </p:txBody>
      </p:sp>
      <p:sp>
        <p:nvSpPr>
          <p:cNvPr id="10" name="Shape 8"/>
          <p:cNvSpPr/>
          <p:nvPr/>
        </p:nvSpPr>
        <p:spPr>
          <a:xfrm>
            <a:off x="815975" y="3292475"/>
            <a:ext cx="5175250" cy="1187450"/>
          </a:xfrm>
          <a:prstGeom prst="roundRect">
            <a:avLst>
              <a:gd name="adj" fmla="val 6150"/>
            </a:avLst>
          </a:prstGeom>
          <a:solidFill>
            <a:srgbClr val="FFFFFF"/>
          </a:solidFill>
          <a:ln w="6350">
            <a:solidFill>
              <a:srgbClr val="D8DEE6"/>
            </a:solidFill>
            <a:prstDash val="solid"/>
          </a:ln>
        </p:spPr>
      </p:sp>
      <p:sp>
        <p:nvSpPr>
          <p:cNvPr id="11" name="Text 9"/>
          <p:cNvSpPr/>
          <p:nvPr/>
        </p:nvSpPr>
        <p:spPr>
          <a:xfrm>
            <a:off x="1022350" y="3498850"/>
            <a:ext cx="490537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B2A3A"/>
                </a:solidFill>
                <a:latin typeface="Arial" pitchFamily="34" charset="0"/>
                <a:ea typeface="Arial" pitchFamily="34" charset="-122"/>
                <a:cs typeface="Arial" pitchFamily="34" charset="-120"/>
              </a:rPr>
              <a:t>Graphe : classe trop large · 1 fausse alerte</a:t>
            </a:r>
            <a:endParaRPr lang="en-US" sz="1600" dirty="0"/>
          </a:p>
        </p:txBody>
      </p:sp>
      <p:sp>
        <p:nvSpPr>
          <p:cNvPr id="12" name="Text 10"/>
          <p:cNvSpPr/>
          <p:nvPr/>
        </p:nvSpPr>
        <p:spPr>
          <a:xfrm>
            <a:off x="1022350" y="3803650"/>
            <a:ext cx="4905375" cy="49530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4A5568"/>
                </a:solidFill>
                <a:latin typeface="Arial" pitchFamily="34" charset="0"/>
                <a:ea typeface="Arial" pitchFamily="34" charset="-122"/>
                <a:cs typeface="Arial" pitchFamily="34" charset="-120"/>
              </a:rPr>
              <a:t>aspirine classée AINS ; à dose antiagrégante, l'interaction AINS + IEC ne s'applique pas</a:t>
            </a:r>
            <a:endParaRPr lang="en-US" sz="1300" dirty="0"/>
          </a:p>
        </p:txBody>
      </p:sp>
      <p:sp>
        <p:nvSpPr>
          <p:cNvPr id="13" name="Shape 11"/>
          <p:cNvSpPr/>
          <p:nvPr/>
        </p:nvSpPr>
        <p:spPr>
          <a:xfrm>
            <a:off x="6200775" y="3292475"/>
            <a:ext cx="5175250" cy="1187450"/>
          </a:xfrm>
          <a:prstGeom prst="roundRect">
            <a:avLst>
              <a:gd name="adj" fmla="val 6150"/>
            </a:avLst>
          </a:prstGeom>
          <a:solidFill>
            <a:srgbClr val="FFFFFF"/>
          </a:solidFill>
          <a:ln w="6350">
            <a:solidFill>
              <a:srgbClr val="D8DEE6"/>
            </a:solidFill>
            <a:prstDash val="solid"/>
          </a:ln>
        </p:spPr>
      </p:sp>
      <p:sp>
        <p:nvSpPr>
          <p:cNvPr id="14" name="Text 12"/>
          <p:cNvSpPr/>
          <p:nvPr/>
        </p:nvSpPr>
        <p:spPr>
          <a:xfrm>
            <a:off x="6407150" y="3498850"/>
            <a:ext cx="490537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B2A3A"/>
                </a:solidFill>
                <a:latin typeface="Arial" pitchFamily="34" charset="0"/>
                <a:ea typeface="Arial" pitchFamily="34" charset="-122"/>
                <a:cs typeface="Arial" pitchFamily="34" charset="-120"/>
              </a:rPr>
              <a:t>Graphe : règle G1 · 1 fausse alerte</a:t>
            </a:r>
            <a:endParaRPr lang="en-US" sz="1600" dirty="0"/>
          </a:p>
        </p:txBody>
      </p:sp>
      <p:sp>
        <p:nvSpPr>
          <p:cNvPr id="15" name="Text 13"/>
          <p:cNvSpPr/>
          <p:nvPr/>
        </p:nvSpPr>
        <p:spPr>
          <a:xfrm>
            <a:off x="6407150" y="3803650"/>
            <a:ext cx="4905375" cy="49530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4A5568"/>
                </a:solidFill>
                <a:latin typeface="Arial" pitchFamily="34" charset="0"/>
                <a:ea typeface="Arial" pitchFamily="34" charset="-122"/>
                <a:cs typeface="Arial" pitchFamily="34" charset="-120"/>
              </a:rPr>
              <a:t>oméprazole + warfarine : le graphe ne code pas la force de l'inhibition enzymatique</a:t>
            </a:r>
            <a:endParaRPr lang="en-US" sz="1300" dirty="0"/>
          </a:p>
        </p:txBody>
      </p:sp>
      <p:sp>
        <p:nvSpPr>
          <p:cNvPr id="16" name="Text 14"/>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Bleu : oublis · orange : fausses alertes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4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BONUS · PROBLOG</a:t>
            </a:r>
            <a:endParaRPr lang="en-US" sz="1200" dirty="0"/>
          </a:p>
        </p:txBody>
      </p:sp>
      <p:sp>
        <p:nvSpPr>
          <p:cNvPr id="3" name="Text 1"/>
          <p:cNvSpPr>
            <a:spLocks noGrp="1"/>
          </p:cNvSpPr>
          <p:nvPr>
            <p:ph type="title"/>
          </p:nvPr>
        </p:nvSpPr>
        <p:spPr>
          <a:xfrm>
            <a:off x="812800" y="1123950"/>
            <a:ext cx="10883392" cy="95250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Des règles pondérées pour classer les alertes par probabilité</a:t>
            </a:r>
            <a:endParaRPr lang="en-US" sz="3200" dirty="0"/>
          </a:p>
        </p:txBody>
      </p:sp>
      <p:sp>
        <p:nvSpPr>
          <p:cNvPr id="4" name="Shape 2"/>
          <p:cNvSpPr/>
          <p:nvPr/>
        </p:nvSpPr>
        <p:spPr>
          <a:xfrm>
            <a:off x="815975" y="2359025"/>
            <a:ext cx="3380284" cy="1422400"/>
          </a:xfrm>
          <a:prstGeom prst="roundRect">
            <a:avLst>
              <a:gd name="adj" fmla="val 5134"/>
            </a:avLst>
          </a:prstGeom>
          <a:solidFill>
            <a:srgbClr val="FFFFFF"/>
          </a:solidFill>
          <a:ln w="6350">
            <a:solidFill>
              <a:srgbClr val="C9D2DC"/>
            </a:solidFill>
            <a:prstDash val="solid"/>
          </a:ln>
        </p:spPr>
      </p:sp>
      <p:sp>
        <p:nvSpPr>
          <p:cNvPr id="5" name="Text 3"/>
          <p:cNvSpPr/>
          <p:nvPr/>
        </p:nvSpPr>
        <p:spPr>
          <a:xfrm>
            <a:off x="1022350" y="2565400"/>
            <a:ext cx="3056560"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1B2A3A"/>
                </a:solidFill>
                <a:latin typeface="Georgia" pitchFamily="18" charset="0"/>
                <a:ea typeface="Georgia" pitchFamily="18" charset="-122"/>
                <a:cs typeface="Georgia" pitchFamily="18" charset="-120"/>
              </a:rPr>
              <a:t>0,93</a:t>
            </a:r>
            <a:endParaRPr lang="en-US" sz="4000" dirty="0"/>
          </a:p>
        </p:txBody>
      </p:sp>
      <p:sp>
        <p:nvSpPr>
          <p:cNvPr id="6" name="Text 4"/>
          <p:cNvSpPr/>
          <p:nvPr/>
        </p:nvSpPr>
        <p:spPr>
          <a:xfrm>
            <a:off x="1022350" y="3327400"/>
            <a:ext cx="305656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AUC sur 152 paires</a:t>
            </a:r>
            <a:endParaRPr lang="en-US" sz="1400" dirty="0"/>
          </a:p>
        </p:txBody>
      </p:sp>
      <p:sp>
        <p:nvSpPr>
          <p:cNvPr id="7" name="Shape 5"/>
          <p:cNvSpPr/>
          <p:nvPr/>
        </p:nvSpPr>
        <p:spPr>
          <a:xfrm>
            <a:off x="4405809" y="2359025"/>
            <a:ext cx="3380284" cy="1422400"/>
          </a:xfrm>
          <a:prstGeom prst="roundRect">
            <a:avLst>
              <a:gd name="adj" fmla="val 5134"/>
            </a:avLst>
          </a:prstGeom>
          <a:solidFill>
            <a:srgbClr val="FFFFFF"/>
          </a:solidFill>
          <a:ln w="6350">
            <a:solidFill>
              <a:srgbClr val="C9D2DC"/>
            </a:solidFill>
            <a:prstDash val="solid"/>
          </a:ln>
        </p:spPr>
      </p:sp>
      <p:sp>
        <p:nvSpPr>
          <p:cNvPr id="8" name="Text 6"/>
          <p:cNvSpPr/>
          <p:nvPr/>
        </p:nvSpPr>
        <p:spPr>
          <a:xfrm>
            <a:off x="4612184" y="2565400"/>
            <a:ext cx="3056560"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1B2A3A"/>
                </a:solidFill>
                <a:latin typeface="Georgia" pitchFamily="18" charset="0"/>
                <a:ea typeface="Georgia" pitchFamily="18" charset="-122"/>
                <a:cs typeface="Georgia" pitchFamily="18" charset="-120"/>
              </a:rPr>
              <a:t>0,07</a:t>
            </a:r>
            <a:endParaRPr lang="en-US" sz="4000" dirty="0"/>
          </a:p>
        </p:txBody>
      </p:sp>
      <p:sp>
        <p:nvSpPr>
          <p:cNvPr id="9" name="Text 7"/>
          <p:cNvSpPr/>
          <p:nvPr/>
        </p:nvSpPr>
        <p:spPr>
          <a:xfrm>
            <a:off x="4612184" y="3327400"/>
            <a:ext cx="305656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erreur de calibration (ECE)</a:t>
            </a:r>
            <a:endParaRPr lang="en-US" sz="1400" dirty="0"/>
          </a:p>
        </p:txBody>
      </p:sp>
      <p:sp>
        <p:nvSpPr>
          <p:cNvPr id="10" name="Shape 8"/>
          <p:cNvSpPr/>
          <p:nvPr/>
        </p:nvSpPr>
        <p:spPr>
          <a:xfrm>
            <a:off x="7995642" y="2359025"/>
            <a:ext cx="3380383" cy="1422400"/>
          </a:xfrm>
          <a:prstGeom prst="roundRect">
            <a:avLst>
              <a:gd name="adj" fmla="val 5134"/>
            </a:avLst>
          </a:prstGeom>
          <a:solidFill>
            <a:srgbClr val="FFFFFF"/>
          </a:solidFill>
          <a:ln w="6350">
            <a:solidFill>
              <a:srgbClr val="C9D2DC"/>
            </a:solidFill>
            <a:prstDash val="solid"/>
          </a:ln>
        </p:spPr>
      </p:sp>
      <p:sp>
        <p:nvSpPr>
          <p:cNvPr id="11" name="Text 9"/>
          <p:cNvSpPr/>
          <p:nvPr/>
        </p:nvSpPr>
        <p:spPr>
          <a:xfrm>
            <a:off x="8202017" y="2565400"/>
            <a:ext cx="305666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1B2A3A"/>
                </a:solidFill>
                <a:latin typeface="Georgia" pitchFamily="18" charset="0"/>
                <a:ea typeface="Georgia" pitchFamily="18" charset="-122"/>
                <a:cs typeface="Georgia" pitchFamily="18" charset="-120"/>
              </a:rPr>
              <a:t>47 / 48</a:t>
            </a:r>
            <a:endParaRPr lang="en-US" sz="4000" dirty="0"/>
          </a:p>
        </p:txBody>
      </p:sp>
      <p:sp>
        <p:nvSpPr>
          <p:cNvPr id="12" name="Text 10"/>
          <p:cNvSpPr/>
          <p:nvPr/>
        </p:nvSpPr>
        <p:spPr>
          <a:xfrm>
            <a:off x="8202017" y="3327400"/>
            <a:ext cx="3056662"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vraies alertes gardées au seuil 0,5</a:t>
            </a:r>
            <a:endParaRPr lang="en-US" sz="1400" dirty="0"/>
          </a:p>
        </p:txBody>
      </p:sp>
      <p:sp>
        <p:nvSpPr>
          <p:cNvPr id="13" name="Text 11"/>
          <p:cNvSpPr/>
          <p:nvPr/>
        </p:nvSpPr>
        <p:spPr>
          <a:xfrm>
            <a:off x="812800" y="4089400"/>
            <a:ext cx="10883392" cy="57150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1B2A3A"/>
                </a:solidFill>
                <a:latin typeface="Arial" pitchFamily="34" charset="0"/>
                <a:ea typeface="Arial" pitchFamily="34" charset="-122"/>
                <a:cs typeface="Arial" pitchFamily="34" charset="-120"/>
              </a:rPr>
              <a:t>Poids fixés </a:t>
            </a:r>
            <a:r>
              <a:rPr lang="en-US" sz="1500" b="1" dirty="0">
                <a:solidFill>
                  <a:srgbClr val="1B2A3A"/>
                </a:solidFill>
                <a:latin typeface="Arial" pitchFamily="34" charset="0"/>
                <a:ea typeface="Arial" pitchFamily="34" charset="-122"/>
                <a:cs typeface="Arial" pitchFamily="34" charset="-120"/>
              </a:rPr>
              <a:t>avant</a:t>
            </a:r>
            <a:r>
              <a:rPr lang="en-US" sz="1500" dirty="0">
                <a:solidFill>
                  <a:srgbClr val="1B2A3A"/>
                </a:solidFill>
                <a:latin typeface="Arial" pitchFamily="34" charset="0"/>
                <a:ea typeface="Arial" pitchFamily="34" charset="-122"/>
                <a:cs typeface="Arial" pitchFamily="34" charset="-120"/>
              </a:rPr>
              <a:t> l'évaluation : 0,95 à 0,60 pour une règle experte selon son niveau, 0,40 ou 0,15 pour G1. La pondération ordonne les alertes plus qu'elle ne les change ; la tranche 0,2-0,4 est surestimée.</a:t>
            </a:r>
            <a:endParaRPr lang="en-US" sz="1500" dirty="0"/>
          </a:p>
        </p:txBody>
      </p:sp>
      <p:sp>
        <p:nvSpPr>
          <p:cNvPr id="14" name="Text 12"/>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A6FB0"/>
                </a:solidFill>
                <a:latin typeface="Arial" pitchFamily="34" charset="0"/>
                <a:ea typeface="Arial" pitchFamily="34" charset="-122"/>
                <a:cs typeface="Arial" pitchFamily="34" charset="-120"/>
              </a:rPr>
              <a:t>LIMITES ET SUITE</a:t>
            </a:r>
            <a:endParaRPr lang="en-US" sz="1200" dirty="0"/>
          </a:p>
        </p:txBody>
      </p:sp>
      <p:sp>
        <p:nvSpPr>
          <p:cNvPr id="3" name="Text 1"/>
          <p:cNvSpPr>
            <a:spLocks noGrp="1"/>
          </p:cNvSpPr>
          <p:nvPr>
            <p:ph type="title"/>
          </p:nvPr>
        </p:nvSpPr>
        <p:spPr>
          <a:xfrm>
            <a:off x="812800" y="11239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Une absence d'alerte n'est jamais une garantie</a:t>
            </a:r>
            <a:endParaRPr lang="en-US" sz="3200" dirty="0"/>
          </a:p>
        </p:txBody>
      </p:sp>
      <p:sp>
        <p:nvSpPr>
          <p:cNvPr id="4" name="Text 2"/>
          <p:cNvSpPr/>
          <p:nvPr/>
        </p:nvSpPr>
        <p:spPr>
          <a:xfrm>
            <a:off x="812800" y="1892300"/>
            <a:ext cx="5284724"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Limites</a:t>
            </a:r>
            <a:endParaRPr lang="en-US" sz="1800" dirty="0"/>
          </a:p>
        </p:txBody>
      </p:sp>
      <p:sp>
        <p:nvSpPr>
          <p:cNvPr id="5" name="Text 3"/>
          <p:cNvSpPr/>
          <p:nvPr/>
        </p:nvSpPr>
        <p:spPr>
          <a:xfrm>
            <a:off x="910082" y="2266950"/>
            <a:ext cx="5179822" cy="1092200"/>
          </a:xfrm>
          <a:prstGeom prst="rect">
            <a:avLst/>
          </a:prstGeom>
          <a:noFill/>
          <a:ln/>
        </p:spPr>
        <p:txBody>
          <a:bodyPr wrap="square" lIns="0" tIns="0" rIns="0" bIns="0" rtlCol="0" anchor="t">
            <a:normAutofit/>
          </a:bodyPr>
          <a:lstStyle/>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Graphe incomplet et statique (Hetionet 2017)</a:t>
            </a:r>
            <a:endParaRPr lang="en-US" sz="1400" dirty="0"/>
          </a:p>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Ni dose, ni patient, ni intensité des inhibiteurs</a:t>
            </a:r>
            <a:endParaRPr lang="en-US" sz="1400" dirty="0"/>
          </a:p>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Vérité terrain du binôme : 16 niveaux à confirmer</a:t>
            </a:r>
            <a:endParaRPr lang="en-US" sz="1400" dirty="0"/>
          </a:p>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Filtre et règles R19-R24 ajoutés en voyant le test</a:t>
            </a:r>
            <a:endParaRPr lang="en-US" sz="1400" dirty="0"/>
          </a:p>
        </p:txBody>
      </p:sp>
      <p:sp>
        <p:nvSpPr>
          <p:cNvPr id="6" name="Text 4"/>
          <p:cNvSpPr/>
          <p:nvPr/>
        </p:nvSpPr>
        <p:spPr>
          <a:xfrm>
            <a:off x="6248400" y="1892300"/>
            <a:ext cx="5284724"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Suite</a:t>
            </a:r>
            <a:endParaRPr lang="en-US" sz="1800" dirty="0"/>
          </a:p>
        </p:txBody>
      </p:sp>
      <p:sp>
        <p:nvSpPr>
          <p:cNvPr id="7" name="Text 5"/>
          <p:cNvSpPr/>
          <p:nvPr/>
        </p:nvSpPr>
        <p:spPr>
          <a:xfrm>
            <a:off x="6345682" y="2266950"/>
            <a:ext cx="5179822" cy="1358900"/>
          </a:xfrm>
          <a:prstGeom prst="rect">
            <a:avLst/>
          </a:prstGeom>
          <a:noFill/>
          <a:ln/>
        </p:spPr>
        <p:txBody>
          <a:bodyPr wrap="square" lIns="0" tIns="0" rIns="0" bIns="0" rtlCol="0" anchor="t">
            <a:normAutofit/>
          </a:bodyPr>
          <a:lstStyle/>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Validation par un pharmacien, jeu de test indépendant</a:t>
            </a:r>
            <a:endParaRPr lang="en-US" sz="1400" dirty="0"/>
          </a:p>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Coder la dose et la force des inhibiteurs</a:t>
            </a:r>
            <a:endParaRPr lang="en-US" sz="1400" dirty="0"/>
          </a:p>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Apprendre les poids ProbLog</a:t>
            </a:r>
            <a:endParaRPr lang="en-US" sz="1400" dirty="0"/>
          </a:p>
          <a:p>
            <a:pPr marL="156718" indent="-156718" algn="l">
              <a:lnSpc>
                <a:spcPts val="2100"/>
              </a:lnSpc>
              <a:buSzPct val="100000"/>
              <a:buChar char="•"/>
            </a:pPr>
            <a:r>
              <a:rPr lang="en-US" sz="1400" dirty="0">
                <a:solidFill>
                  <a:srgbClr val="4A5568"/>
                </a:solidFill>
                <a:latin typeface="Arial" pitchFamily="34" charset="0"/>
                <a:ea typeface="Arial" pitchFamily="34" charset="-122"/>
                <a:cs typeface="Arial" pitchFamily="34" charset="-120"/>
              </a:rPr>
              <a:t>Interactions candidates par embeddings (TransE), comme hypothèses</a:t>
            </a:r>
            <a:endParaRPr lang="en-US" sz="1400" dirty="0"/>
          </a:p>
        </p:txBody>
      </p:sp>
      <p:sp>
        <p:nvSpPr>
          <p:cNvPr id="8" name="Text 6"/>
          <p:cNvSpPr/>
          <p:nvPr/>
        </p:nvSpPr>
        <p:spPr>
          <a:xfrm>
            <a:off x="812800" y="624205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4"/>
                </a:solidFill>
                <a:latin typeface="Arial" pitchFamily="34" charset="0"/>
                <a:ea typeface="Arial" pitchFamily="34" charset="-122"/>
                <a:cs typeface="Arial" pitchFamily="34" charset="-120"/>
              </a:rPr>
              <a:t>Vérification d'ordonnance hybride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2A6FB0"/>
          </a:solidFill>
          <a:ln/>
        </p:spPr>
      </p:sp>
      <p:sp>
        <p:nvSpPr>
          <p:cNvPr id="3" name="Text 1"/>
          <p:cNvSpPr/>
          <p:nvPr/>
        </p:nvSpPr>
        <p:spPr>
          <a:xfrm>
            <a:off x="812800" y="1958975"/>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2A6FB0"/>
                </a:solidFill>
                <a:latin typeface="Arial" pitchFamily="34" charset="0"/>
                <a:ea typeface="Arial" pitchFamily="34" charset="-122"/>
                <a:cs typeface="Arial" pitchFamily="34" charset="-120"/>
              </a:rPr>
              <a:t>EN RÉSUMÉ</a:t>
            </a:r>
            <a:endParaRPr lang="en-US" sz="1400" dirty="0"/>
          </a:p>
        </p:txBody>
      </p:sp>
      <p:sp>
        <p:nvSpPr>
          <p:cNvPr id="4" name="Text 2"/>
          <p:cNvSpPr>
            <a:spLocks noGrp="1"/>
          </p:cNvSpPr>
          <p:nvPr>
            <p:ph type="title"/>
          </p:nvPr>
        </p:nvSpPr>
        <p:spPr>
          <a:xfrm>
            <a:off x="812800" y="2460625"/>
            <a:ext cx="10883392" cy="1155700"/>
          </a:xfrm>
          <a:prstGeom prst="rect">
            <a:avLst/>
          </a:prstGeom>
          <a:noFill/>
          <a:ln/>
        </p:spPr>
        <p:txBody>
          <a:bodyPr wrap="square" lIns="0" tIns="0" rIns="0" bIns="0" rtlCol="0" anchor="t">
            <a:normAutofit/>
          </a:bodyPr>
          <a:lstStyle/>
          <a:p>
            <a:pPr marL="0" indent="0" algn="l">
              <a:lnSpc>
                <a:spcPts val="4480"/>
              </a:lnSpc>
              <a:buNone/>
            </a:pPr>
            <a:r>
              <a:rPr lang="en-US" sz="4000" b="1" i="0" dirty="0">
                <a:solidFill>
                  <a:srgbClr val="1B2A3A"/>
                </a:solidFill>
                <a:latin typeface="Georgia" pitchFamily="18" charset="0"/>
                <a:ea typeface="Georgia" pitchFamily="18" charset="-122"/>
                <a:cs typeface="Georgia" pitchFamily="18" charset="-120"/>
              </a:rPr>
              <a:t>Les règles donnent la gravité et la fiabilité, le graphe la généralisation</a:t>
            </a:r>
            <a:endParaRPr lang="en-US" sz="4000" dirty="0"/>
          </a:p>
        </p:txBody>
      </p:sp>
      <p:sp>
        <p:nvSpPr>
          <p:cNvPr id="5" name="Text 3"/>
          <p:cNvSpPr/>
          <p:nvPr/>
        </p:nvSpPr>
        <p:spPr>
          <a:xfrm>
            <a:off x="812800" y="3844925"/>
            <a:ext cx="10883392" cy="3429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4A5568"/>
                </a:solidFill>
                <a:latin typeface="Arial" pitchFamily="34" charset="0"/>
                <a:ea typeface="Arial" pitchFamily="34" charset="-122"/>
                <a:cs typeface="Arial" pitchFamily="34" charset="-120"/>
              </a:rPr>
              <a:t>F1 0,92 contre 0,56 pour la référence · 1,25 alerte par ordonnance · chaque alerte expliquée</a:t>
            </a:r>
            <a:endParaRPr lang="en-US" sz="1800" dirty="0"/>
          </a:p>
        </p:txBody>
      </p:sp>
      <p:sp>
        <p:nvSpPr>
          <p:cNvPr id="6" name="Shape 4"/>
          <p:cNvSpPr/>
          <p:nvPr/>
        </p:nvSpPr>
        <p:spPr>
          <a:xfrm>
            <a:off x="812800" y="4422775"/>
            <a:ext cx="10566400" cy="0"/>
          </a:xfrm>
          <a:prstGeom prst="line">
            <a:avLst/>
          </a:prstGeom>
          <a:noFill/>
          <a:ln w="12700">
            <a:solidFill>
              <a:srgbClr val="D8DEE6"/>
            </a:solidFill>
            <a:prstDash val="solid"/>
          </a:ln>
        </p:spPr>
      </p:sp>
      <p:sp>
        <p:nvSpPr>
          <p:cNvPr id="7" name="Text 5"/>
          <p:cNvSpPr/>
          <p:nvPr/>
        </p:nvSpPr>
        <p:spPr>
          <a:xfrm>
            <a:off x="812800" y="4632325"/>
            <a:ext cx="216783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B2A3A"/>
                </a:solidFill>
                <a:latin typeface="Arial" pitchFamily="34" charset="0"/>
                <a:ea typeface="Arial" pitchFamily="34" charset="-122"/>
                <a:cs typeface="Arial" pitchFamily="34" charset="-120"/>
              </a:rPr>
              <a:t>Merci — questions ?</a:t>
            </a:r>
            <a:endParaRPr lang="en-US" sz="1500" dirty="0"/>
          </a:p>
        </p:txBody>
      </p:sp>
      <p:sp>
        <p:nvSpPr>
          <p:cNvPr id="8" name="Text 6"/>
          <p:cNvSpPr/>
          <p:nvPr/>
        </p:nvSpPr>
        <p:spPr>
          <a:xfrm>
            <a:off x="2980630" y="4632325"/>
            <a:ext cx="7507367" cy="2921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Code et notebooks : </a:t>
            </a:r>
            <a:r>
              <a:rPr lang="en-US" sz="1400" u="sng" dirty="0">
                <a:solidFill>
                  <a:srgbClr val="4A5568"/>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xmlns="" val="tx"/>
                    </a:ext>
                  </a:extLst>
                </a:hlinkClick>
              </a:rPr>
              <a:t>github.com/Imane-Guihia/Verification-Ordonnance-Hybride</a:t>
            </a:r>
            <a:endParaRPr lang="en-US" sz="1400" dirty="0"/>
          </a:p>
        </p:txBody>
      </p:sp>
    </p:spTree>
  </p:cSld>
  <p:clrMapOvr>
    <a:masterClrMapping/>
  </p:clrMapOvr>
</p:sld>
</file>

<file path=ppt/theme/theme1.xml><?xml version="1.0" encoding="utf-8"?>
<a:theme xmlns:a="http://schemas.openxmlformats.org/drawingml/2006/main" name="Soutenance — Vérification d'ordonnance hybride">
  <a:themeElements>
    <a:clrScheme name="Soutenance — Vérification d'ordonnance hybride">
      <a:dk1>
        <a:srgbClr val="1B2A3A"/>
      </a:dk1>
      <a:lt1>
        <a:srgbClr val="FBFBF8"/>
      </a:lt1>
      <a:dk2>
        <a:srgbClr val="535E6A"/>
      </a:dk2>
      <a:lt2>
        <a:srgbClr val="E5E6E5"/>
      </a:lt2>
      <a:accent1>
        <a:srgbClr val="2A6FB0"/>
      </a:accent1>
      <a:accent2>
        <a:srgbClr val="D9822B"/>
      </a:accent2>
      <a:accent3>
        <a:srgbClr val="F2C9A0"/>
      </a:accent3>
      <a:accent4>
        <a:srgbClr val="4A5568"/>
      </a:accent4>
      <a:accent5>
        <a:srgbClr val="7A8594"/>
      </a:accent5>
      <a:accent6>
        <a:srgbClr val="B7C3CF"/>
      </a:accent6>
      <a:hlink>
        <a:srgbClr val="0563C1"/>
      </a:hlink>
      <a:folHlink>
        <a:srgbClr val="954F72"/>
      </a:folHlink>
    </a:clrScheme>
    <a:fontScheme name="Soutenance — Vérification d'ordonnance hybrid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2174</Words>
  <Application>Microsoft Office PowerPoint</Application>
  <PresentationFormat>Personnalisé</PresentationFormat>
  <Paragraphs>229</Paragraphs>
  <Slides>14</Slides>
  <Notes>14</Notes>
  <HiddenSlides>0</HiddenSlides>
  <MMClips>0</MMClips>
  <ScaleCrop>false</ScaleCrop>
  <HeadingPairs>
    <vt:vector size="4" baseType="variant">
      <vt:variant>
        <vt:lpstr>Thème</vt:lpstr>
      </vt:variant>
      <vt:variant>
        <vt:i4>1</vt:i4>
      </vt:variant>
      <vt:variant>
        <vt:lpstr>Titres des diapositives</vt:lpstr>
      </vt:variant>
      <vt:variant>
        <vt:i4>14</vt:i4>
      </vt:variant>
    </vt:vector>
  </HeadingPairs>
  <TitlesOfParts>
    <vt:vector size="15" baseType="lpstr">
      <vt:lpstr>Soutenance — Vérification d'ordonnance hybride</vt:lpstr>
      <vt:lpstr>Vérification d'ordonnance par graphe et règles</vt:lpstr>
      <vt:lpstr>Trouver les vraies interactions sans noyer le prescripteur</vt:lpstr>
      <vt:lpstr>Hetionet est riche, mais incomplet pour notre usage</vt:lpstr>
      <vt:lpstr>Deux familles de règles, un filtre, des alertes expliquées</vt:lpstr>
      <vt:lpstr>24 règles expertes sourcées, 3 règles tirées du graphe</vt:lpstr>
      <vt:lpstr>Warfarine + ibuprofène : la règle, sa source et sa preuve</vt:lpstr>
      <vt:lpstr>40 ordonnances, 54 paires à risque, une référence non hybride</vt:lpstr>
      <vt:lpstr>L'hybride trouve 48 des 54 interactions, avec 2 fausses alertes</vt:lpstr>
      <vt:lpstr>Chaque brique retirée fait baisser le F1</vt:lpstr>
      <vt:lpstr>Chaque version était meilleure sur son propre jeu de test</vt:lpstr>
      <vt:lpstr>8 erreurs, chacune attribuée à sa brique</vt:lpstr>
      <vt:lpstr>Des règles pondérées pour classer les alertes par probabilité</vt:lpstr>
      <vt:lpstr>Une absence d'alerte n'est jamais une garantie</vt:lpstr>
      <vt:lpstr>Les règles donnent la gravité et la fiabilité, le graphe la généralisation</vt:lpstr>
    </vt:vector>
  </TitlesOfParts>
  <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 Vérification d'ordonnance hybride</dc:title>
  <dc:subject/>
  <dc:creator/>
  <cp:lastModifiedBy>braham</cp:lastModifiedBy>
  <cp:revision>21</cp:revision>
  <dcterms:created xsi:type="dcterms:W3CDTF">2026-10-11T10:40:54Z</dcterms:created>
  <dcterms:modified xsi:type="dcterms:W3CDTF">2026-10-15T16:41:00Z</dcterms:modified>
</cp:coreProperties>
</file>