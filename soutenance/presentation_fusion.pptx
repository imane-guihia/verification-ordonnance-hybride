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670903-C729-E12F-D5F2-EE588F6DDDE2}" v="1" dt="2026-10-15T16:20:48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55F9A-7859-46FE-8A5C-4C101A73E515}" type="datetimeFigureOut">
              <a:t>15/10/2026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02A1DC-B801-49E6-8C79-C050FC97461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2003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 à </a:t>
            </a:r>
            <a:r>
              <a:rPr lang="en-US" dirty="0" err="1"/>
              <a:t>tous</a:t>
            </a:r>
            <a:r>
              <a:rPr lang="en-US" dirty="0"/>
              <a:t>. Avec Mohamed Aziz Braham, nous </a:t>
            </a:r>
            <a:r>
              <a:rPr lang="en-US" dirty="0" err="1"/>
              <a:t>allons</a:t>
            </a:r>
            <a:r>
              <a:rPr lang="en-US" dirty="0"/>
              <a:t> vous </a:t>
            </a:r>
            <a:r>
              <a:rPr lang="en-US" dirty="0" err="1"/>
              <a:t>présenter</a:t>
            </a:r>
            <a:r>
              <a:rPr lang="en-US" dirty="0"/>
              <a:t> </a:t>
            </a:r>
            <a:r>
              <a:rPr lang="en-US" dirty="0" err="1"/>
              <a:t>notre</a:t>
            </a:r>
            <a:r>
              <a:rPr lang="en-US" dirty="0"/>
              <a:t> mini-</a:t>
            </a:r>
            <a:r>
              <a:rPr lang="en-US" dirty="0" err="1"/>
              <a:t>projet</a:t>
            </a:r>
            <a:r>
              <a:rPr lang="en-US" dirty="0"/>
              <a:t> </a:t>
            </a:r>
            <a:r>
              <a:rPr lang="en-US" dirty="0" err="1"/>
              <a:t>d’intelligence</a:t>
            </a:r>
            <a:r>
              <a:rPr lang="en-US" dirty="0"/>
              <a:t> </a:t>
            </a:r>
            <a:r>
              <a:rPr lang="en-US" dirty="0" err="1"/>
              <a:t>artificielle</a:t>
            </a:r>
            <a:r>
              <a:rPr lang="en-US" dirty="0"/>
              <a:t> </a:t>
            </a:r>
            <a:r>
              <a:rPr lang="en-US" dirty="0" err="1"/>
              <a:t>hybride</a:t>
            </a:r>
            <a:r>
              <a:rPr lang="en-US" dirty="0"/>
              <a:t> : un </a:t>
            </a:r>
            <a:r>
              <a:rPr lang="en-US" dirty="0" err="1"/>
              <a:t>système</a:t>
            </a:r>
            <a:r>
              <a:rPr lang="en-US" dirty="0"/>
              <a:t> qui </a:t>
            </a:r>
            <a:r>
              <a:rPr lang="en-US" dirty="0" err="1"/>
              <a:t>vérifie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ordonnance à </a:t>
            </a:r>
            <a:r>
              <a:rPr lang="en-US" dirty="0" err="1"/>
              <a:t>l’aide</a:t>
            </a:r>
            <a:r>
              <a:rPr lang="en-US" dirty="0"/>
              <a:t> d’un </a:t>
            </a:r>
            <a:r>
              <a:rPr lang="en-US" dirty="0" err="1"/>
              <a:t>graphe</a:t>
            </a:r>
            <a:r>
              <a:rPr lang="en-US" dirty="0"/>
              <a:t> de </a:t>
            </a:r>
            <a:r>
              <a:rPr lang="en-US" dirty="0" err="1"/>
              <a:t>connaissances</a:t>
            </a:r>
            <a:r>
              <a:rPr lang="en-US" dirty="0"/>
              <a:t> et de </a:t>
            </a:r>
            <a:r>
              <a:rPr lang="en-US" dirty="0" err="1"/>
              <a:t>règles</a:t>
            </a:r>
            <a:r>
              <a:rPr lang="en-US" dirty="0"/>
              <a:t> </a:t>
            </a:r>
            <a:r>
              <a:rPr lang="en-US" dirty="0" err="1"/>
              <a:t>médicales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 err="1"/>
              <a:t>L’objectif</a:t>
            </a:r>
            <a:r>
              <a:rPr lang="en-US" dirty="0"/>
              <a:t> est simple : signaler les associations de </a:t>
            </a:r>
            <a:r>
              <a:rPr lang="en-US" dirty="0" err="1"/>
              <a:t>médicaments</a:t>
            </a:r>
            <a:r>
              <a:rPr lang="en-US" dirty="0"/>
              <a:t> à </a:t>
            </a:r>
            <a:r>
              <a:rPr lang="en-US" dirty="0" err="1"/>
              <a:t>risque</a:t>
            </a:r>
            <a:r>
              <a:rPr lang="en-US" dirty="0"/>
              <a:t>, les classer par </a:t>
            </a:r>
            <a:r>
              <a:rPr lang="en-US" dirty="0" err="1"/>
              <a:t>gravité</a:t>
            </a:r>
            <a:r>
              <a:rPr lang="en-US" dirty="0"/>
              <a:t>, et surtout </a:t>
            </a:r>
            <a:r>
              <a:rPr lang="en-US" dirty="0" err="1"/>
              <a:t>expliquer</a:t>
            </a:r>
            <a:r>
              <a:rPr lang="en-US" dirty="0"/>
              <a:t>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alerte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 err="1"/>
              <a:t>Précisons</a:t>
            </a:r>
            <a:r>
              <a:rPr lang="en-US" dirty="0"/>
              <a:t>-le </a:t>
            </a:r>
            <a:r>
              <a:rPr lang="en-US" dirty="0" err="1"/>
              <a:t>dès</a:t>
            </a:r>
            <a:r>
              <a:rPr lang="en-US" dirty="0"/>
              <a:t> le </a:t>
            </a:r>
            <a:r>
              <a:rPr lang="en-US" dirty="0" err="1"/>
              <a:t>départ</a:t>
            </a:r>
            <a:r>
              <a:rPr lang="en-US" dirty="0"/>
              <a:t> : </a:t>
            </a:r>
            <a:r>
              <a:rPr lang="en-US" dirty="0" err="1"/>
              <a:t>c’est</a:t>
            </a:r>
            <a:r>
              <a:rPr lang="en-US" dirty="0"/>
              <a:t> un prototype </a:t>
            </a:r>
            <a:r>
              <a:rPr lang="en-US" dirty="0" err="1"/>
              <a:t>pédagogique</a:t>
            </a:r>
            <a:r>
              <a:rPr lang="en-US" dirty="0"/>
              <a:t>, il ne </a:t>
            </a:r>
            <a:r>
              <a:rPr lang="en-US" dirty="0" err="1"/>
              <a:t>remplace</a:t>
            </a:r>
            <a:r>
              <a:rPr lang="en-US" dirty="0"/>
              <a:t> pas </a:t>
            </a:r>
            <a:r>
              <a:rPr lang="en-US" dirty="0" err="1"/>
              <a:t>l’avis</a:t>
            </a:r>
            <a:r>
              <a:rPr lang="en-US" dirty="0"/>
              <a:t> d’un </a:t>
            </a:r>
            <a:r>
              <a:rPr lang="en-US" dirty="0" err="1"/>
              <a:t>pharmacien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d’un </a:t>
            </a:r>
            <a:r>
              <a:rPr lang="en-US" dirty="0" err="1"/>
              <a:t>médecin</a:t>
            </a:r>
            <a:r>
              <a:rPr lang="en-US" dirty="0"/>
              <a:t>.</a:t>
            </a:r>
            <a:endParaRPr lang="fr-FR" dirty="0"/>
          </a:p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ordonnance </a:t>
            </a:r>
            <a:r>
              <a:rPr lang="en-US" dirty="0" err="1"/>
              <a:t>contient</a:t>
            </a:r>
            <a:r>
              <a:rPr lang="en-US" dirty="0"/>
              <a:t> </a:t>
            </a:r>
            <a:r>
              <a:rPr lang="en-US" dirty="0" err="1"/>
              <a:t>souvent</a:t>
            </a:r>
            <a:r>
              <a:rPr lang="en-US" dirty="0"/>
              <a:t> </a:t>
            </a:r>
            <a:r>
              <a:rPr lang="en-US" dirty="0" err="1"/>
              <a:t>plusieurs</a:t>
            </a:r>
            <a:r>
              <a:rPr lang="en-US" dirty="0"/>
              <a:t> </a:t>
            </a:r>
            <a:r>
              <a:rPr lang="en-US" dirty="0" err="1"/>
              <a:t>médicaments</a:t>
            </a:r>
            <a:r>
              <a:rPr lang="en-US" dirty="0"/>
              <a:t>, et </a:t>
            </a:r>
            <a:r>
              <a:rPr lang="en-US" dirty="0" err="1"/>
              <a:t>certaines</a:t>
            </a:r>
            <a:r>
              <a:rPr lang="en-US" dirty="0"/>
              <a:t> associations </a:t>
            </a:r>
            <a:r>
              <a:rPr lang="en-US" dirty="0" err="1"/>
              <a:t>augmentent</a:t>
            </a:r>
            <a:r>
              <a:rPr lang="en-US" dirty="0"/>
              <a:t> des </a:t>
            </a:r>
            <a:r>
              <a:rPr lang="en-US" dirty="0" err="1"/>
              <a:t>risques</a:t>
            </a:r>
            <a:r>
              <a:rPr lang="en-US" dirty="0"/>
              <a:t> </a:t>
            </a:r>
            <a:r>
              <a:rPr lang="en-US" dirty="0" err="1"/>
              <a:t>comme</a:t>
            </a:r>
            <a:r>
              <a:rPr lang="en-US" dirty="0"/>
              <a:t> le </a:t>
            </a:r>
            <a:r>
              <a:rPr lang="en-US" dirty="0" err="1"/>
              <a:t>saignement</a:t>
            </a:r>
            <a:r>
              <a:rPr lang="en-US" dirty="0"/>
              <a:t>, </a:t>
            </a:r>
            <a:r>
              <a:rPr lang="en-US" dirty="0" err="1"/>
              <a:t>l’hyperkaliémie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la </a:t>
            </a:r>
            <a:r>
              <a:rPr lang="en-US" dirty="0" err="1"/>
              <a:t>toxicité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Notre </a:t>
            </a:r>
            <a:r>
              <a:rPr lang="en-US" dirty="0" err="1"/>
              <a:t>système</a:t>
            </a:r>
            <a:r>
              <a:rPr lang="en-US" dirty="0"/>
              <a:t> doit </a:t>
            </a:r>
            <a:r>
              <a:rPr lang="en-US" dirty="0" err="1"/>
              <a:t>donc</a:t>
            </a:r>
            <a:r>
              <a:rPr lang="en-US" dirty="0"/>
              <a:t> faire trois choses : </a:t>
            </a:r>
            <a:r>
              <a:rPr lang="en-US" dirty="0" err="1"/>
              <a:t>détecter</a:t>
            </a:r>
            <a:r>
              <a:rPr lang="en-US" dirty="0"/>
              <a:t> </a:t>
            </a:r>
            <a:r>
              <a:rPr lang="en-US" dirty="0" err="1"/>
              <a:t>ces</a:t>
            </a:r>
            <a:r>
              <a:rPr lang="en-US" dirty="0"/>
              <a:t> associations, les </a:t>
            </a:r>
            <a:r>
              <a:rPr lang="en-US" dirty="0" err="1"/>
              <a:t>hiérarchiser</a:t>
            </a:r>
            <a:r>
              <a:rPr lang="en-US" dirty="0"/>
              <a:t> </a:t>
            </a:r>
            <a:r>
              <a:rPr lang="en-US" dirty="0" err="1"/>
              <a:t>selon</a:t>
            </a:r>
            <a:r>
              <a:rPr lang="en-US" dirty="0"/>
              <a:t> </a:t>
            </a:r>
            <a:r>
              <a:rPr lang="en-US" dirty="0" err="1"/>
              <a:t>l’échelle</a:t>
            </a:r>
            <a:r>
              <a:rPr lang="en-US" dirty="0"/>
              <a:t> de </a:t>
            </a:r>
            <a:r>
              <a:rPr lang="en-US" dirty="0" err="1"/>
              <a:t>gravité</a:t>
            </a:r>
            <a:r>
              <a:rPr lang="en-US" dirty="0"/>
              <a:t> de </a:t>
            </a:r>
            <a:r>
              <a:rPr lang="en-US" dirty="0" err="1"/>
              <a:t>l’ANSM</a:t>
            </a:r>
            <a:r>
              <a:rPr lang="en-US" dirty="0"/>
              <a:t>, de 1 à 4, et </a:t>
            </a:r>
            <a:r>
              <a:rPr lang="en-US" dirty="0" err="1"/>
              <a:t>expliquer</a:t>
            </a:r>
            <a:r>
              <a:rPr lang="en-US" dirty="0"/>
              <a:t>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alerte</a:t>
            </a:r>
            <a:r>
              <a:rPr lang="en-US" dirty="0"/>
              <a:t> avec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règle</a:t>
            </a:r>
            <a:r>
              <a:rPr lang="en-US" dirty="0"/>
              <a:t>, </a:t>
            </a:r>
            <a:r>
              <a:rPr lang="en-US" dirty="0" err="1"/>
              <a:t>sa</a:t>
            </a:r>
            <a:r>
              <a:rPr lang="en-US" dirty="0"/>
              <a:t> source et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preuve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La </a:t>
            </a:r>
            <a:r>
              <a:rPr lang="en-US" dirty="0" err="1"/>
              <a:t>difficulté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la fatigue </a:t>
            </a:r>
            <a:r>
              <a:rPr lang="en-US" dirty="0" err="1"/>
              <a:t>d’alerte</a:t>
            </a:r>
            <a:r>
              <a:rPr lang="en-US" dirty="0"/>
              <a:t> : </a:t>
            </a:r>
            <a:r>
              <a:rPr lang="en-US" dirty="0" err="1"/>
              <a:t>si</a:t>
            </a:r>
            <a:r>
              <a:rPr lang="en-US" dirty="0"/>
              <a:t> un </a:t>
            </a:r>
            <a:r>
              <a:rPr lang="en-US" dirty="0" err="1"/>
              <a:t>logiciel</a:t>
            </a:r>
            <a:r>
              <a:rPr lang="en-US" dirty="0"/>
              <a:t> </a:t>
            </a:r>
            <a:r>
              <a:rPr lang="en-US" dirty="0" err="1"/>
              <a:t>alerte</a:t>
            </a:r>
            <a:r>
              <a:rPr lang="en-US" dirty="0"/>
              <a:t> trop </a:t>
            </a:r>
            <a:r>
              <a:rPr lang="en-US" dirty="0" err="1"/>
              <a:t>souvent</a:t>
            </a:r>
            <a:r>
              <a:rPr lang="en-US" dirty="0"/>
              <a:t>, le </a:t>
            </a:r>
            <a:r>
              <a:rPr lang="en-US" dirty="0" err="1"/>
              <a:t>prescripteur</a:t>
            </a:r>
            <a:r>
              <a:rPr lang="en-US" dirty="0"/>
              <a:t> </a:t>
            </a:r>
            <a:r>
              <a:rPr lang="en-US" dirty="0" err="1"/>
              <a:t>finit</a:t>
            </a:r>
            <a:r>
              <a:rPr lang="en-US" dirty="0"/>
              <a:t> par ignorer </a:t>
            </a:r>
            <a:r>
              <a:rPr lang="en-US" dirty="0" err="1"/>
              <a:t>toutes</a:t>
            </a:r>
            <a:r>
              <a:rPr lang="en-US" dirty="0"/>
              <a:t> les </a:t>
            </a:r>
            <a:r>
              <a:rPr lang="en-US" dirty="0" err="1"/>
              <a:t>alertes</a:t>
            </a:r>
            <a:r>
              <a:rPr lang="en-US" dirty="0"/>
              <a:t>, </a:t>
            </a:r>
            <a:r>
              <a:rPr lang="en-US" dirty="0" err="1"/>
              <a:t>même</a:t>
            </a:r>
            <a:r>
              <a:rPr lang="en-US" dirty="0"/>
              <a:t> les plus graves.</a:t>
            </a:r>
            <a:br>
              <a:rPr lang="en-US" dirty="0">
                <a:cs typeface="+mn-lt"/>
              </a:rPr>
            </a:br>
            <a:r>
              <a:rPr lang="en-US" dirty="0"/>
              <a:t>Pour </a:t>
            </a:r>
            <a:r>
              <a:rPr lang="en-US" dirty="0" err="1"/>
              <a:t>connaître</a:t>
            </a:r>
            <a:r>
              <a:rPr lang="en-US" dirty="0"/>
              <a:t> les </a:t>
            </a:r>
            <a:r>
              <a:rPr lang="en-US" dirty="0" err="1"/>
              <a:t>médicaments</a:t>
            </a:r>
            <a:r>
              <a:rPr lang="en-US" dirty="0"/>
              <a:t>, nous </a:t>
            </a:r>
            <a:r>
              <a:rPr lang="en-US" dirty="0" err="1"/>
              <a:t>nous</a:t>
            </a:r>
            <a:r>
              <a:rPr lang="en-US" dirty="0"/>
              <a:t> </a:t>
            </a:r>
            <a:r>
              <a:rPr lang="en-US" dirty="0" err="1"/>
              <a:t>sommes</a:t>
            </a:r>
            <a:r>
              <a:rPr lang="en-US" dirty="0"/>
              <a:t> </a:t>
            </a:r>
            <a:r>
              <a:rPr lang="en-US" dirty="0" err="1"/>
              <a:t>appuyés</a:t>
            </a:r>
            <a:r>
              <a:rPr lang="en-US" dirty="0"/>
              <a:t> sur </a:t>
            </a:r>
            <a:r>
              <a:rPr lang="en-US" dirty="0" err="1"/>
              <a:t>Hetionet</a:t>
            </a:r>
            <a:r>
              <a:rPr lang="en-US" dirty="0"/>
              <a:t>.</a:t>
            </a:r>
            <a:endParaRPr lang="fr-FR" dirty="0"/>
          </a:p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Hetionet</a:t>
            </a:r>
            <a:r>
              <a:rPr lang="en-US" dirty="0"/>
              <a:t> est un </a:t>
            </a:r>
            <a:r>
              <a:rPr lang="en-US" dirty="0" err="1"/>
              <a:t>graphe</a:t>
            </a:r>
            <a:r>
              <a:rPr lang="en-US" dirty="0"/>
              <a:t> </a:t>
            </a:r>
            <a:r>
              <a:rPr lang="en-US" dirty="0" err="1"/>
              <a:t>biomédical</a:t>
            </a:r>
            <a:r>
              <a:rPr lang="en-US" dirty="0"/>
              <a:t> public. Sur </a:t>
            </a:r>
            <a:r>
              <a:rPr lang="en-US" dirty="0" err="1"/>
              <a:t>ses</a:t>
            </a:r>
            <a:r>
              <a:rPr lang="en-US" dirty="0"/>
              <a:t> 47 031 </a:t>
            </a:r>
            <a:r>
              <a:rPr lang="en-US" dirty="0" err="1"/>
              <a:t>nœuds</a:t>
            </a:r>
            <a:r>
              <a:rPr lang="en-US" dirty="0"/>
              <a:t>, nous </a:t>
            </a:r>
            <a:r>
              <a:rPr lang="en-US" dirty="0" err="1"/>
              <a:t>avons</a:t>
            </a:r>
            <a:r>
              <a:rPr lang="en-US" dirty="0"/>
              <a:t> </a:t>
            </a:r>
            <a:r>
              <a:rPr lang="en-US" dirty="0" err="1"/>
              <a:t>gardé</a:t>
            </a:r>
            <a:r>
              <a:rPr lang="en-US" dirty="0"/>
              <a:t> les 9 364 </a:t>
            </a:r>
            <a:r>
              <a:rPr lang="en-US" dirty="0" err="1"/>
              <a:t>utiles</a:t>
            </a:r>
            <a:r>
              <a:rPr lang="en-US" dirty="0"/>
              <a:t> à </a:t>
            </a:r>
            <a:r>
              <a:rPr lang="en-US" dirty="0" err="1"/>
              <a:t>notre</a:t>
            </a:r>
            <a:r>
              <a:rPr lang="en-US" dirty="0"/>
              <a:t> </a:t>
            </a:r>
            <a:r>
              <a:rPr lang="en-US" dirty="0" err="1"/>
              <a:t>problème</a:t>
            </a:r>
            <a:r>
              <a:rPr lang="en-US" dirty="0"/>
              <a:t> : les </a:t>
            </a:r>
            <a:r>
              <a:rPr lang="en-US" dirty="0" err="1"/>
              <a:t>médicaments</a:t>
            </a:r>
            <a:r>
              <a:rPr lang="en-US" dirty="0"/>
              <a:t>, </a:t>
            </a:r>
            <a:r>
              <a:rPr lang="en-US" dirty="0" err="1"/>
              <a:t>leurs</a:t>
            </a:r>
            <a:r>
              <a:rPr lang="en-US" dirty="0"/>
              <a:t> classes </a:t>
            </a:r>
            <a:r>
              <a:rPr lang="en-US" dirty="0" err="1"/>
              <a:t>pharmacologiques</a:t>
            </a:r>
            <a:r>
              <a:rPr lang="en-US" dirty="0"/>
              <a:t>, </a:t>
            </a:r>
            <a:r>
              <a:rPr lang="en-US" dirty="0" err="1"/>
              <a:t>leurs</a:t>
            </a:r>
            <a:r>
              <a:rPr lang="en-US" dirty="0"/>
              <a:t> </a:t>
            </a:r>
            <a:r>
              <a:rPr lang="en-US" dirty="0" err="1"/>
              <a:t>cibles</a:t>
            </a:r>
            <a:r>
              <a:rPr lang="en-US" dirty="0"/>
              <a:t> et </a:t>
            </a:r>
            <a:r>
              <a:rPr lang="en-US" dirty="0" err="1"/>
              <a:t>leurs</a:t>
            </a:r>
            <a:r>
              <a:rPr lang="en-US" dirty="0"/>
              <a:t> </a:t>
            </a:r>
            <a:r>
              <a:rPr lang="en-US" dirty="0" err="1"/>
              <a:t>effets</a:t>
            </a:r>
            <a:r>
              <a:rPr lang="en-US" dirty="0"/>
              <a:t> </a:t>
            </a:r>
            <a:r>
              <a:rPr lang="en-US" dirty="0" err="1"/>
              <a:t>indésirables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Mais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graphe</a:t>
            </a:r>
            <a:r>
              <a:rPr lang="en-US" dirty="0"/>
              <a:t> est </a:t>
            </a:r>
            <a:r>
              <a:rPr lang="en-US" dirty="0" err="1"/>
              <a:t>incomplet</a:t>
            </a:r>
            <a:r>
              <a:rPr lang="en-US" dirty="0"/>
              <a:t> pour </a:t>
            </a:r>
            <a:r>
              <a:rPr lang="en-US" dirty="0" err="1"/>
              <a:t>notre</a:t>
            </a:r>
            <a:r>
              <a:rPr lang="en-US" dirty="0"/>
              <a:t> usage. </a:t>
            </a:r>
            <a:r>
              <a:rPr lang="en-US" dirty="0" err="1"/>
              <a:t>Seulement</a:t>
            </a:r>
            <a:r>
              <a:rPr lang="en-US" dirty="0"/>
              <a:t> 47 % des </a:t>
            </a:r>
            <a:r>
              <a:rPr lang="en-US" dirty="0" err="1"/>
              <a:t>médicaments</a:t>
            </a:r>
            <a:r>
              <a:rPr lang="en-US" dirty="0"/>
              <a:t> y </a:t>
            </a:r>
            <a:r>
              <a:rPr lang="en-US" dirty="0" err="1"/>
              <a:t>ont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: les </a:t>
            </a:r>
            <a:r>
              <a:rPr lang="en-US" dirty="0" err="1"/>
              <a:t>statines</a:t>
            </a:r>
            <a:r>
              <a:rPr lang="en-US" dirty="0"/>
              <a:t>, les IEC </a:t>
            </a:r>
            <a:r>
              <a:rPr lang="en-US" dirty="0" err="1"/>
              <a:t>ou</a:t>
            </a:r>
            <a:r>
              <a:rPr lang="en-US" dirty="0"/>
              <a:t> le potassium </a:t>
            </a:r>
            <a:r>
              <a:rPr lang="en-US" dirty="0" err="1"/>
              <a:t>n’en</a:t>
            </a:r>
            <a:r>
              <a:rPr lang="en-US" dirty="0"/>
              <a:t> </a:t>
            </a:r>
            <a:r>
              <a:rPr lang="en-US" dirty="0" err="1"/>
              <a:t>ont</a:t>
            </a:r>
            <a:r>
              <a:rPr lang="en-US" dirty="0"/>
              <a:t> pas. Et la </a:t>
            </a:r>
            <a:r>
              <a:rPr lang="en-US" dirty="0" err="1"/>
              <a:t>warfarine</a:t>
            </a:r>
            <a:r>
              <a:rPr lang="en-US" dirty="0"/>
              <a:t>, un anticoagulant très à </a:t>
            </a:r>
            <a:r>
              <a:rPr lang="en-US" dirty="0" err="1"/>
              <a:t>risque</a:t>
            </a:r>
            <a:r>
              <a:rPr lang="en-US" dirty="0"/>
              <a:t>, </a:t>
            </a:r>
            <a:r>
              <a:rPr lang="en-US" dirty="0" err="1"/>
              <a:t>n’a</a:t>
            </a:r>
            <a:r>
              <a:rPr lang="en-US" dirty="0"/>
              <a:t> </a:t>
            </a:r>
            <a:r>
              <a:rPr lang="en-US" dirty="0" err="1"/>
              <a:t>aucun</a:t>
            </a:r>
            <a:r>
              <a:rPr lang="en-US" dirty="0"/>
              <a:t> </a:t>
            </a:r>
            <a:r>
              <a:rPr lang="en-US" dirty="0" err="1"/>
              <a:t>effet</a:t>
            </a:r>
            <a:r>
              <a:rPr lang="en-US" dirty="0"/>
              <a:t> </a:t>
            </a:r>
            <a:r>
              <a:rPr lang="en-US" dirty="0" err="1"/>
              <a:t>indésirable</a:t>
            </a:r>
            <a:r>
              <a:rPr lang="en-US" dirty="0"/>
              <a:t> dans le </a:t>
            </a:r>
            <a:r>
              <a:rPr lang="en-US" dirty="0" err="1"/>
              <a:t>graphe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Nous </a:t>
            </a:r>
            <a:r>
              <a:rPr lang="en-US" dirty="0" err="1"/>
              <a:t>avons</a:t>
            </a:r>
            <a:r>
              <a:rPr lang="en-US" dirty="0"/>
              <a:t> </a:t>
            </a:r>
            <a:r>
              <a:rPr lang="en-US" dirty="0" err="1"/>
              <a:t>donc</a:t>
            </a:r>
            <a:r>
              <a:rPr lang="en-US" dirty="0"/>
              <a:t> </a:t>
            </a:r>
            <a:r>
              <a:rPr lang="en-US" dirty="0" err="1"/>
              <a:t>ajouté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propres</a:t>
            </a:r>
            <a:r>
              <a:rPr lang="en-US" dirty="0"/>
              <a:t> </a:t>
            </a:r>
            <a:r>
              <a:rPr lang="en-US" dirty="0" err="1"/>
              <a:t>connaissances</a:t>
            </a:r>
            <a:r>
              <a:rPr lang="en-US" dirty="0"/>
              <a:t>, </a:t>
            </a:r>
            <a:r>
              <a:rPr lang="en-US" dirty="0" err="1"/>
              <a:t>toutes</a:t>
            </a:r>
            <a:r>
              <a:rPr lang="en-US" dirty="0"/>
              <a:t> </a:t>
            </a:r>
            <a:r>
              <a:rPr lang="en-US" dirty="0" err="1"/>
              <a:t>sourcées</a:t>
            </a:r>
            <a:r>
              <a:rPr lang="en-US" dirty="0"/>
              <a:t> : </a:t>
            </a:r>
            <a:r>
              <a:rPr lang="en-US" dirty="0" err="1"/>
              <a:t>une</a:t>
            </a:r>
            <a:r>
              <a:rPr lang="en-US" dirty="0"/>
              <a:t> table de 28 classes issue de la classification ATC de </a:t>
            </a:r>
            <a:r>
              <a:rPr lang="en-US" dirty="0" err="1"/>
              <a:t>l’OMS</a:t>
            </a:r>
            <a:r>
              <a:rPr lang="en-US" dirty="0"/>
              <a:t>, un </a:t>
            </a:r>
            <a:r>
              <a:rPr lang="en-US" dirty="0" err="1"/>
              <a:t>dictionnaire</a:t>
            </a:r>
            <a:r>
              <a:rPr lang="en-US" dirty="0"/>
              <a:t> de </a:t>
            </a:r>
            <a:r>
              <a:rPr lang="en-US" dirty="0" err="1"/>
              <a:t>synonymes</a:t>
            </a:r>
            <a:r>
              <a:rPr lang="en-US" dirty="0"/>
              <a:t> pour les noms français et </a:t>
            </a:r>
            <a:r>
              <a:rPr lang="en-US" dirty="0" err="1"/>
              <a:t>commerciaux</a:t>
            </a:r>
            <a:r>
              <a:rPr lang="en-US" dirty="0"/>
              <a:t>,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 de 17 </a:t>
            </a:r>
            <a:r>
              <a:rPr lang="en-US" dirty="0" err="1"/>
              <a:t>effets</a:t>
            </a:r>
            <a:r>
              <a:rPr lang="en-US" dirty="0"/>
              <a:t> graves et 14 </a:t>
            </a:r>
            <a:r>
              <a:rPr lang="en-US" dirty="0" err="1"/>
              <a:t>médicaments</a:t>
            </a:r>
            <a:r>
              <a:rPr lang="en-US" dirty="0"/>
              <a:t> à marge </a:t>
            </a:r>
            <a:r>
              <a:rPr lang="en-US" dirty="0" err="1"/>
              <a:t>thérapeutique</a:t>
            </a:r>
            <a:r>
              <a:rPr lang="en-US" dirty="0"/>
              <a:t> </a:t>
            </a:r>
            <a:r>
              <a:rPr lang="en-US" dirty="0" err="1"/>
              <a:t>étroite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Le message </a:t>
            </a:r>
            <a:r>
              <a:rPr lang="en-US" dirty="0" err="1"/>
              <a:t>clé</a:t>
            </a:r>
            <a:r>
              <a:rPr lang="en-US" dirty="0"/>
              <a:t> : dans un </a:t>
            </a:r>
            <a:r>
              <a:rPr lang="en-US" dirty="0" err="1"/>
              <a:t>graphe</a:t>
            </a:r>
            <a:r>
              <a:rPr lang="en-US" dirty="0"/>
              <a:t>, </a:t>
            </a:r>
            <a:r>
              <a:rPr lang="en-US" dirty="0" err="1"/>
              <a:t>l’absence</a:t>
            </a:r>
            <a:r>
              <a:rPr lang="en-US" dirty="0"/>
              <a:t> d’un lien ne </a:t>
            </a:r>
            <a:r>
              <a:rPr lang="en-US" dirty="0" err="1"/>
              <a:t>veut</a:t>
            </a:r>
            <a:r>
              <a:rPr lang="en-US" dirty="0"/>
              <a:t> pas dire </a:t>
            </a:r>
            <a:r>
              <a:rPr lang="en-US" dirty="0" err="1"/>
              <a:t>l’absence</a:t>
            </a:r>
            <a:r>
              <a:rPr lang="en-US" dirty="0"/>
              <a:t> de </a:t>
            </a:r>
            <a:r>
              <a:rPr lang="en-US" dirty="0" err="1"/>
              <a:t>risque</a:t>
            </a:r>
            <a:r>
              <a:rPr lang="en-US" dirty="0"/>
              <a:t>.</a:t>
            </a:r>
            <a:endParaRPr lang="fr-FR" dirty="0"/>
          </a:p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Voici</a:t>
            </a:r>
            <a:r>
              <a:rPr lang="en-US" dirty="0"/>
              <a:t> le </a:t>
            </a:r>
            <a:r>
              <a:rPr lang="en-US" dirty="0" err="1"/>
              <a:t>fonctionnement</a:t>
            </a:r>
            <a:r>
              <a:rPr lang="en-US" dirty="0"/>
              <a:t> du </a:t>
            </a:r>
            <a:r>
              <a:rPr lang="en-US" dirty="0" err="1"/>
              <a:t>système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Il </a:t>
            </a:r>
            <a:r>
              <a:rPr lang="en-US" dirty="0" err="1"/>
              <a:t>reçoit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ordonnance et commence par </a:t>
            </a:r>
            <a:r>
              <a:rPr lang="en-US" dirty="0" err="1"/>
              <a:t>reconnaître</a:t>
            </a:r>
            <a:r>
              <a:rPr lang="en-US" dirty="0"/>
              <a:t> les noms des </a:t>
            </a:r>
            <a:r>
              <a:rPr lang="en-US" dirty="0" err="1"/>
              <a:t>médicaments</a:t>
            </a:r>
            <a:r>
              <a:rPr lang="en-US" dirty="0"/>
              <a:t>, y </a:t>
            </a:r>
            <a:r>
              <a:rPr lang="en-US" dirty="0" err="1"/>
              <a:t>compris</a:t>
            </a:r>
            <a:r>
              <a:rPr lang="en-US" dirty="0"/>
              <a:t> les noms </a:t>
            </a:r>
            <a:r>
              <a:rPr lang="en-US" dirty="0" err="1"/>
              <a:t>commerciaux</a:t>
            </a:r>
            <a:r>
              <a:rPr lang="en-US" dirty="0"/>
              <a:t> et les </a:t>
            </a:r>
            <a:r>
              <a:rPr lang="en-US" dirty="0" err="1"/>
              <a:t>fautes</a:t>
            </a:r>
            <a:r>
              <a:rPr lang="en-US" dirty="0"/>
              <a:t> de frappe, qui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signalées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Il examine ensuite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paire</a:t>
            </a:r>
            <a:r>
              <a:rPr lang="en-US" dirty="0"/>
              <a:t> de </a:t>
            </a:r>
            <a:r>
              <a:rPr lang="en-US" dirty="0" err="1"/>
              <a:t>médicaments</a:t>
            </a:r>
            <a:r>
              <a:rPr lang="en-US" dirty="0"/>
              <a:t> et </a:t>
            </a:r>
            <a:r>
              <a:rPr lang="en-US" dirty="0" err="1"/>
              <a:t>lui</a:t>
            </a:r>
            <a:r>
              <a:rPr lang="en-US" dirty="0"/>
              <a:t> applique deux </a:t>
            </a:r>
            <a:r>
              <a:rPr lang="en-US" dirty="0" err="1"/>
              <a:t>familles</a:t>
            </a:r>
            <a:r>
              <a:rPr lang="en-US" dirty="0"/>
              <a:t> de </a:t>
            </a:r>
            <a:r>
              <a:rPr lang="en-US" dirty="0" err="1"/>
              <a:t>règles</a:t>
            </a:r>
            <a:r>
              <a:rPr lang="en-US" dirty="0"/>
              <a:t> : des </a:t>
            </a:r>
            <a:r>
              <a:rPr lang="en-US" dirty="0" err="1"/>
              <a:t>règles</a:t>
            </a:r>
            <a:r>
              <a:rPr lang="en-US" dirty="0"/>
              <a:t> </a:t>
            </a:r>
            <a:r>
              <a:rPr lang="en-US" dirty="0" err="1"/>
              <a:t>expertes</a:t>
            </a:r>
            <a:r>
              <a:rPr lang="en-US" dirty="0"/>
              <a:t>, et des </a:t>
            </a:r>
            <a:r>
              <a:rPr lang="en-US" dirty="0" err="1"/>
              <a:t>règles</a:t>
            </a:r>
            <a:r>
              <a:rPr lang="en-US" dirty="0"/>
              <a:t> qui </a:t>
            </a:r>
            <a:r>
              <a:rPr lang="en-US" dirty="0" err="1"/>
              <a:t>exploitent</a:t>
            </a:r>
            <a:r>
              <a:rPr lang="en-US" dirty="0"/>
              <a:t> </a:t>
            </a:r>
            <a:r>
              <a:rPr lang="en-US" dirty="0" err="1"/>
              <a:t>directement</a:t>
            </a:r>
            <a:r>
              <a:rPr lang="en-US" dirty="0"/>
              <a:t> le </a:t>
            </a:r>
            <a:r>
              <a:rPr lang="en-US" dirty="0" err="1"/>
              <a:t>graphe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Vient ensuite le </a:t>
            </a:r>
            <a:r>
              <a:rPr lang="en-US" dirty="0" err="1"/>
              <a:t>filtre</a:t>
            </a:r>
            <a:r>
              <a:rPr lang="en-US" dirty="0"/>
              <a:t> anti-fatigue : les </a:t>
            </a:r>
            <a:r>
              <a:rPr lang="en-US" dirty="0" err="1"/>
              <a:t>règles</a:t>
            </a:r>
            <a:r>
              <a:rPr lang="en-US" dirty="0"/>
              <a:t> </a:t>
            </a:r>
            <a:r>
              <a:rPr lang="en-US" dirty="0" err="1"/>
              <a:t>expertes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toujours</a:t>
            </a:r>
            <a:r>
              <a:rPr lang="en-US" dirty="0"/>
              <a:t> </a:t>
            </a:r>
            <a:r>
              <a:rPr lang="en-US" dirty="0" err="1"/>
              <a:t>affichées</a:t>
            </a:r>
            <a:r>
              <a:rPr lang="en-US" dirty="0"/>
              <a:t>, </a:t>
            </a:r>
            <a:r>
              <a:rPr lang="en-US" dirty="0" err="1"/>
              <a:t>mais</a:t>
            </a:r>
            <a:r>
              <a:rPr lang="en-US" dirty="0"/>
              <a:t> les </a:t>
            </a:r>
            <a:r>
              <a:rPr lang="en-US" dirty="0" err="1"/>
              <a:t>signaux</a:t>
            </a:r>
            <a:r>
              <a:rPr lang="en-US" dirty="0"/>
              <a:t> du </a:t>
            </a:r>
            <a:r>
              <a:rPr lang="en-US" dirty="0" err="1"/>
              <a:t>graphe</a:t>
            </a:r>
            <a:r>
              <a:rPr lang="en-US" dirty="0"/>
              <a:t> ne le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s’ils</a:t>
            </a:r>
            <a:r>
              <a:rPr lang="en-US" dirty="0"/>
              <a:t> </a:t>
            </a:r>
            <a:r>
              <a:rPr lang="en-US" dirty="0" err="1"/>
              <a:t>atteignent</a:t>
            </a:r>
            <a:r>
              <a:rPr lang="en-US" dirty="0"/>
              <a:t> le </a:t>
            </a:r>
            <a:r>
              <a:rPr lang="en-US" dirty="0" err="1"/>
              <a:t>niveau</a:t>
            </a:r>
            <a:r>
              <a:rPr lang="en-US" dirty="0"/>
              <a:t> 2.</a:t>
            </a:r>
            <a:br>
              <a:rPr lang="en-US" dirty="0">
                <a:cs typeface="+mn-lt"/>
              </a:rPr>
            </a:br>
            <a:r>
              <a:rPr lang="en-US" dirty="0"/>
              <a:t>À la fin, les </a:t>
            </a:r>
            <a:r>
              <a:rPr lang="en-US" dirty="0" err="1"/>
              <a:t>alertes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triées</a:t>
            </a:r>
            <a:r>
              <a:rPr lang="en-US" dirty="0"/>
              <a:t> par </a:t>
            </a:r>
            <a:r>
              <a:rPr lang="en-US" dirty="0" err="1"/>
              <a:t>gravité</a:t>
            </a:r>
            <a:r>
              <a:rPr lang="en-US" dirty="0"/>
              <a:t>, </a:t>
            </a:r>
            <a:r>
              <a:rPr lang="en-US" dirty="0" err="1"/>
              <a:t>chacune</a:t>
            </a:r>
            <a:r>
              <a:rPr lang="en-US" dirty="0"/>
              <a:t> avec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règle</a:t>
            </a:r>
            <a:r>
              <a:rPr lang="en-US" dirty="0"/>
              <a:t>, </a:t>
            </a:r>
            <a:r>
              <a:rPr lang="en-US" dirty="0" err="1"/>
              <a:t>sa</a:t>
            </a:r>
            <a:r>
              <a:rPr lang="en-US" dirty="0"/>
              <a:t> source et son chemin dans le </a:t>
            </a:r>
            <a:r>
              <a:rPr lang="en-US" dirty="0" err="1"/>
              <a:t>graphe</a:t>
            </a:r>
            <a:r>
              <a:rPr lang="en-US" dirty="0"/>
              <a:t>. Et un </a:t>
            </a:r>
            <a:r>
              <a:rPr lang="en-US" dirty="0" err="1"/>
              <a:t>médicament</a:t>
            </a:r>
            <a:r>
              <a:rPr lang="en-US" dirty="0"/>
              <a:t> inconnu est </a:t>
            </a:r>
            <a:r>
              <a:rPr lang="en-US" dirty="0" err="1"/>
              <a:t>toujours</a:t>
            </a:r>
            <a:r>
              <a:rPr lang="en-US" dirty="0"/>
              <a:t> </a:t>
            </a:r>
            <a:r>
              <a:rPr lang="en-US" dirty="0" err="1"/>
              <a:t>signalé</a:t>
            </a:r>
            <a:r>
              <a:rPr lang="en-US" dirty="0"/>
              <a:t>, jamais </a:t>
            </a:r>
            <a:r>
              <a:rPr lang="en-US" dirty="0" err="1"/>
              <a:t>ignoré</a:t>
            </a:r>
            <a:r>
              <a:rPr lang="en-US" dirty="0"/>
              <a:t>.</a:t>
            </a:r>
            <a:endParaRPr lang="fr-FR" dirty="0"/>
          </a:p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Concrètement</a:t>
            </a:r>
            <a:r>
              <a:rPr lang="en-US" dirty="0"/>
              <a:t>, nous </a:t>
            </a:r>
            <a:r>
              <a:rPr lang="en-US" dirty="0" err="1"/>
              <a:t>avons</a:t>
            </a:r>
            <a:r>
              <a:rPr lang="en-US" dirty="0"/>
              <a:t> 24 </a:t>
            </a:r>
            <a:r>
              <a:rPr lang="en-US" dirty="0" err="1"/>
              <a:t>règles</a:t>
            </a:r>
            <a:r>
              <a:rPr lang="en-US" dirty="0"/>
              <a:t> </a:t>
            </a:r>
            <a:r>
              <a:rPr lang="en-US" dirty="0" err="1"/>
              <a:t>expertes</a:t>
            </a:r>
            <a:r>
              <a:rPr lang="en-US" dirty="0"/>
              <a:t> et 3 </a:t>
            </a:r>
            <a:r>
              <a:rPr lang="en-US" dirty="0" err="1"/>
              <a:t>règles</a:t>
            </a:r>
            <a:r>
              <a:rPr lang="en-US" dirty="0"/>
              <a:t> issues du </a:t>
            </a:r>
            <a:r>
              <a:rPr lang="en-US" dirty="0" err="1"/>
              <a:t>graphe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Les </a:t>
            </a:r>
            <a:r>
              <a:rPr lang="en-US" dirty="0" err="1"/>
              <a:t>règles</a:t>
            </a:r>
            <a:r>
              <a:rPr lang="en-US" dirty="0"/>
              <a:t> R01 à R18 </a:t>
            </a:r>
            <a:r>
              <a:rPr lang="en-US" dirty="0" err="1"/>
              <a:t>couvrent</a:t>
            </a:r>
            <a:r>
              <a:rPr lang="en-US" dirty="0"/>
              <a:t> des associations </a:t>
            </a:r>
            <a:r>
              <a:rPr lang="en-US" dirty="0" err="1"/>
              <a:t>connues</a:t>
            </a:r>
            <a:r>
              <a:rPr lang="en-US" dirty="0"/>
              <a:t> entre classes : par </a:t>
            </a:r>
            <a:r>
              <a:rPr lang="en-US" dirty="0" err="1"/>
              <a:t>exemple</a:t>
            </a:r>
            <a:r>
              <a:rPr lang="en-US" dirty="0"/>
              <a:t> un anticoagulant AVK avec un anti-</a:t>
            </a:r>
            <a:r>
              <a:rPr lang="en-US" dirty="0" err="1"/>
              <a:t>inflammatoire</a:t>
            </a:r>
            <a:r>
              <a:rPr lang="en-US" dirty="0"/>
              <a:t>,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statine</a:t>
            </a:r>
            <a:r>
              <a:rPr lang="en-US" dirty="0"/>
              <a:t> avec un </a:t>
            </a:r>
            <a:r>
              <a:rPr lang="en-US" dirty="0" err="1"/>
              <a:t>inhibiteur</a:t>
            </a:r>
            <a:r>
              <a:rPr lang="en-US" dirty="0"/>
              <a:t> du CYP3A4, </a:t>
            </a:r>
            <a:r>
              <a:rPr lang="en-US" dirty="0" err="1"/>
              <a:t>ou</a:t>
            </a:r>
            <a:r>
              <a:rPr lang="en-US" dirty="0"/>
              <a:t> un </a:t>
            </a:r>
            <a:r>
              <a:rPr lang="en-US" dirty="0" err="1"/>
              <a:t>dérivé</a:t>
            </a:r>
            <a:r>
              <a:rPr lang="en-US" dirty="0"/>
              <a:t> </a:t>
            </a:r>
            <a:r>
              <a:rPr lang="en-US" dirty="0" err="1"/>
              <a:t>nitré</a:t>
            </a:r>
            <a:r>
              <a:rPr lang="en-US" dirty="0"/>
              <a:t> avec le Viagra.</a:t>
            </a:r>
            <a:br>
              <a:rPr lang="en-US" dirty="0">
                <a:cs typeface="+mn-lt"/>
              </a:rPr>
            </a:br>
            <a:r>
              <a:rPr lang="en-US" dirty="0"/>
              <a:t>(Aziz :) Les </a:t>
            </a:r>
            <a:r>
              <a:rPr lang="en-US" dirty="0" err="1"/>
              <a:t>règles</a:t>
            </a:r>
            <a:r>
              <a:rPr lang="en-US" dirty="0"/>
              <a:t> R19 à R24 </a:t>
            </a:r>
            <a:r>
              <a:rPr lang="en-US" dirty="0" err="1"/>
              <a:t>viennent</a:t>
            </a:r>
            <a:r>
              <a:rPr lang="en-US" dirty="0"/>
              <a:t> de ma version : </a:t>
            </a:r>
            <a:r>
              <a:rPr lang="en-US" dirty="0" err="1"/>
              <a:t>antidépresseurs</a:t>
            </a:r>
            <a:r>
              <a:rPr lang="en-US" dirty="0"/>
              <a:t> ISRS avec AINS </a:t>
            </a:r>
            <a:r>
              <a:rPr lang="en-US" dirty="0" err="1"/>
              <a:t>ou</a:t>
            </a:r>
            <a:r>
              <a:rPr lang="en-US" dirty="0"/>
              <a:t> anticoagulants, </a:t>
            </a:r>
            <a:r>
              <a:rPr lang="en-US" dirty="0" err="1"/>
              <a:t>digoxine</a:t>
            </a:r>
            <a:r>
              <a:rPr lang="en-US" dirty="0"/>
              <a:t> avec macrolides, et potassium avec les </a:t>
            </a:r>
            <a:r>
              <a:rPr lang="en-US" dirty="0" err="1"/>
              <a:t>diurétiques</a:t>
            </a:r>
            <a:r>
              <a:rPr lang="en-US" dirty="0"/>
              <a:t> </a:t>
            </a:r>
            <a:r>
              <a:rPr lang="en-US" dirty="0" err="1"/>
              <a:t>épargneurs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Les </a:t>
            </a:r>
            <a:r>
              <a:rPr lang="en-US" dirty="0" err="1"/>
              <a:t>règles</a:t>
            </a:r>
            <a:r>
              <a:rPr lang="en-US" dirty="0"/>
              <a:t> du </a:t>
            </a:r>
            <a:r>
              <a:rPr lang="en-US" dirty="0" err="1"/>
              <a:t>graphe</a:t>
            </a:r>
            <a:r>
              <a:rPr lang="en-US" dirty="0"/>
              <a:t>, </a:t>
            </a:r>
            <a:r>
              <a:rPr lang="en-US" dirty="0" err="1"/>
              <a:t>elles</a:t>
            </a:r>
            <a:r>
              <a:rPr lang="en-US" dirty="0"/>
              <a:t>, </a:t>
            </a:r>
            <a:r>
              <a:rPr lang="en-US" dirty="0" err="1"/>
              <a:t>détectent</a:t>
            </a:r>
            <a:r>
              <a:rPr lang="en-US" dirty="0"/>
              <a:t> des </a:t>
            </a:r>
            <a:r>
              <a:rPr lang="en-US" dirty="0" err="1"/>
              <a:t>mécanismes</a:t>
            </a:r>
            <a:r>
              <a:rPr lang="en-US" dirty="0"/>
              <a:t>. La </a:t>
            </a:r>
            <a:r>
              <a:rPr lang="en-US" dirty="0" err="1"/>
              <a:t>règle</a:t>
            </a:r>
            <a:r>
              <a:rPr lang="en-US" dirty="0"/>
              <a:t> G1 </a:t>
            </a:r>
            <a:r>
              <a:rPr lang="en-US" dirty="0" err="1"/>
              <a:t>repère</a:t>
            </a:r>
            <a:r>
              <a:rPr lang="en-US" dirty="0"/>
              <a:t> un </a:t>
            </a:r>
            <a:r>
              <a:rPr lang="en-US" dirty="0" err="1"/>
              <a:t>médicament</a:t>
            </a:r>
            <a:r>
              <a:rPr lang="en-US" dirty="0"/>
              <a:t> qui </a:t>
            </a:r>
            <a:r>
              <a:rPr lang="en-US" dirty="0" err="1"/>
              <a:t>bloque</a:t>
            </a:r>
            <a:r>
              <a:rPr lang="en-US" dirty="0"/>
              <a:t> </a:t>
            </a:r>
            <a:r>
              <a:rPr lang="en-US" dirty="0" err="1"/>
              <a:t>l’enzyme</a:t>
            </a:r>
            <a:r>
              <a:rPr lang="en-US" dirty="0"/>
              <a:t> </a:t>
            </a:r>
            <a:r>
              <a:rPr lang="en-US" dirty="0" err="1"/>
              <a:t>dont</a:t>
            </a:r>
            <a:r>
              <a:rPr lang="en-US" dirty="0"/>
              <a:t> un </a:t>
            </a:r>
            <a:r>
              <a:rPr lang="en-US" dirty="0" err="1"/>
              <a:t>autre</a:t>
            </a:r>
            <a:r>
              <a:rPr lang="en-US" dirty="0"/>
              <a:t> </a:t>
            </a:r>
            <a:r>
              <a:rPr lang="en-US" dirty="0" err="1"/>
              <a:t>dépend</a:t>
            </a:r>
            <a:r>
              <a:rPr lang="en-US" dirty="0"/>
              <a:t> ; </a:t>
            </a:r>
            <a:r>
              <a:rPr lang="en-US" dirty="0" err="1"/>
              <a:t>elle</a:t>
            </a:r>
            <a:r>
              <a:rPr lang="en-US" dirty="0"/>
              <a:t> ne monte au </a:t>
            </a:r>
            <a:r>
              <a:rPr lang="en-US" dirty="0" err="1"/>
              <a:t>niveau</a:t>
            </a:r>
            <a:r>
              <a:rPr lang="en-US" dirty="0"/>
              <a:t> 2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le second est à marge </a:t>
            </a:r>
            <a:r>
              <a:rPr lang="en-US" dirty="0" err="1"/>
              <a:t>étroite</a:t>
            </a:r>
            <a:r>
              <a:rPr lang="en-US" dirty="0"/>
              <a:t>. G2 et G3, </a:t>
            </a:r>
            <a:r>
              <a:rPr lang="en-US" dirty="0" err="1"/>
              <a:t>effet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cible</a:t>
            </a:r>
            <a:r>
              <a:rPr lang="en-US" dirty="0"/>
              <a:t> commune, </a:t>
            </a:r>
            <a:r>
              <a:rPr lang="en-US" dirty="0" err="1"/>
              <a:t>restent</a:t>
            </a:r>
            <a:r>
              <a:rPr lang="en-US" dirty="0"/>
              <a:t> des </a:t>
            </a:r>
            <a:r>
              <a:rPr lang="en-US" dirty="0" err="1"/>
              <a:t>signaux</a:t>
            </a:r>
            <a:r>
              <a:rPr lang="en-US" dirty="0"/>
              <a:t> </a:t>
            </a:r>
            <a:r>
              <a:rPr lang="en-US" dirty="0" err="1"/>
              <a:t>faibles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 err="1"/>
              <a:t>Toutes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règles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sourcées</a:t>
            </a:r>
            <a:r>
              <a:rPr lang="en-US" dirty="0"/>
              <a:t> : </a:t>
            </a:r>
            <a:r>
              <a:rPr lang="en-US" dirty="0" err="1"/>
              <a:t>Thésaurus</a:t>
            </a:r>
            <a:r>
              <a:rPr lang="en-US" dirty="0"/>
              <a:t> ANSM, classification ATC, notices EMA et FDA.</a:t>
            </a:r>
            <a:endParaRPr lang="fr-FR" dirty="0"/>
          </a:p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Voici</a:t>
            </a:r>
            <a:r>
              <a:rPr lang="en-US" dirty="0"/>
              <a:t> un </a:t>
            </a:r>
            <a:r>
              <a:rPr lang="en-US" dirty="0" err="1"/>
              <a:t>exemple</a:t>
            </a:r>
            <a:r>
              <a:rPr lang="en-US" dirty="0"/>
              <a:t> </a:t>
            </a:r>
            <a:r>
              <a:rPr lang="en-US" dirty="0" err="1"/>
              <a:t>concret</a:t>
            </a:r>
            <a:r>
              <a:rPr lang="en-US" dirty="0"/>
              <a:t>. On </a:t>
            </a:r>
            <a:r>
              <a:rPr lang="en-US" dirty="0" err="1"/>
              <a:t>saisit</a:t>
            </a:r>
            <a:r>
              <a:rPr lang="en-US" dirty="0"/>
              <a:t> </a:t>
            </a:r>
            <a:r>
              <a:rPr lang="en-US" dirty="0" err="1"/>
              <a:t>warfarine</a:t>
            </a:r>
            <a:r>
              <a:rPr lang="en-US" dirty="0"/>
              <a:t>, </a:t>
            </a:r>
            <a:r>
              <a:rPr lang="en-US" dirty="0" err="1"/>
              <a:t>ibuprofène</a:t>
            </a:r>
            <a:r>
              <a:rPr lang="en-US" dirty="0"/>
              <a:t> et </a:t>
            </a:r>
            <a:r>
              <a:rPr lang="en-US" dirty="0" err="1"/>
              <a:t>oméprazole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Le </a:t>
            </a:r>
            <a:r>
              <a:rPr lang="en-US" dirty="0" err="1"/>
              <a:t>système</a:t>
            </a:r>
            <a:r>
              <a:rPr lang="en-US" dirty="0"/>
              <a:t> </a:t>
            </a:r>
            <a:r>
              <a:rPr lang="en-US" dirty="0" err="1"/>
              <a:t>détecte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association </a:t>
            </a:r>
            <a:r>
              <a:rPr lang="en-US" dirty="0" err="1"/>
              <a:t>déconseillée</a:t>
            </a:r>
            <a:r>
              <a:rPr lang="en-US" dirty="0"/>
              <a:t> entre la </a:t>
            </a:r>
            <a:r>
              <a:rPr lang="en-US" dirty="0" err="1"/>
              <a:t>warfarine</a:t>
            </a:r>
            <a:r>
              <a:rPr lang="en-US" dirty="0"/>
              <a:t> et </a:t>
            </a:r>
            <a:r>
              <a:rPr lang="en-US" dirty="0" err="1"/>
              <a:t>l’ibuprofène</a:t>
            </a:r>
            <a:r>
              <a:rPr lang="en-US" dirty="0"/>
              <a:t> :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dirty="0" err="1"/>
              <a:t>règle</a:t>
            </a:r>
            <a:r>
              <a:rPr lang="en-US" dirty="0"/>
              <a:t> R01, qui </a:t>
            </a:r>
            <a:r>
              <a:rPr lang="en-US" dirty="0" err="1"/>
              <a:t>signale</a:t>
            </a:r>
            <a:r>
              <a:rPr lang="en-US" dirty="0"/>
              <a:t> un </a:t>
            </a:r>
            <a:r>
              <a:rPr lang="en-US" dirty="0" err="1"/>
              <a:t>risque</a:t>
            </a:r>
            <a:r>
              <a:rPr lang="en-US" dirty="0"/>
              <a:t> de </a:t>
            </a:r>
            <a:r>
              <a:rPr lang="en-US" dirty="0" err="1"/>
              <a:t>saignement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Et il </a:t>
            </a:r>
            <a:r>
              <a:rPr lang="en-US" dirty="0" err="1"/>
              <a:t>explique</a:t>
            </a:r>
            <a:r>
              <a:rPr lang="en-US" dirty="0"/>
              <a:t> </a:t>
            </a:r>
            <a:r>
              <a:rPr lang="en-US" dirty="0" err="1"/>
              <a:t>pourquoi</a:t>
            </a:r>
            <a:r>
              <a:rPr lang="en-US" dirty="0"/>
              <a:t> : la </a:t>
            </a:r>
            <a:r>
              <a:rPr lang="en-US" dirty="0" err="1"/>
              <a:t>warfarine</a:t>
            </a:r>
            <a:r>
              <a:rPr lang="en-US" dirty="0"/>
              <a:t> </a:t>
            </a:r>
            <a:r>
              <a:rPr lang="en-US" dirty="0" err="1"/>
              <a:t>appartient</a:t>
            </a:r>
            <a:r>
              <a:rPr lang="en-US" dirty="0"/>
              <a:t> à la </a:t>
            </a:r>
            <a:r>
              <a:rPr lang="en-US" dirty="0" err="1"/>
              <a:t>classe</a:t>
            </a:r>
            <a:r>
              <a:rPr lang="en-US" dirty="0"/>
              <a:t> des </a:t>
            </a:r>
            <a:r>
              <a:rPr lang="en-US" dirty="0" err="1"/>
              <a:t>antivitamines</a:t>
            </a:r>
            <a:r>
              <a:rPr lang="en-US" dirty="0"/>
              <a:t> K, </a:t>
            </a:r>
            <a:r>
              <a:rPr lang="en-US" dirty="0" err="1"/>
              <a:t>l’ibuprofène</a:t>
            </a:r>
            <a:r>
              <a:rPr lang="en-US" dirty="0"/>
              <a:t> à </a:t>
            </a:r>
            <a:r>
              <a:rPr lang="en-US" dirty="0" err="1"/>
              <a:t>celle</a:t>
            </a:r>
            <a:r>
              <a:rPr lang="en-US" dirty="0"/>
              <a:t> des anti-</a:t>
            </a:r>
            <a:r>
              <a:rPr lang="en-US" dirty="0" err="1"/>
              <a:t>inflammatoires</a:t>
            </a:r>
            <a:r>
              <a:rPr lang="en-US" dirty="0"/>
              <a:t>, </a:t>
            </a:r>
            <a:r>
              <a:rPr lang="en-US" dirty="0" err="1"/>
              <a:t>selon</a:t>
            </a:r>
            <a:r>
              <a:rPr lang="en-US" dirty="0"/>
              <a:t> le </a:t>
            </a:r>
            <a:r>
              <a:rPr lang="en-US" dirty="0" err="1"/>
              <a:t>graphe</a:t>
            </a:r>
            <a:r>
              <a:rPr lang="en-US" dirty="0"/>
              <a:t>. La source est le </a:t>
            </a:r>
            <a:r>
              <a:rPr lang="en-US" dirty="0" err="1"/>
              <a:t>Thésaurus</a:t>
            </a:r>
            <a:r>
              <a:rPr lang="en-US" dirty="0"/>
              <a:t> de </a:t>
            </a:r>
            <a:r>
              <a:rPr lang="en-US" dirty="0" err="1"/>
              <a:t>l’ANSM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Autre</a:t>
            </a:r>
            <a:r>
              <a:rPr lang="en-US" dirty="0"/>
              <a:t> point fort : un </a:t>
            </a:r>
            <a:r>
              <a:rPr lang="en-US" dirty="0" err="1"/>
              <a:t>médicament</a:t>
            </a:r>
            <a:r>
              <a:rPr lang="en-US" dirty="0"/>
              <a:t> </a:t>
            </a:r>
            <a:r>
              <a:rPr lang="en-US" dirty="0" err="1"/>
              <a:t>comme</a:t>
            </a:r>
            <a:r>
              <a:rPr lang="en-US" dirty="0"/>
              <a:t> le </a:t>
            </a:r>
            <a:r>
              <a:rPr lang="en-US" dirty="0" err="1"/>
              <a:t>Previscan</a:t>
            </a:r>
            <a:r>
              <a:rPr lang="en-US" dirty="0"/>
              <a:t>, absent du </a:t>
            </a:r>
            <a:r>
              <a:rPr lang="en-US" dirty="0" err="1"/>
              <a:t>graphe</a:t>
            </a:r>
            <a:r>
              <a:rPr lang="en-US" dirty="0"/>
              <a:t>, est </a:t>
            </a:r>
            <a:r>
              <a:rPr lang="en-US" dirty="0" err="1"/>
              <a:t>quand</a:t>
            </a:r>
            <a:r>
              <a:rPr lang="en-US" dirty="0"/>
              <a:t> </a:t>
            </a:r>
            <a:r>
              <a:rPr lang="en-US" dirty="0" err="1"/>
              <a:t>même</a:t>
            </a:r>
            <a:r>
              <a:rPr lang="en-US" dirty="0"/>
              <a:t> </a:t>
            </a:r>
            <a:r>
              <a:rPr lang="en-US" dirty="0" err="1"/>
              <a:t>reconnu</a:t>
            </a:r>
            <a:r>
              <a:rPr lang="en-US" dirty="0"/>
              <a:t> et </a:t>
            </a:r>
            <a:r>
              <a:rPr lang="en-US" dirty="0" err="1"/>
              <a:t>classé</a:t>
            </a:r>
            <a:r>
              <a:rPr lang="en-US" dirty="0"/>
              <a:t> grâce à </a:t>
            </a:r>
            <a:r>
              <a:rPr lang="en-US" dirty="0" err="1"/>
              <a:t>notre</a:t>
            </a:r>
            <a:r>
              <a:rPr lang="en-US" dirty="0"/>
              <a:t> table ATC.</a:t>
            </a:r>
            <a:endParaRPr lang="fr-FR" dirty="0"/>
          </a:p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</a:t>
            </a:r>
            <a:r>
              <a:rPr lang="en-US" dirty="0" err="1"/>
              <a:t>évaluer</a:t>
            </a:r>
            <a:r>
              <a:rPr lang="en-US" dirty="0"/>
              <a:t> le </a:t>
            </a:r>
            <a:r>
              <a:rPr lang="en-US" dirty="0" err="1"/>
              <a:t>système</a:t>
            </a:r>
            <a:r>
              <a:rPr lang="en-US" dirty="0"/>
              <a:t>, nous </a:t>
            </a:r>
            <a:r>
              <a:rPr lang="en-US" dirty="0" err="1"/>
              <a:t>avons</a:t>
            </a:r>
            <a:r>
              <a:rPr lang="en-US" dirty="0"/>
              <a:t> </a:t>
            </a:r>
            <a:r>
              <a:rPr lang="en-US" dirty="0" err="1"/>
              <a:t>réuni</a:t>
            </a:r>
            <a:r>
              <a:rPr lang="en-US" dirty="0"/>
              <a:t> 40 ordonnances, 20 </a:t>
            </a:r>
            <a:r>
              <a:rPr lang="en-US" dirty="0" err="1"/>
              <a:t>écrites</a:t>
            </a:r>
            <a:r>
              <a:rPr lang="en-US" dirty="0"/>
              <a:t> par chacun de nous, avec 54 associations à </a:t>
            </a:r>
            <a:r>
              <a:rPr lang="en-US" dirty="0" err="1"/>
              <a:t>risque</a:t>
            </a:r>
            <a:r>
              <a:rPr lang="en-US" dirty="0"/>
              <a:t> </a:t>
            </a:r>
            <a:r>
              <a:rPr lang="en-US" dirty="0" err="1"/>
              <a:t>attendues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Nous le </a:t>
            </a:r>
            <a:r>
              <a:rPr lang="en-US" dirty="0" err="1"/>
              <a:t>comparons</a:t>
            </a:r>
            <a:r>
              <a:rPr lang="en-US" dirty="0"/>
              <a:t> à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référence</a:t>
            </a:r>
            <a:r>
              <a:rPr lang="en-US" dirty="0"/>
              <a:t> non </a:t>
            </a:r>
            <a:r>
              <a:rPr lang="en-US" dirty="0" err="1"/>
              <a:t>hybride</a:t>
            </a:r>
            <a:r>
              <a:rPr lang="en-US" dirty="0"/>
              <a:t> : </a:t>
            </a:r>
            <a:r>
              <a:rPr lang="en-US" dirty="0" err="1"/>
              <a:t>une</a:t>
            </a:r>
            <a:r>
              <a:rPr lang="en-US" dirty="0"/>
              <a:t> simple </a:t>
            </a:r>
            <a:r>
              <a:rPr lang="en-US" dirty="0" err="1"/>
              <a:t>liste</a:t>
            </a:r>
            <a:r>
              <a:rPr lang="en-US" dirty="0"/>
              <a:t> de 26 associations </a:t>
            </a:r>
            <a:r>
              <a:rPr lang="en-US" dirty="0" err="1"/>
              <a:t>connues</a:t>
            </a:r>
            <a:r>
              <a:rPr lang="en-US" dirty="0"/>
              <a:t>, sans </a:t>
            </a:r>
            <a:r>
              <a:rPr lang="en-US" dirty="0" err="1"/>
              <a:t>graphe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classes.</a:t>
            </a:r>
            <a:br>
              <a:rPr lang="en-US" dirty="0">
                <a:cs typeface="+mn-lt"/>
              </a:rPr>
            </a:br>
            <a:r>
              <a:rPr lang="en-US" dirty="0"/>
              <a:t>Nous </a:t>
            </a:r>
            <a:r>
              <a:rPr lang="en-US" dirty="0" err="1"/>
              <a:t>mesurons</a:t>
            </a:r>
            <a:r>
              <a:rPr lang="en-US" dirty="0"/>
              <a:t> la </a:t>
            </a:r>
            <a:r>
              <a:rPr lang="en-US" dirty="0" err="1"/>
              <a:t>précision</a:t>
            </a:r>
            <a:r>
              <a:rPr lang="en-US" dirty="0"/>
              <a:t>, le rappel, le F1, le </a:t>
            </a:r>
            <a:r>
              <a:rPr lang="en-US" dirty="0" err="1"/>
              <a:t>niveau</a:t>
            </a:r>
            <a:r>
              <a:rPr lang="en-US" dirty="0"/>
              <a:t> de </a:t>
            </a:r>
            <a:r>
              <a:rPr lang="en-US" dirty="0" err="1"/>
              <a:t>gravité</a:t>
            </a:r>
            <a:r>
              <a:rPr lang="en-US" dirty="0"/>
              <a:t>, le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d’alertes</a:t>
            </a:r>
            <a:r>
              <a:rPr lang="en-US" dirty="0"/>
              <a:t> par ordonnance et la </a:t>
            </a:r>
            <a:r>
              <a:rPr lang="en-US" dirty="0" err="1"/>
              <a:t>cohérence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Comme chacun a </a:t>
            </a:r>
            <a:r>
              <a:rPr lang="en-US" dirty="0" err="1"/>
              <a:t>écrit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règles</a:t>
            </a:r>
            <a:r>
              <a:rPr lang="en-US" dirty="0"/>
              <a:t> et </a:t>
            </a:r>
            <a:r>
              <a:rPr lang="en-US" dirty="0" err="1"/>
              <a:t>ses</a:t>
            </a:r>
            <a:r>
              <a:rPr lang="en-US" dirty="0"/>
              <a:t> ordonnances, nous </a:t>
            </a:r>
            <a:r>
              <a:rPr lang="en-US" dirty="0" err="1"/>
              <a:t>avons</a:t>
            </a:r>
            <a:r>
              <a:rPr lang="en-US" dirty="0"/>
              <a:t> </a:t>
            </a:r>
            <a:r>
              <a:rPr lang="en-US" dirty="0" err="1"/>
              <a:t>aussi</a:t>
            </a:r>
            <a:r>
              <a:rPr lang="en-US" dirty="0"/>
              <a:t> fait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évaluation</a:t>
            </a:r>
            <a:r>
              <a:rPr lang="en-US" dirty="0"/>
              <a:t> </a:t>
            </a:r>
            <a:r>
              <a:rPr lang="en-US" dirty="0" err="1"/>
              <a:t>croisée</a:t>
            </a:r>
            <a:r>
              <a:rPr lang="en-US" dirty="0"/>
              <a:t> et </a:t>
            </a:r>
            <a:r>
              <a:rPr lang="en-US" dirty="0" err="1"/>
              <a:t>testé</a:t>
            </a:r>
            <a:r>
              <a:rPr lang="en-US" dirty="0"/>
              <a:t> 5 </a:t>
            </a:r>
            <a:r>
              <a:rPr lang="en-US" dirty="0" err="1"/>
              <a:t>cas</a:t>
            </a:r>
            <a:r>
              <a:rPr lang="en-US" dirty="0"/>
              <a:t> de </a:t>
            </a:r>
            <a:r>
              <a:rPr lang="en-US" dirty="0" err="1"/>
              <a:t>généralisation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 err="1"/>
              <a:t>Enfin</a:t>
            </a:r>
            <a:r>
              <a:rPr lang="en-US" dirty="0"/>
              <a:t>, 16 </a:t>
            </a:r>
            <a:r>
              <a:rPr lang="en-US" dirty="0" err="1"/>
              <a:t>niveaux</a:t>
            </a:r>
            <a:r>
              <a:rPr lang="en-US" dirty="0"/>
              <a:t> de </a:t>
            </a:r>
            <a:r>
              <a:rPr lang="en-US" dirty="0" err="1"/>
              <a:t>gravité</a:t>
            </a:r>
            <a:r>
              <a:rPr lang="en-US" dirty="0"/>
              <a:t> </a:t>
            </a:r>
            <a:r>
              <a:rPr lang="en-US" dirty="0" err="1"/>
              <a:t>restent</a:t>
            </a:r>
            <a:r>
              <a:rPr lang="en-US" dirty="0"/>
              <a:t> à confirmer dans le </a:t>
            </a:r>
            <a:r>
              <a:rPr lang="en-US" dirty="0" err="1"/>
              <a:t>Thésaurus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Je laisse </a:t>
            </a:r>
            <a:r>
              <a:rPr lang="en-US" dirty="0" err="1"/>
              <a:t>maintenant</a:t>
            </a:r>
            <a:r>
              <a:rPr lang="en-US" dirty="0"/>
              <a:t> la parole à Aziz pour les </a:t>
            </a:r>
            <a:r>
              <a:rPr lang="en-US" dirty="0" err="1"/>
              <a:t>résultats</a:t>
            </a:r>
            <a:r>
              <a:rPr lang="en-US" dirty="0"/>
              <a:t>.</a:t>
            </a:r>
            <a:endParaRPr lang="fr-FR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(Aziz). Chiffre clé : F1 0,92 contre 0,56. Le gain vient du rappel (0,89 contre 0,39) sans exploser le nombre d'alertes (1,25 par ordonnance).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(Aziz). Les règles expertes portent l'essentiel (graphe seul : F1 0,31). La règle G1 n'est utile qu'avec le filtre marge étroite : c'est l'association du mécanisme (graphe) et de la connaissance clinique. Les règles d'Aziz apportent 11 vraies alertes.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+ B. Point d'honnêteté qui distingue le projet : on a testé chaque version sur le jeu de l'autre. La version d'Imane généralisait mieux (table ATC, noms français, règles du graphe) ; celle d'Aziz couvrait des interactions manquantes (ISRS/IRSN, potassium). Le score après fusion sur les ordonnances d'Aziz est optimiste, car les règles R19-R24 ont été écrites en les connaissant.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(Aziz). Les oublis viennent du compromis anti-fatigue ou de règles absentes ; les fausses alertes viennent du graphe, qui ne connaît ni les doses ni l'intensité des effets. Relever le filtre retrouverait 3 oublis mais ajouterait des dizaines de fausses alertes.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(Imane). Même logique que la séance 3 sur la somme MNIST : on somme les mondes où la requête est vraie. Limite : le « ou » bruité suppose les règles indépendantes, ce qui est faux quand deux règles décrivent le même mécanisme (R04 et G1). Les poids devraient être appris sur un jeu de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+ B. Prototype pédagogique : il montre la faisabilité, pas une performance clinique. Questions probables : pourquoi pas un LLM seul ? (pas de preuve reproductible ; la référence LLM est prévue dans le code mais non évaluée) ; les résultats sont-ils cliniquement valides ? (non, petit jeu de test construit par le binôme).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Début :</a:t>
            </a:r>
            <a:r>
              <a:rPr lang="en-US" dirty="0"/>
              <a:t> Pour </a:t>
            </a:r>
            <a:r>
              <a:rPr lang="en-US" dirty="0" err="1"/>
              <a:t>conclure</a:t>
            </a:r>
            <a:r>
              <a:rPr lang="en-US" dirty="0"/>
              <a:t>, </a:t>
            </a:r>
            <a:r>
              <a:rPr lang="en-US" dirty="0" err="1"/>
              <a:t>notre</a:t>
            </a:r>
            <a:r>
              <a:rPr lang="en-US" dirty="0"/>
              <a:t> apport principal est de combiner deux sources de </a:t>
            </a:r>
            <a:r>
              <a:rPr lang="en-US" dirty="0" err="1"/>
              <a:t>connaissance</a:t>
            </a:r>
            <a:r>
              <a:rPr lang="en-US" dirty="0"/>
              <a:t> : les </a:t>
            </a:r>
            <a:r>
              <a:rPr lang="en-US" dirty="0" err="1"/>
              <a:t>règles</a:t>
            </a:r>
            <a:r>
              <a:rPr lang="en-US" dirty="0"/>
              <a:t> </a:t>
            </a:r>
            <a:r>
              <a:rPr lang="en-US" dirty="0" err="1"/>
              <a:t>donnent</a:t>
            </a:r>
            <a:r>
              <a:rPr lang="en-US" dirty="0"/>
              <a:t> la </a:t>
            </a:r>
            <a:r>
              <a:rPr lang="en-US" dirty="0" err="1"/>
              <a:t>gravité</a:t>
            </a:r>
            <a:r>
              <a:rPr lang="en-US" dirty="0"/>
              <a:t> et la source, et le </a:t>
            </a:r>
            <a:r>
              <a:rPr lang="en-US" dirty="0" err="1"/>
              <a:t>graphe</a:t>
            </a:r>
            <a:r>
              <a:rPr lang="en-US" dirty="0"/>
              <a:t> </a:t>
            </a:r>
            <a:r>
              <a:rPr lang="en-US" dirty="0" err="1"/>
              <a:t>permet</a:t>
            </a:r>
            <a:r>
              <a:rPr lang="en-US" dirty="0"/>
              <a:t> de </a:t>
            </a:r>
            <a:r>
              <a:rPr lang="en-US" dirty="0" err="1"/>
              <a:t>généraliser</a:t>
            </a:r>
            <a:r>
              <a:rPr lang="en-US" dirty="0"/>
              <a:t> au-</a:t>
            </a:r>
            <a:r>
              <a:rPr lang="en-US" dirty="0" err="1"/>
              <a:t>delà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simple </a:t>
            </a:r>
            <a:r>
              <a:rPr lang="en-US" dirty="0" err="1"/>
              <a:t>liste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(Aziz </a:t>
            </a:r>
            <a:r>
              <a:rPr lang="en-US" dirty="0" err="1"/>
              <a:t>donne</a:t>
            </a:r>
            <a:r>
              <a:rPr lang="en-US" dirty="0"/>
              <a:t> les chiffres.)</a:t>
            </a:r>
            <a:br>
              <a:rPr lang="en-US" dirty="0">
                <a:cs typeface="+mn-lt"/>
              </a:rPr>
            </a:br>
            <a:r>
              <a:rPr lang="en-US" dirty="0"/>
              <a:t>Fin : Nous </a:t>
            </a:r>
            <a:r>
              <a:rPr lang="en-US" dirty="0" err="1"/>
              <a:t>insistons</a:t>
            </a:r>
            <a:r>
              <a:rPr lang="en-US" dirty="0"/>
              <a:t> sur le fait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c’est</a:t>
            </a:r>
            <a:r>
              <a:rPr lang="en-US" dirty="0"/>
              <a:t> un prototype </a:t>
            </a:r>
            <a:r>
              <a:rPr lang="en-US" dirty="0" err="1"/>
              <a:t>pédagogique</a:t>
            </a:r>
            <a:r>
              <a:rPr lang="en-US" dirty="0"/>
              <a:t> : </a:t>
            </a:r>
            <a:r>
              <a:rPr lang="en-US" dirty="0" err="1"/>
              <a:t>une</a:t>
            </a:r>
            <a:r>
              <a:rPr lang="en-US" dirty="0"/>
              <a:t> validation par un </a:t>
            </a:r>
            <a:r>
              <a:rPr lang="en-US" dirty="0" err="1"/>
              <a:t>professionnel</a:t>
            </a:r>
            <a:r>
              <a:rPr lang="en-US" dirty="0"/>
              <a:t> de santé </a:t>
            </a:r>
            <a:r>
              <a:rPr lang="en-US" dirty="0" err="1"/>
              <a:t>reste</a:t>
            </a:r>
            <a:r>
              <a:rPr lang="en-US" dirty="0"/>
              <a:t> indispensable. Merci pour </a:t>
            </a:r>
            <a:r>
              <a:rPr lang="en-US" dirty="0" err="1"/>
              <a:t>votre</a:t>
            </a:r>
            <a:r>
              <a:rPr lang="en-US" dirty="0"/>
              <a:t> attention, nous </a:t>
            </a:r>
            <a:r>
              <a:rPr lang="en-US" dirty="0" err="1"/>
              <a:t>sommes</a:t>
            </a:r>
            <a:r>
              <a:rPr lang="en-US" dirty="0"/>
              <a:t> </a:t>
            </a:r>
            <a:r>
              <a:rPr lang="en-US" dirty="0" err="1"/>
              <a:t>prêts</a:t>
            </a:r>
            <a:r>
              <a:rPr lang="en-US" dirty="0"/>
              <a:t> à </a:t>
            </a:r>
            <a:r>
              <a:rPr lang="en-US" dirty="0" err="1"/>
              <a:t>répondre</a:t>
            </a:r>
            <a:r>
              <a:rPr lang="en-US" dirty="0"/>
              <a:t> à </a:t>
            </a:r>
            <a:r>
              <a:rPr lang="en-US" dirty="0" err="1"/>
              <a:t>vos</a:t>
            </a:r>
            <a:r>
              <a:rPr lang="en-US" dirty="0"/>
              <a:t> questions.</a:t>
            </a:r>
            <a:endParaRPr lang="fr-FR" dirty="0"/>
          </a:p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3950"/>
            <a:ext cx="1056640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355850"/>
            <a:ext cx="10566400" cy="368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3950"/>
            <a:ext cx="1056640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355850"/>
            <a:ext cx="10566400" cy="368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ane-Guihia/Verification-Ordonnance-Hybrid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A6FB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82245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MINI-PROJET IA HYBRIDE · SUJET 3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324100"/>
            <a:ext cx="10883392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16"/>
              </a:lnSpc>
              <a:buNone/>
            </a:pPr>
            <a:r>
              <a:rPr lang="en-US" sz="5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Vérification d'ordonnance</a:t>
            </a:r>
            <a:endParaRPr lang="en-US" sz="5200" dirty="0"/>
          </a:p>
          <a:p>
            <a:pPr marL="0" indent="0" algn="l">
              <a:lnSpc>
                <a:spcPts val="5616"/>
              </a:lnSpc>
              <a:buNone/>
            </a:pPr>
            <a:r>
              <a:rPr lang="en-US" sz="5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par graphe et règles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4000500"/>
            <a:ext cx="108833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Signaler, hiérarchiser et expliquer les associations médicamenteuses à risque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" y="4578350"/>
            <a:ext cx="1056640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4787900"/>
            <a:ext cx="352554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Imane Guihia</a:t>
            </a: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Aziz Braham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38340" y="4787900"/>
            <a:ext cx="375963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ISIS Castres · 5e année · Octobre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3950"/>
            <a:ext cx="1088339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Trouver les vraies interactions sans noyer le prescripteur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409825"/>
            <a:ext cx="3380284" cy="1790700"/>
          </a:xfrm>
          <a:prstGeom prst="roundRect">
            <a:avLst>
              <a:gd name="adj" fmla="val 5496"/>
            </a:avLst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pic>
        <p:nvPicPr>
          <p:cNvPr id="5" name="Image 0" descr="Search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3150" y="2667000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150" y="3073400"/>
            <a:ext cx="2951912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73150" y="3448050"/>
            <a:ext cx="295191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associations à risque d'une ordonnance (rappel)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5809" y="2409825"/>
            <a:ext cx="3380284" cy="1790700"/>
          </a:xfrm>
          <a:prstGeom prst="roundRect">
            <a:avLst>
              <a:gd name="adj" fmla="val 5496"/>
            </a:avLst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pic>
        <p:nvPicPr>
          <p:cNvPr id="9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2984" y="2667000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2984" y="3073400"/>
            <a:ext cx="2951912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Hiérarchiser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62984" y="3448050"/>
            <a:ext cx="295191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gravité, avec l'échelle du Thésaurus ANSM (1 à 4)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95642" y="2409825"/>
            <a:ext cx="3380383" cy="1790700"/>
          </a:xfrm>
          <a:prstGeom prst="roundRect">
            <a:avLst>
              <a:gd name="adj" fmla="val 5496"/>
            </a:avLst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pic>
        <p:nvPicPr>
          <p:cNvPr id="13" name="Image 2" descr="Lightbulb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52817" y="2667000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2817" y="3073400"/>
            <a:ext cx="2952014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52817" y="3448050"/>
            <a:ext cx="295201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alerte : règle, source et chemin dans le graphe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2800" y="4559300"/>
            <a:ext cx="10566400" cy="685800"/>
          </a:xfrm>
          <a:prstGeom prst="roundRect">
            <a:avLst>
              <a:gd name="adj" fmla="val 11111"/>
            </a:avLst>
          </a:prstGeom>
          <a:solidFill>
            <a:srgbClr val="EEF3F9"/>
          </a:solidFill>
          <a:ln/>
        </p:spPr>
      </p:sp>
      <p:sp>
        <p:nvSpPr>
          <p:cNvPr id="17" name="Text 12"/>
          <p:cNvSpPr/>
          <p:nvPr/>
        </p:nvSpPr>
        <p:spPr>
          <a:xfrm>
            <a:off x="1066800" y="4762500"/>
            <a:ext cx="103601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Contrainte :</a:t>
            </a:r>
            <a:r>
              <a:rPr lang="en-US" sz="16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trop d'alertes = </a:t>
            </a: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 d'alerte</a:t>
            </a:r>
            <a:r>
              <a:rPr lang="en-US" sz="16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et le prescripteur finit par les ignorer.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d'ordonnance hybride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DONNÉES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3950"/>
            <a:ext cx="1088339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Hetionet est riche, mais incomplet pour notre usage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419350"/>
            <a:ext cx="3386634" cy="0"/>
          </a:xfrm>
          <a:prstGeom prst="line">
            <a:avLst/>
          </a:prstGeom>
          <a:noFill/>
          <a:ln w="25400">
            <a:solidFill>
              <a:srgbClr val="2A6F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584450"/>
            <a:ext cx="3488233" cy="80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9 364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12800" y="3416300"/>
            <a:ext cx="348823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nœuds gardés (médicaments, classes, gènes, effets) sur 47 031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2634" y="2419350"/>
            <a:ext cx="3386634" cy="0"/>
          </a:xfrm>
          <a:prstGeom prst="line">
            <a:avLst/>
          </a:prstGeom>
          <a:noFill/>
          <a:ln w="25400">
            <a:solidFill>
              <a:srgbClr val="D982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2634" y="2584450"/>
            <a:ext cx="3488233" cy="80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47 %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402634" y="3416300"/>
            <a:ext cx="3488233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médicaments seulement ont une classe (aucune pour statines, IEC, potassium)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2467" y="2419350"/>
            <a:ext cx="3386733" cy="0"/>
          </a:xfrm>
          <a:prstGeom prst="line">
            <a:avLst/>
          </a:prstGeom>
          <a:noFill/>
          <a:ln w="25400">
            <a:solidFill>
              <a:srgbClr val="D98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92467" y="2584450"/>
            <a:ext cx="3488335" cy="80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992467" y="3416300"/>
            <a:ext cx="348833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effet indésirable pour la warfarine dans le graphe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514850"/>
            <a:ext cx="10883392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ajouts, tous sourcés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2800" y="4864100"/>
            <a:ext cx="108833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ATC de 28 classes · dictionnaire de synonymes (DCI françaises, noms commerciaux) · 17 effets graves · 14 médicaments à marge thérapeutique étroite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Hetionet v1.0 (CC0) · arêtes PCiC, CbG, CcSE, CtD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L'ARCHITECTURE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3950"/>
            <a:ext cx="1088339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Deux familles de règles, un filtre, des alertes expliquées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359025"/>
            <a:ext cx="3143250" cy="768350"/>
          </a:xfrm>
          <a:prstGeom prst="roundRect">
            <a:avLst>
              <a:gd name="adj" fmla="val 9504"/>
            </a:avLst>
          </a:prstGeom>
          <a:solidFill>
            <a:srgbClr val="FFFFFF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9069" y="2514600"/>
            <a:ext cx="291706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Ordonnance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29069" y="2762250"/>
            <a:ext cx="291706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à 9 médicaments</a:t>
            </a:r>
            <a:endParaRPr lang="en-US" sz="12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64000" y="2654300"/>
            <a:ext cx="355600" cy="177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24375" y="2359025"/>
            <a:ext cx="3143250" cy="768350"/>
          </a:xfrm>
          <a:prstGeom prst="roundRect">
            <a:avLst>
              <a:gd name="adj" fmla="val 9504"/>
            </a:avLst>
          </a:prstGeom>
          <a:solidFill>
            <a:srgbClr val="FFFFFF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37468" y="2514600"/>
            <a:ext cx="291706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37468" y="2762250"/>
            <a:ext cx="291706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synonymes, nom approché</a:t>
            </a:r>
            <a:endParaRPr lang="en-US" sz="1200" dirty="0"/>
          </a:p>
        </p:txBody>
      </p:sp>
      <p:pic>
        <p:nvPicPr>
          <p:cNvPr id="11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0" y="2654300"/>
            <a:ext cx="355600" cy="177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32775" y="2359025"/>
            <a:ext cx="3143250" cy="768350"/>
          </a:xfrm>
          <a:prstGeom prst="roundRect">
            <a:avLst>
              <a:gd name="adj" fmla="val 9504"/>
            </a:avLst>
          </a:prstGeom>
          <a:solidFill>
            <a:srgbClr val="FFFFFF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45868" y="2514600"/>
            <a:ext cx="291706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Paires A + B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345868" y="2762250"/>
            <a:ext cx="291706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les paires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5975" y="3438525"/>
            <a:ext cx="5175250" cy="889000"/>
          </a:xfrm>
          <a:prstGeom prst="roundRect">
            <a:avLst>
              <a:gd name="adj" fmla="val 8214"/>
            </a:avLst>
          </a:prstGeom>
          <a:solidFill>
            <a:srgbClr val="FFFFFF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96950" y="3619500"/>
            <a:ext cx="49576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expertes R01-R24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996950" y="3937000"/>
            <a:ext cx="495769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lue dans le graphe (PCiC) ou la table ATC · niveau ANSM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00775" y="3438525"/>
            <a:ext cx="5175250" cy="889000"/>
          </a:xfrm>
          <a:prstGeom prst="roundRect">
            <a:avLst>
              <a:gd name="adj" fmla="val 8214"/>
            </a:avLst>
          </a:prstGeom>
          <a:solidFill>
            <a:srgbClr val="FFFFFF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81750" y="3619500"/>
            <a:ext cx="49576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du graphe G1-G3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81750" y="3937000"/>
            <a:ext cx="495769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pharmacocinétique, effet partagé, cible commune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15975" y="4645025"/>
            <a:ext cx="4991100" cy="768350"/>
          </a:xfrm>
          <a:prstGeom prst="roundRect">
            <a:avLst>
              <a:gd name="adj" fmla="val 9504"/>
            </a:avLst>
          </a:prstGeom>
          <a:solidFill>
            <a:srgbClr val="FFFFFF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01351" y="4800600"/>
            <a:ext cx="482034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 anti-fatigue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901351" y="5048250"/>
            <a:ext cx="482034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expertes toujours · graphe si niveau ≥ 2</a:t>
            </a:r>
            <a:endParaRPr lang="en-US" sz="1200" dirty="0"/>
          </a:p>
        </p:txBody>
      </p:sp>
      <p:pic>
        <p:nvPicPr>
          <p:cNvPr id="24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11850" y="4940300"/>
            <a:ext cx="355600" cy="1778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375400" y="4641850"/>
            <a:ext cx="4997450" cy="774700"/>
          </a:xfrm>
          <a:prstGeom prst="roundRect">
            <a:avLst>
              <a:gd name="adj" fmla="val 9016"/>
            </a:avLst>
          </a:prstGeom>
          <a:solidFill>
            <a:srgbClr val="EEF3F9"/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63951" y="4800600"/>
            <a:ext cx="482034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triées par gravité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463951" y="5048250"/>
            <a:ext cx="482034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+ source + chemin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d'ordonnance hybride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RÈGLES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3950"/>
            <a:ext cx="1088339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24 règles expertes sourcées, 3 règles tirées du graphe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266950"/>
          <a:ext cx="10553700" cy="2474715"/>
        </p:xfrm>
        <a:graphic>
          <a:graphicData uri="http://schemas.openxmlformats.org/drawingml/2006/table">
            <a:tbl>
              <a:tblPr/>
              <a:tblGrid>
                <a:gridCol w="253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4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6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 qu'elle vérifie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Niveau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39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R01-R18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deux classes connues pour interagir : AVK + AINS, statine + inhibiteur CYP3A4, nitré + IPDE5…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à 4 selon le Thésaurus ANSM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39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R19-R24 (version d'Aziz)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ISRS/IRSN + AINS ou AVK, antiagrégant + AINS, digoxine + macrolide, potassium + épargneur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à 4 selon le Thésaurus ANSM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 pharmacocinétique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inhibe une enzyme (PCiC) à laquelle B est lié (CbG)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si B est à marge étroite, sinon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39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 / G3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effet grave partagé (CcSE) / cible commune hors enzymes (CbG)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 masqué en mode concis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944864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: Thésaurus ANSM, classification ATC (OMS), RCP EMA et étiquettes FDA.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d'ordonnance hybride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ALERTE EXPLIQUÉE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3950"/>
            <a:ext cx="1088339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Warfarine + ibuprofène : la règle, sa source et sa preuve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308225"/>
            <a:ext cx="10560050" cy="2501900"/>
          </a:xfrm>
          <a:prstGeom prst="roundRect">
            <a:avLst>
              <a:gd name="adj" fmla="val 2919"/>
            </a:avLst>
          </a:prstGeom>
          <a:solidFill>
            <a:srgbClr val="FFFFFF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565400"/>
            <a:ext cx="1024242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python src/verifier.py warfarine ibuprofène oméprazole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3950" y="2901950"/>
            <a:ext cx="1024242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déconseillée · warfarine + ibuprofène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23950" y="3327400"/>
            <a:ext cx="1024242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R01 : majoration du risque hémorragique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3950" y="3702050"/>
            <a:ext cx="1024242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Warfarin ←[PCiC]— « Vitamin K Inhibitors » ⇒ antivitamines K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Ibuprofen ←[PCiC]— « Nonsteroidal Anti-inflammatory Compounds » ⇒ AINS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23950" y="4324350"/>
            <a:ext cx="1024242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: ANSM, Thésaurus des interactions médicamenteuses : AVK + AINS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50673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Fluindione (Previscan), absente du graphe, est classée par la table ATC ; un nom inconnu est toujours signalé.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d'ordonnance hybride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PROTOCOLE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3950"/>
            <a:ext cx="1088339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40 ordonnances, 54 paires à risque, une référence non hybride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409825"/>
            <a:ext cx="5175250" cy="1555750"/>
          </a:xfrm>
          <a:prstGeom prst="roundRect">
            <a:avLst>
              <a:gd name="adj" fmla="val 6327"/>
            </a:avLst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641600"/>
            <a:ext cx="485305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test fusionné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47750" y="2971800"/>
            <a:ext cx="4853051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ordonnances par membre du binôme, dont 3 sans interaction et 2 avec un médicament absent du graphe. Niveaux ANSM ; 16 paires à confirmer.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2409825"/>
            <a:ext cx="5175250" cy="1555750"/>
          </a:xfrm>
          <a:prstGeom prst="roundRect">
            <a:avLst>
              <a:gd name="adj" fmla="val 6327"/>
            </a:avLst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2641600"/>
            <a:ext cx="485305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 non hybride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32550" y="2971800"/>
            <a:ext cx="48530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exacte de la paire dans une liste de 26 interactions, sans classes ni graphe.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4175125"/>
            <a:ext cx="5175250" cy="1301750"/>
          </a:xfrm>
          <a:prstGeom prst="roundRect">
            <a:avLst>
              <a:gd name="adj" fmla="val 7561"/>
            </a:avLst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7750" y="4406900"/>
            <a:ext cx="485305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47750" y="4737100"/>
            <a:ext cx="48530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Précision, rappel, F1, niveau exact, alertes par ordonnance, cohérence, temps.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0775" y="4175125"/>
            <a:ext cx="5175250" cy="1301750"/>
          </a:xfrm>
          <a:prstGeom prst="roundRect">
            <a:avLst>
              <a:gd name="adj" fmla="val 7561"/>
            </a:avLst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2550" y="4406900"/>
            <a:ext cx="485305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Contre le biais d'auteur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32550" y="4737100"/>
            <a:ext cx="48530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Évaluation croisée avant fusion et 5 ordonnances de généralisation hors table.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d'ordonnance hybride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 PRINCIPAL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3950"/>
            <a:ext cx="1088339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L'hybride trouve 48 des 54 interactions, avec 2 fausses alertes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413000"/>
            <a:ext cx="5118100" cy="2203450"/>
          </a:xfrm>
          <a:prstGeom prst="roundRect">
            <a:avLst>
              <a:gd name="adj" fmla="val 4323"/>
            </a:avLst>
          </a:prstGeom>
          <a:solidFill>
            <a:srgbClr val="FFFFFF"/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673350"/>
            <a:ext cx="473532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Hybride (graphe + règles)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9500" y="2971800"/>
            <a:ext cx="473532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F1 0,92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79500" y="3860800"/>
            <a:ext cx="473532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 0,96 · rappel 0,89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1,25 alerte par ordonnance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51575" y="2409825"/>
            <a:ext cx="5124450" cy="2209800"/>
          </a:xfrm>
          <a:prstGeom prst="roundRect">
            <a:avLst>
              <a:gd name="adj" fmla="val 4454"/>
            </a:avLst>
          </a:prstGeom>
          <a:solidFill>
            <a:srgbClr val="FFFFFF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8750" y="2667000"/>
            <a:ext cx="474840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 : liste de paires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08750" y="2965450"/>
            <a:ext cx="474840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7A859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F1 0,56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508750" y="3854450"/>
            <a:ext cx="474840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 1,00 · rappel 0,39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0,53 alerte par ordonnance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9784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référence ne se trompe jamais, mais elle rate 6 interactions sur 10 : elle ne généralise pas aux classes.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ordonnances · 54 paires attendues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3950"/>
            <a:ext cx="1088339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Chaque brique retirée fait baisser le F1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44675"/>
            <a:ext cx="39243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Hybride complet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75200" y="1841500"/>
            <a:ext cx="5257800" cy="254000"/>
          </a:xfrm>
          <a:prstGeom prst="roundRect">
            <a:avLst>
              <a:gd name="adj" fmla="val 15000"/>
            </a:avLst>
          </a:prstGeom>
          <a:solidFill>
            <a:srgbClr val="2A6FB0"/>
          </a:solidFill>
          <a:ln/>
        </p:spPr>
      </p:sp>
      <p:sp>
        <p:nvSpPr>
          <p:cNvPr id="6" name="Text 4"/>
          <p:cNvSpPr/>
          <p:nvPr/>
        </p:nvSpPr>
        <p:spPr>
          <a:xfrm>
            <a:off x="10185400" y="1844675"/>
            <a:ext cx="41529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212975"/>
            <a:ext cx="39243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filtre « marge étroite 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75200" y="2209800"/>
            <a:ext cx="4629150" cy="254000"/>
          </a:xfrm>
          <a:prstGeom prst="roundRect">
            <a:avLst>
              <a:gd name="adj" fmla="val 15000"/>
            </a:avLst>
          </a:prstGeom>
          <a:solidFill>
            <a:srgbClr val="B7C3CF"/>
          </a:solidFill>
          <a:ln/>
        </p:spPr>
      </p:sp>
      <p:sp>
        <p:nvSpPr>
          <p:cNvPr id="9" name="Text 7"/>
          <p:cNvSpPr/>
          <p:nvPr/>
        </p:nvSpPr>
        <p:spPr>
          <a:xfrm>
            <a:off x="9556750" y="2212975"/>
            <a:ext cx="41529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2581275"/>
            <a:ext cx="39243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règles d'Aziz (R19-R24)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75200" y="2578100"/>
            <a:ext cx="4572000" cy="254000"/>
          </a:xfrm>
          <a:prstGeom prst="roundRect">
            <a:avLst>
              <a:gd name="adj" fmla="val 15000"/>
            </a:avLst>
          </a:prstGeom>
          <a:solidFill>
            <a:srgbClr val="B7C3CF"/>
          </a:solidFill>
          <a:ln/>
        </p:spPr>
      </p:sp>
      <p:sp>
        <p:nvSpPr>
          <p:cNvPr id="12" name="Text 10"/>
          <p:cNvSpPr/>
          <p:nvPr/>
        </p:nvSpPr>
        <p:spPr>
          <a:xfrm>
            <a:off x="9499600" y="2581275"/>
            <a:ext cx="41529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2949575"/>
            <a:ext cx="39243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table ATC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75200" y="2946400"/>
            <a:ext cx="4057650" cy="254000"/>
          </a:xfrm>
          <a:prstGeom prst="roundRect">
            <a:avLst>
              <a:gd name="adj" fmla="val 15000"/>
            </a:avLst>
          </a:prstGeom>
          <a:solidFill>
            <a:srgbClr val="B7C3CF"/>
          </a:solidFill>
          <a:ln/>
        </p:spPr>
      </p:sp>
      <p:sp>
        <p:nvSpPr>
          <p:cNvPr id="15" name="Text 13"/>
          <p:cNvSpPr/>
          <p:nvPr/>
        </p:nvSpPr>
        <p:spPr>
          <a:xfrm>
            <a:off x="8985250" y="2949575"/>
            <a:ext cx="41529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3317875"/>
            <a:ext cx="39243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filtre anti-fatigue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75200" y="3314700"/>
            <a:ext cx="3314700" cy="254000"/>
          </a:xfrm>
          <a:prstGeom prst="roundRect">
            <a:avLst>
              <a:gd name="adj" fmla="val 15000"/>
            </a:avLst>
          </a:prstGeom>
          <a:solidFill>
            <a:srgbClr val="B7C3CF"/>
          </a:solidFill>
          <a:ln/>
        </p:spPr>
      </p:sp>
      <p:sp>
        <p:nvSpPr>
          <p:cNvPr id="18" name="Text 16"/>
          <p:cNvSpPr/>
          <p:nvPr/>
        </p:nvSpPr>
        <p:spPr>
          <a:xfrm>
            <a:off x="8242300" y="3317875"/>
            <a:ext cx="41529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3686175"/>
            <a:ext cx="39243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Graphe seul (G1-G3)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75200" y="3683000"/>
            <a:ext cx="1771650" cy="254000"/>
          </a:xfrm>
          <a:prstGeom prst="roundRect">
            <a:avLst>
              <a:gd name="adj" fmla="val 15000"/>
            </a:avLst>
          </a:prstGeom>
          <a:solidFill>
            <a:srgbClr val="B7C3CF"/>
          </a:solidFill>
          <a:ln/>
        </p:spPr>
      </p:sp>
      <p:sp>
        <p:nvSpPr>
          <p:cNvPr id="21" name="Text 19"/>
          <p:cNvSpPr/>
          <p:nvPr/>
        </p:nvSpPr>
        <p:spPr>
          <a:xfrm>
            <a:off x="6699250" y="3686175"/>
            <a:ext cx="41529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2800" y="4057650"/>
            <a:ext cx="10566400" cy="0"/>
          </a:xfrm>
          <a:prstGeom prst="line">
            <a:avLst/>
          </a:prstGeom>
          <a:noFill/>
          <a:ln w="12700">
            <a:solidFill>
              <a:srgbClr val="C9D2D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12800" y="4181475"/>
            <a:ext cx="39243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 : liste de paires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75200" y="4178300"/>
            <a:ext cx="3200400" cy="254000"/>
          </a:xfrm>
          <a:prstGeom prst="roundRect">
            <a:avLst>
              <a:gd name="adj" fmla="val 15000"/>
            </a:avLst>
          </a:prstGeom>
          <a:solidFill>
            <a:srgbClr val="F2C9A0"/>
          </a:solidFill>
          <a:ln/>
        </p:spPr>
      </p:sp>
      <p:sp>
        <p:nvSpPr>
          <p:cNvPr id="25" name="Text 23"/>
          <p:cNvSpPr/>
          <p:nvPr/>
        </p:nvSpPr>
        <p:spPr>
          <a:xfrm>
            <a:off x="8128000" y="4181475"/>
            <a:ext cx="41529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46863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filtre anti-fatigue : rappel 0,94, mais 70 fausses alertes pour 40 ordonnances.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sur le jeu fusionné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ÉVALUATION CROISÉE, AVANT LA FUSION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3950"/>
            <a:ext cx="1088339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Chaque version était meilleure sur son propre jeu de test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368550"/>
          <a:ext cx="7607300" cy="1317724"/>
        </p:xfrm>
        <a:graphic>
          <a:graphicData uri="http://schemas.openxmlformats.org/drawingml/2006/table">
            <a:tbl>
              <a:tblPr/>
              <a:tblGrid>
                <a:gridCol w="304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2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de la version…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 le jeu d'Imane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 le jeu d'Aziz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d'Imane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d'Aziz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5975" y="3994249"/>
            <a:ext cx="5175250" cy="1200150"/>
          </a:xfrm>
          <a:prstGeom prst="roundRect">
            <a:avLst>
              <a:gd name="adj" fmla="val 6085"/>
            </a:avLst>
          </a:prstGeom>
          <a:solidFill>
            <a:srgbClr val="FFFFFF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2350" y="4200624"/>
            <a:ext cx="490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Leçon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22350" y="4492724"/>
            <a:ext cx="490537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jeu de test écrit par l'auteur des règles surestime la performance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00775" y="3994249"/>
            <a:ext cx="5175250" cy="1200150"/>
          </a:xfrm>
          <a:prstGeom prst="roundRect">
            <a:avLst>
              <a:gd name="adj" fmla="val 6085"/>
            </a:avLst>
          </a:prstGeom>
          <a:solidFill>
            <a:srgbClr val="FFFFFF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7150" y="4200624"/>
            <a:ext cx="490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7150" y="4492724"/>
            <a:ext cx="490537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d'Imane + règles et ordonnances d'Aziz ; F1 0,98 sur ses ordonnances, donc optimiste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d'ordonnance hybride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D'ERREURS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3950"/>
            <a:ext cx="1088339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8 erreurs, chacune attribuée à sa brique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95475"/>
            <a:ext cx="5175250" cy="1187450"/>
          </a:xfrm>
          <a:prstGeom prst="roundRect">
            <a:avLst>
              <a:gd name="adj" fmla="val 6150"/>
            </a:avLst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101850"/>
            <a:ext cx="490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 anti-fatigue · 3 oublis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2350" y="2406650"/>
            <a:ext cx="4905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allopurinol + azathioprine : le graphe savait (cible commune XDH), mais le signal de niveau 1 est masqué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0775" y="1895475"/>
            <a:ext cx="5175250" cy="1187450"/>
          </a:xfrm>
          <a:prstGeom prst="roundRect">
            <a:avLst>
              <a:gd name="adj" fmla="val 6150"/>
            </a:avLst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7150" y="2101850"/>
            <a:ext cx="490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manquante · 3 oublis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7150" y="2406650"/>
            <a:ext cx="4905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digoxine + furosémide (hypokaliémie), simvastatine + amlodipine : rien dans les règles ni le graphe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3292475"/>
            <a:ext cx="5175250" cy="1187450"/>
          </a:xfrm>
          <a:prstGeom prst="roundRect">
            <a:avLst>
              <a:gd name="adj" fmla="val 6150"/>
            </a:avLst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2350" y="3498850"/>
            <a:ext cx="490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Graphe : classe trop large · 1 fausse alerte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2350" y="3803650"/>
            <a:ext cx="4905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aspirine classée AINS ; à dose antiagrégante, l'interaction AINS + IEC ne s'applique pas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00775" y="3292475"/>
            <a:ext cx="5175250" cy="1187450"/>
          </a:xfrm>
          <a:prstGeom prst="roundRect">
            <a:avLst>
              <a:gd name="adj" fmla="val 6150"/>
            </a:avLst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7150" y="3498850"/>
            <a:ext cx="490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Graphe : règle G1 · 1 fausse alerte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7150" y="3803650"/>
            <a:ext cx="4905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oméprazole + warfarine : le graphe ne code pas la force de l'inhibition enzymatique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: oublis · orange : fausses alertes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· PROBLOG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3950"/>
            <a:ext cx="1088339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Des règles pondérées pour classer les alertes par probabilité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359025"/>
            <a:ext cx="3380284" cy="1422400"/>
          </a:xfrm>
          <a:prstGeom prst="roundRect">
            <a:avLst>
              <a:gd name="adj" fmla="val 5134"/>
            </a:avLst>
          </a:prstGeom>
          <a:solidFill>
            <a:srgbClr val="FFFFFF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565400"/>
            <a:ext cx="305656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0,93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22350" y="3327400"/>
            <a:ext cx="30565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sur 152 paires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09" y="2359025"/>
            <a:ext cx="3380284" cy="1422400"/>
          </a:xfrm>
          <a:prstGeom prst="roundRect">
            <a:avLst>
              <a:gd name="adj" fmla="val 5134"/>
            </a:avLst>
          </a:prstGeom>
          <a:solidFill>
            <a:srgbClr val="FFFFFF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2184" y="2565400"/>
            <a:ext cx="305656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0,07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12184" y="3327400"/>
            <a:ext cx="30565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 de calibration (ECE)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642" y="2359025"/>
            <a:ext cx="3380383" cy="1422400"/>
          </a:xfrm>
          <a:prstGeom prst="roundRect">
            <a:avLst>
              <a:gd name="adj" fmla="val 5134"/>
            </a:avLst>
          </a:prstGeom>
          <a:solidFill>
            <a:srgbClr val="FFFFFF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2017" y="2565400"/>
            <a:ext cx="305666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47 / 48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02017" y="3327400"/>
            <a:ext cx="305666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vraies alertes gardées au seuil 0,5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089400"/>
            <a:ext cx="108833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Poids fixés </a:t>
            </a:r>
            <a:r>
              <a:rPr lang="en-US" sz="15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</a:t>
            </a: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l'évaluation : 0,95 à 0,60 pour une règle experte selon son niveau, 0,40 ou 0,15 pour G1. La pondération ordonne les alertes plus qu'elle ne les change ; la tranche 0,2-0,4 est surestimée.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d'ordonnance hybride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ET SUITE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3950"/>
            <a:ext cx="1088339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Une absence d'alerte n'est jamais une garantie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92300"/>
            <a:ext cx="5284724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0082" y="2266950"/>
            <a:ext cx="517982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Graphe incomplet et statique (Hetionet 2017)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dose, ni patient, ni intensité des inhibiteurs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Vérité terrain du binôme : 16 niveaux à confirmer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 et règles R19-R24 ajoutés en voyant le test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48400" y="1892300"/>
            <a:ext cx="5284724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45682" y="2266950"/>
            <a:ext cx="5179822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par un pharmacien, jeu de test indépendant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 la dose et la force des inhibiteurs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Apprendre les poids ProbLog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 candidates par embeddings (TransE), comme hypothèses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d'ordonnance hybride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A6FB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958975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RÉSUMÉ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460625"/>
            <a:ext cx="10883392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40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Les règles donnent la gravité et la fiabilité, le graphe la généralisation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800" y="3844925"/>
            <a:ext cx="108833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0,92 contre 0,56 pour la référence · 1,25 alerte par ordonnance · chaque alerte expliquée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" y="4422775"/>
            <a:ext cx="1056640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4632325"/>
            <a:ext cx="216783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— questions 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80630" y="4632325"/>
            <a:ext cx="750736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et notebooks : </a:t>
            </a:r>
            <a:r>
              <a:rPr lang="en-US" sz="1400" u="sng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github.com/Imane-Guihia/Verification-Ordonnance-Hybride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enance — Vérification d'ordonnance hybride">
  <a:themeElements>
    <a:clrScheme name="Soutenance — Vérification d'ordonnance hybride">
      <a:dk1>
        <a:srgbClr val="1B2A3A"/>
      </a:dk1>
      <a:lt1>
        <a:srgbClr val="FBFBF8"/>
      </a:lt1>
      <a:dk2>
        <a:srgbClr val="535E6A"/>
      </a:dk2>
      <a:lt2>
        <a:srgbClr val="E5E6E5"/>
      </a:lt2>
      <a:accent1>
        <a:srgbClr val="2A6FB0"/>
      </a:accent1>
      <a:accent2>
        <a:srgbClr val="D9822B"/>
      </a:accent2>
      <a:accent3>
        <a:srgbClr val="F2C9A0"/>
      </a:accent3>
      <a:accent4>
        <a:srgbClr val="4A5568"/>
      </a:accent4>
      <a:accent5>
        <a:srgbClr val="7A8594"/>
      </a:accent5>
      <a:accent6>
        <a:srgbClr val="B7C3CF"/>
      </a:accent6>
      <a:hlink>
        <a:srgbClr val="0563C1"/>
      </a:hlink>
      <a:folHlink>
        <a:srgbClr val="954F72"/>
      </a:folHlink>
    </a:clrScheme>
    <a:fontScheme name="Soutenance — Vérification d'ordonnance hybrid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Soutenance — Vérification d'ordonnance hybride</vt:lpstr>
      <vt:lpstr>Vérification d'ordonnance par graphe et règles</vt:lpstr>
      <vt:lpstr>Trouver les vraies interactions sans noyer le prescripteur</vt:lpstr>
      <vt:lpstr>Hetionet est riche, mais incomplet pour notre usage</vt:lpstr>
      <vt:lpstr>Deux familles de règles, un filtre, des alertes expliquées</vt:lpstr>
      <vt:lpstr>24 règles expertes sourcées, 3 règles tirées du graphe</vt:lpstr>
      <vt:lpstr>Warfarine + ibuprofène : la règle, sa source et sa preuve</vt:lpstr>
      <vt:lpstr>40 ordonnances, 54 paires à risque, une référence non hybride</vt:lpstr>
      <vt:lpstr>L'hybride trouve 48 des 54 interactions, avec 2 fausses alertes</vt:lpstr>
      <vt:lpstr>Chaque brique retirée fait baisser le F1</vt:lpstr>
      <vt:lpstr>Chaque version était meilleure sur son propre jeu de test</vt:lpstr>
      <vt:lpstr>8 erreurs, chacune attribuée à sa brique</vt:lpstr>
      <vt:lpstr>Des règles pondérées pour classer les alertes par probabilité</vt:lpstr>
      <vt:lpstr>Une absence d'alerte n'est jamais une garantie</vt:lpstr>
      <vt:lpstr>Les règles donnent la gravité et la fiabilité, le graphe la généralisation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— Vérification d'ordonnance hybride</dc:title>
  <dc:subject/>
  <dc:creator/>
  <cp:lastModifiedBy/>
  <cp:revision>20</cp:revision>
  <dcterms:created xsi:type="dcterms:W3CDTF">2026-10-11T10:40:54Z</dcterms:created>
  <dcterms:modified xsi:type="dcterms:W3CDTF">2026-10-15T16:21:45Z</dcterms:modified>
</cp:coreProperties>
</file>