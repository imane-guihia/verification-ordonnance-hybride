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D55F9A-7859-46FE-8A5C-4C101A73E515}" type="datetimeFigureOut">
              <a:t>11/10/2026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02A1DC-B801-49E6-8C79-C050FC97461D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20038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Présentation : A (Imane). Objectif en une phrase : pour une ordonnance, détecter les associations à risque, les classer par gravité et expliquer chaque alerte, sans noyer le prescripteur. Préciser : prototype pédagogique, pas un dispositif médical.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(Imane). Trois objectifs : détecter, hiérarchiser, expliquer. Le piège classique des systèmes d'aide à la prescription est la fatigue d'alerte : on mesurera donc la précision et le nombre d'alertes par ordonnance, pas seulement le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(Imane). Sous-graphe : 4 types d'arêtes (classe, cible, effet indésirable, maladie). Message clé : une absence d'arête n'est pas une absence de risque. C'est pour ça qu'on ajoute une table ATC et des synonymes.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(Imane). Le flux : on reconnaît les noms (français, commerciaux, fautes de frappe signalées), on forme toutes les paires, on applique deux familles de règles, puis le filtre anti-fatigue. Un médicament inconnu est toujours signalé, jamais ignoré en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(Aziz) peut présenter R19-R24, qui viennent de sa version. Insister : la classe d'un médicament vient d'abord du graphe ; la table ATC ne sert que quand le graphe ne le classe pas. Les signaux G2/G3 sont trop fréquents pour être affichés seuls.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Démo possible en direct. Montrer que 100 % des alertes portent une règle, une source et un chemin. Le même exemple avec Previscan + Advil montre l'intérêt des synonymes et de la table quand le graphe ne connaît pas le médicament.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(Aziz). Chacun a écrit 20 ordonnances avec leurs paires attendues et leurs sources. La référence non hybride isole ce qu'apportent les classes et le graphe. Annoncer d'emblée le biais : celui qui écrit les règles écrit aussi le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(Aziz). Chiffre clé : F1 0,92 contre 0,56. Le gain vient du rappel (0,89 contre 0,39) sans exploser le nombre d'alertes (1,25 par ordonnance).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(Aziz). Les règles expertes portent l'essentiel (graphe seul : F1 0,31). La règle G1 n'est utile qu'avec le filtre marge étroite : c'est l'association du mécanisme (graphe) et de la connaissance clinique. Les règles d'Aziz apportent 11 vraies alertes.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+ B. Point d'honnêteté qui distingue le projet : on a testé chaque version sur le jeu de l'autre. La version d'Imane généralisait mieux (table ATC, noms français, règles du graphe) ; celle d'Aziz couvrait des interactions manquantes (ISRS/IRSN, potassium). Le score après fusion sur les ordonnances d'Aziz est optimiste, car les règles R19-R24 ont été écrites en les connaissant.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(Aziz). Les oublis viennent du compromis anti-fatigue ou de règles absentes ; les fausses alertes viennent du graphe, qui ne connaît ni les doses ni l'intensité des effets. Relever le filtre retrouverait 3 oublis mais ajouterait des dizaines de fausses alertes.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(Imane). Même logique que la séance 3 sur la somme MNIST : on somme les mondes où la requête est vraie. Limite : le « ou » bruité suppose les règles indépendantes, ce qui est faux quand deux règles décrivent le même mécanisme (R04 et G1). Les poids devraient être appris sur un jeu de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+ B. Prototype pédagogique : il montre la faisabilité, pas une performance clinique. Questions probables : pourquoi pas un LLM seul ? (pas de preuve reproductible ; la référence LLM est prévue dans le code mais non évaluée) ; les résultats sont-ils cliniquement valides ? (non, petit jeu de test construit par le binôme).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+ B. Phrase de fin : l'approche hybride gagne parce que les deux sources de connaissance se complètent, et l'évaluation croisée nous a appris à nous méfier d'un jeu de test écrit par l'auteur des règles.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23950"/>
            <a:ext cx="105664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2355850"/>
            <a:ext cx="10566400" cy="368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23950"/>
            <a:ext cx="105664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2355850"/>
            <a:ext cx="10566400" cy="368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mane-Guihia/Verification-Ordonnance-Hybride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A6FB0"/>
          </a:solidFill>
          <a:ln/>
        </p:spPr>
      </p:sp>
      <p:sp>
        <p:nvSpPr>
          <p:cNvPr id="3" name="Text 1"/>
          <p:cNvSpPr/>
          <p:nvPr/>
        </p:nvSpPr>
        <p:spPr>
          <a:xfrm>
            <a:off x="812800" y="1822450"/>
            <a:ext cx="10883392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100" dirty="0">
                <a:solidFill>
                  <a:srgbClr val="2A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MINI-PROJET IA HYBRIDE · SUJET 3</a:t>
            </a:r>
            <a:endParaRPr lang="en-US" sz="14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2324100"/>
            <a:ext cx="10883392" cy="144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616"/>
              </a:lnSpc>
              <a:buNone/>
            </a:pPr>
            <a:r>
              <a:rPr lang="en-US" sz="5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Vérification d'ordonnance</a:t>
            </a:r>
            <a:endParaRPr lang="en-US" sz="5200" dirty="0"/>
          </a:p>
          <a:p>
            <a:pPr marL="0" indent="0" algn="l">
              <a:lnSpc>
                <a:spcPts val="5616"/>
              </a:lnSpc>
              <a:buNone/>
            </a:pPr>
            <a:r>
              <a:rPr lang="en-US" sz="5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par graphe et règles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12800" y="4000500"/>
            <a:ext cx="108833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Signaler, hiérarchiser et expliquer les associations médicamenteuses à risque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12800" y="4578350"/>
            <a:ext cx="1056640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2800" y="4787900"/>
            <a:ext cx="352554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Imane Guihia</a:t>
            </a:r>
            <a:r>
              <a:rPr lang="en-US" sz="14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</a:t>
            </a:r>
            <a:r>
              <a:rPr lang="en-US" sz="14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Mohamed Aziz Braham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338340" y="4787900"/>
            <a:ext cx="3759637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ISIS Castres · 5e année · Octobre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A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PROBLÈME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3950"/>
            <a:ext cx="10883392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Trouver les vraies interactions sans noyer le prescripteur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2409825"/>
            <a:ext cx="3380284" cy="1790700"/>
          </a:xfrm>
          <a:prstGeom prst="roundRect">
            <a:avLst>
              <a:gd name="adj" fmla="val 5496"/>
            </a:avLst>
          </a:prstGeom>
          <a:solidFill>
            <a:srgbClr val="FFFFFF"/>
          </a:solidFill>
          <a:ln w="6350">
            <a:solidFill>
              <a:srgbClr val="D8DEE6"/>
            </a:solidFill>
            <a:prstDash val="solid"/>
          </a:ln>
        </p:spPr>
      </p:sp>
      <p:pic>
        <p:nvPicPr>
          <p:cNvPr id="5" name="Image 0" descr="Search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3150" y="2667000"/>
            <a:ext cx="304800" cy="30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3150" y="3073400"/>
            <a:ext cx="2951912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Détecter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073150" y="3448050"/>
            <a:ext cx="2951912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associations à risque d'une ordonnance (rappel)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405809" y="2409825"/>
            <a:ext cx="3380284" cy="1790700"/>
          </a:xfrm>
          <a:prstGeom prst="roundRect">
            <a:avLst>
              <a:gd name="adj" fmla="val 5496"/>
            </a:avLst>
          </a:prstGeom>
          <a:solidFill>
            <a:srgbClr val="FFFFFF"/>
          </a:solidFill>
          <a:ln w="6350">
            <a:solidFill>
              <a:srgbClr val="D8DEE6"/>
            </a:solidFill>
            <a:prstDash val="solid"/>
          </a:ln>
        </p:spPr>
      </p:sp>
      <p:pic>
        <p:nvPicPr>
          <p:cNvPr id="9" name="Image 1" descr="Warni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2984" y="2667000"/>
            <a:ext cx="304800" cy="3048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2984" y="3073400"/>
            <a:ext cx="2951912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Hiérarchiser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4662984" y="3448050"/>
            <a:ext cx="2951912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gravité, avec l'échelle du Thésaurus ANSM (1 à 4)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995642" y="2409825"/>
            <a:ext cx="3380383" cy="1790700"/>
          </a:xfrm>
          <a:prstGeom prst="roundRect">
            <a:avLst>
              <a:gd name="adj" fmla="val 5496"/>
            </a:avLst>
          </a:prstGeom>
          <a:solidFill>
            <a:srgbClr val="FFFFFF"/>
          </a:solidFill>
          <a:ln w="6350">
            <a:solidFill>
              <a:srgbClr val="D8DEE6"/>
            </a:solidFill>
            <a:prstDash val="solid"/>
          </a:ln>
        </p:spPr>
      </p:sp>
      <p:pic>
        <p:nvPicPr>
          <p:cNvPr id="13" name="Image 2" descr="Lightbulb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52817" y="2667000"/>
            <a:ext cx="304800" cy="3048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52817" y="3073400"/>
            <a:ext cx="2952014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Expliquer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8252817" y="3448050"/>
            <a:ext cx="2952014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alerte : règle, source et chemin dans le graphe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12800" y="4559300"/>
            <a:ext cx="10566400" cy="685800"/>
          </a:xfrm>
          <a:prstGeom prst="roundRect">
            <a:avLst>
              <a:gd name="adj" fmla="val 11111"/>
            </a:avLst>
          </a:prstGeom>
          <a:solidFill>
            <a:srgbClr val="EEF3F9"/>
          </a:solidFill>
          <a:ln/>
        </p:spPr>
      </p:sp>
      <p:sp>
        <p:nvSpPr>
          <p:cNvPr id="17" name="Text 12"/>
          <p:cNvSpPr/>
          <p:nvPr/>
        </p:nvSpPr>
        <p:spPr>
          <a:xfrm>
            <a:off x="1066800" y="4762500"/>
            <a:ext cx="1036015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Contrainte :</a:t>
            </a:r>
            <a:r>
              <a:rPr lang="en-US" sz="16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trop d'alertes = </a:t>
            </a:r>
            <a:r>
              <a:rPr lang="en-US" sz="16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fatigue d'alerte</a:t>
            </a:r>
            <a:r>
              <a:rPr lang="en-US" sz="16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et le prescripteur finit par les ignorer.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12800" y="624205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Vérification d'ordonnance hybride · 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A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DONNÉES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3950"/>
            <a:ext cx="10883392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Hetionet est riche, mais incomplet pour notre usage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419350"/>
            <a:ext cx="3386634" cy="0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584450"/>
            <a:ext cx="3488233" cy="806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160"/>
              </a:lnSpc>
              <a:buNone/>
            </a:pPr>
            <a:r>
              <a:rPr lang="en-US" sz="4400" b="1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9 364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12800" y="3416300"/>
            <a:ext cx="3488233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nœuds gardés (médicaments, classes, gènes, effets) sur 47 031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02634" y="2419350"/>
            <a:ext cx="3386634" cy="0"/>
          </a:xfrm>
          <a:prstGeom prst="line">
            <a:avLst/>
          </a:prstGeom>
          <a:noFill/>
          <a:ln w="25400">
            <a:solidFill>
              <a:srgbClr val="D982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2634" y="2584450"/>
            <a:ext cx="3488233" cy="806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160"/>
              </a:lnSpc>
              <a:buNone/>
            </a:pPr>
            <a:r>
              <a:rPr lang="en-US" sz="4400" b="1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47 %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402634" y="3416300"/>
            <a:ext cx="3488233" cy="768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médicaments seulement ont une classe (aucune pour statines, IEC, potassium)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92467" y="2419350"/>
            <a:ext cx="3386733" cy="0"/>
          </a:xfrm>
          <a:prstGeom prst="line">
            <a:avLst/>
          </a:prstGeom>
          <a:noFill/>
          <a:ln w="25400">
            <a:solidFill>
              <a:srgbClr val="D982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92467" y="2584450"/>
            <a:ext cx="3488335" cy="806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160"/>
              </a:lnSpc>
              <a:buNone/>
            </a:pPr>
            <a:r>
              <a:rPr lang="en-US" sz="4400" b="1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0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7992467" y="3416300"/>
            <a:ext cx="3488335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effet indésirable pour la warfarine dans le graphe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4514850"/>
            <a:ext cx="10883392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ajouts, tous sourcés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12800" y="4864100"/>
            <a:ext cx="1088339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ATC de 28 classes · dictionnaire de synonymes (DCI françaises, noms commerciaux) · 17 effets graves · 14 médicaments à marge thérapeutique étroite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12800" y="624205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Hetionet v1.0 (CC0) · arêtes PCiC, CbG, CcSE, CtD · 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A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L'ARCHITECTURE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3950"/>
            <a:ext cx="10883392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Deux familles de règles, un filtre, des alertes expliquées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2359025"/>
            <a:ext cx="3143250" cy="768350"/>
          </a:xfrm>
          <a:prstGeom prst="roundRect">
            <a:avLst>
              <a:gd name="adj" fmla="val 9504"/>
            </a:avLst>
          </a:prstGeom>
          <a:solidFill>
            <a:srgbClr val="FFFFFF"/>
          </a:solidFill>
          <a:ln w="6350">
            <a:solidFill>
              <a:srgbClr val="C9D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29069" y="2514600"/>
            <a:ext cx="2917063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Ordonnance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29069" y="2762250"/>
            <a:ext cx="291706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à 9 médicaments</a:t>
            </a:r>
            <a:endParaRPr lang="en-US" sz="1200" dirty="0"/>
          </a:p>
        </p:txBody>
      </p:sp>
      <p:pic>
        <p:nvPicPr>
          <p:cNvPr id="7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064000" y="2654300"/>
            <a:ext cx="355600" cy="1778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24375" y="2359025"/>
            <a:ext cx="3143250" cy="768350"/>
          </a:xfrm>
          <a:prstGeom prst="roundRect">
            <a:avLst>
              <a:gd name="adj" fmla="val 9504"/>
            </a:avLst>
          </a:prstGeom>
          <a:solidFill>
            <a:srgbClr val="FFFFFF"/>
          </a:solidFill>
          <a:ln w="6350">
            <a:solidFill>
              <a:srgbClr val="C9D2D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37468" y="2514600"/>
            <a:ext cx="2917063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Reconnaissance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637468" y="2762250"/>
            <a:ext cx="291706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synonymes, nom approché</a:t>
            </a:r>
            <a:endParaRPr lang="en-US" sz="1200" dirty="0"/>
          </a:p>
        </p:txBody>
      </p:sp>
      <p:pic>
        <p:nvPicPr>
          <p:cNvPr id="11" name="Image 1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72400" y="2654300"/>
            <a:ext cx="355600" cy="1778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232775" y="2359025"/>
            <a:ext cx="3143250" cy="768350"/>
          </a:xfrm>
          <a:prstGeom prst="roundRect">
            <a:avLst>
              <a:gd name="adj" fmla="val 9504"/>
            </a:avLst>
          </a:prstGeom>
          <a:solidFill>
            <a:srgbClr val="FFFFFF"/>
          </a:solidFill>
          <a:ln w="6350">
            <a:solidFill>
              <a:srgbClr val="C9D2D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345868" y="2514600"/>
            <a:ext cx="2917063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Paires A + B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345868" y="2762250"/>
            <a:ext cx="291706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toutes les paires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5975" y="3438525"/>
            <a:ext cx="5175250" cy="889000"/>
          </a:xfrm>
          <a:prstGeom prst="roundRect">
            <a:avLst>
              <a:gd name="adj" fmla="val 8214"/>
            </a:avLst>
          </a:prstGeom>
          <a:solidFill>
            <a:srgbClr val="FFFFFF"/>
          </a:solidFill>
          <a:ln w="6350">
            <a:solidFill>
              <a:srgbClr val="C9D2DC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96950" y="3619500"/>
            <a:ext cx="495769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Règles expertes R01-R24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996950" y="3937000"/>
            <a:ext cx="4957699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 lue dans le graphe (PCiC) ou la table ATC · niveau ANSM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200775" y="3438525"/>
            <a:ext cx="5175250" cy="889000"/>
          </a:xfrm>
          <a:prstGeom prst="roundRect">
            <a:avLst>
              <a:gd name="adj" fmla="val 8214"/>
            </a:avLst>
          </a:prstGeom>
          <a:solidFill>
            <a:srgbClr val="FFFFFF"/>
          </a:solidFill>
          <a:ln w="6350">
            <a:solidFill>
              <a:srgbClr val="C9D2D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381750" y="3619500"/>
            <a:ext cx="495769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Règles du graphe G1-G3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6381750" y="3937000"/>
            <a:ext cx="4957699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pharmacocinétique, effet partagé, cible commune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5975" y="4645025"/>
            <a:ext cx="4991100" cy="768350"/>
          </a:xfrm>
          <a:prstGeom prst="roundRect">
            <a:avLst>
              <a:gd name="adj" fmla="val 9504"/>
            </a:avLst>
          </a:prstGeom>
          <a:solidFill>
            <a:srgbClr val="FFFFFF"/>
          </a:solidFill>
          <a:ln w="6350">
            <a:solidFill>
              <a:srgbClr val="C9D2D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901351" y="4800600"/>
            <a:ext cx="4820349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Filtre anti-fatigue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901351" y="5048250"/>
            <a:ext cx="4820349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expertes toujours · graphe si niveau ≥ 2</a:t>
            </a:r>
            <a:endParaRPr lang="en-US" sz="1200" dirty="0"/>
          </a:p>
        </p:txBody>
      </p:sp>
      <p:pic>
        <p:nvPicPr>
          <p:cNvPr id="24" name="Image 2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11850" y="4940300"/>
            <a:ext cx="355600" cy="17780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6375400" y="4641850"/>
            <a:ext cx="4997450" cy="774700"/>
          </a:xfrm>
          <a:prstGeom prst="roundRect">
            <a:avLst>
              <a:gd name="adj" fmla="val 9016"/>
            </a:avLst>
          </a:prstGeom>
          <a:solidFill>
            <a:srgbClr val="EEF3F9"/>
          </a:solidFill>
          <a:ln w="12700">
            <a:solidFill>
              <a:srgbClr val="2A6FB0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6463951" y="4800600"/>
            <a:ext cx="4820349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Alertes triées par gravité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463951" y="5048250"/>
            <a:ext cx="4820349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 + source + chemin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812800" y="624205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Vérification d'ordonnance hybride · 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A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RÈGLES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3950"/>
            <a:ext cx="10883392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24 règles expertes sourcées, 3 règles tirées du graphe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266950"/>
          <a:ext cx="10553700" cy="2474714"/>
        </p:xfrm>
        <a:graphic>
          <a:graphicData uri="http://schemas.openxmlformats.org/drawingml/2006/table">
            <a:tbl>
              <a:tblPr/>
              <a:tblGrid>
                <a:gridCol w="25328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54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61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927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Famille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 qu'elle vérifie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E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Niveau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E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39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R01-R18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deux classes connues pour interagir : AVK + AINS, statine + inhibiteur CYP3A4, nitré + IPDE5…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à 4 selon le Thésaurus ANSM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39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R19-R24 (version d'Aziz)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ISRS/IRSN + AINS ou AVK, antiagrégant + AINS, digoxine + macrolide, potassium + épargneur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à 4 selon le Thésaurus ANSM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27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 pharmacocinétique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inhibe une enzyme (PCiC) à laquelle B est lié (CbG)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si B est à marge étroite, sinon 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39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G2 / G3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effet grave partagé (CcSE) / cible commune hors enzymes (CbG)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 masqué en mode concis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944864"/>
            <a:ext cx="10883392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: Thésaurus ANSM, classification ATC (OMS), RCP EMA et étiquettes FDA.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12800" y="624205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Vérification d'ordonnance hybride · 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A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ALERTE EXPLIQUÉE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3950"/>
            <a:ext cx="10883392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Warfarine + ibuprofène : la règle, sa source et sa preuve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2308225"/>
            <a:ext cx="10560050" cy="2501900"/>
          </a:xfrm>
          <a:prstGeom prst="roundRect">
            <a:avLst>
              <a:gd name="adj" fmla="val 2919"/>
            </a:avLst>
          </a:prstGeom>
          <a:solidFill>
            <a:srgbClr val="FFFFFF"/>
          </a:solidFill>
          <a:ln w="6350">
            <a:solidFill>
              <a:srgbClr val="C9D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3950" y="2565400"/>
            <a:ext cx="1024242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$ python src/verifier.py warfarine ibuprofène oméprazole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23950" y="2901950"/>
            <a:ext cx="1024242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Association déconseillée · warfarine + ibuprofène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23950" y="3327400"/>
            <a:ext cx="10242423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R01 : majoration du risque hémorragique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3950" y="3702050"/>
            <a:ext cx="10242423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Warfarin ←[PCiC]— « Vitamin K Inhibitors » ⇒ antivitamines K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Ibuprofen ←[PCiC]— « Nonsteroidal Anti-inflammatory Compounds » ⇒ AINS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23950" y="4324350"/>
            <a:ext cx="1024242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: ANSM, Thésaurus des interactions médicamenteuses : AVK + AINS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12800" y="5067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Fluindione (Previscan), absente du graphe, est classée par la table ATC ; un nom inconnu est toujours signalé.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2800" y="624205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Vérification d'ordonnance hybride · 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A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PROTOCOLE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3950"/>
            <a:ext cx="10883392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40 ordonnances, 54 paires à risque, une référence non hybride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2409825"/>
            <a:ext cx="5175250" cy="1555750"/>
          </a:xfrm>
          <a:prstGeom prst="roundRect">
            <a:avLst>
              <a:gd name="adj" fmla="val 6327"/>
            </a:avLst>
          </a:prstGeom>
          <a:solidFill>
            <a:srgbClr val="FFFFFF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7750" y="2641600"/>
            <a:ext cx="4853051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Jeu de test fusionné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47750" y="2971800"/>
            <a:ext cx="4853051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ordonnances par membre du binôme, dont 3 sans interaction et 2 avec un médicament absent du graphe. Niveaux ANSM ; 16 paires à confirmer.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00775" y="2409825"/>
            <a:ext cx="5175250" cy="1555750"/>
          </a:xfrm>
          <a:prstGeom prst="roundRect">
            <a:avLst>
              <a:gd name="adj" fmla="val 6327"/>
            </a:avLst>
          </a:prstGeom>
          <a:solidFill>
            <a:srgbClr val="FFFFFF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2550" y="2641600"/>
            <a:ext cx="4853051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Référence non hybride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32550" y="2971800"/>
            <a:ext cx="485305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Recherche exacte de la paire dans une liste de 26 interactions, sans classes ni graphe.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5975" y="4175125"/>
            <a:ext cx="5175250" cy="1301750"/>
          </a:xfrm>
          <a:prstGeom prst="roundRect">
            <a:avLst>
              <a:gd name="adj" fmla="val 7561"/>
            </a:avLst>
          </a:prstGeom>
          <a:solidFill>
            <a:srgbClr val="FFFFFF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7750" y="4406900"/>
            <a:ext cx="4853051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Mesures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7750" y="4737100"/>
            <a:ext cx="485305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Précision, rappel, F1, niveau exact, alertes par ordonnance, cohérence, temps.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00775" y="4175125"/>
            <a:ext cx="5175250" cy="1301750"/>
          </a:xfrm>
          <a:prstGeom prst="roundRect">
            <a:avLst>
              <a:gd name="adj" fmla="val 7561"/>
            </a:avLst>
          </a:prstGeom>
          <a:solidFill>
            <a:srgbClr val="FFFFFF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2550" y="4406900"/>
            <a:ext cx="4853051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Contre le biais d'auteur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32550" y="4737100"/>
            <a:ext cx="485305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Évaluation croisée avant fusion et 5 ordonnances de généralisation hors table.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624205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Vérification d'ordonnance hybride · 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A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 PRINCIPAL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3950"/>
            <a:ext cx="10883392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L'hybride trouve 48 des 54 interactions, avec 2 fausses alertes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2413000"/>
            <a:ext cx="5118100" cy="2203450"/>
          </a:xfrm>
          <a:prstGeom prst="roundRect">
            <a:avLst>
              <a:gd name="adj" fmla="val 4323"/>
            </a:avLst>
          </a:prstGeom>
          <a:solidFill>
            <a:srgbClr val="FFFFFF"/>
          </a:solidFill>
          <a:ln w="12700">
            <a:solidFill>
              <a:srgbClr val="2A6FB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9500" y="2673350"/>
            <a:ext cx="4735322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A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Hybride (graphe + règles)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79500" y="2971800"/>
            <a:ext cx="4735322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600"/>
              </a:lnSpc>
              <a:buNone/>
            </a:pPr>
            <a:r>
              <a:rPr lang="en-US" sz="6000" b="1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F1 0,92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1079500" y="3860800"/>
            <a:ext cx="4735322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précision 0,96 · rappel 0,89</a:t>
            </a:r>
            <a:endParaRPr lang="en-US" sz="1400" dirty="0"/>
          </a:p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1,25 alerte par ordonnance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51575" y="2409825"/>
            <a:ext cx="5124450" cy="2209800"/>
          </a:xfrm>
          <a:prstGeom prst="roundRect">
            <a:avLst>
              <a:gd name="adj" fmla="val 4454"/>
            </a:avLst>
          </a:prstGeom>
          <a:solidFill>
            <a:srgbClr val="FFFFFF"/>
          </a:solidFill>
          <a:ln w="6350">
            <a:solidFill>
              <a:srgbClr val="C9D2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08750" y="2667000"/>
            <a:ext cx="4748403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Référence : liste de paires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08750" y="2965450"/>
            <a:ext cx="4748403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600"/>
              </a:lnSpc>
              <a:buNone/>
            </a:pPr>
            <a:r>
              <a:rPr lang="en-US" sz="6000" b="1" dirty="0">
                <a:solidFill>
                  <a:srgbClr val="7A8594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F1 0,56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6508750" y="3854450"/>
            <a:ext cx="4748403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précision 1,00 · rappel 0,39</a:t>
            </a:r>
            <a:endParaRPr lang="en-US" sz="1400" dirty="0"/>
          </a:p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0,53 alerte par ordonnance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2800" y="49784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référence ne se trompe jamais, mais elle rate 6 interactions sur 10 : elle ne généralise pas aux classes.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12800" y="624205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ordonnances · 54 paires attendues · 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A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ABLATION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3950"/>
            <a:ext cx="10883392" cy="488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Chaque brique retirée fait baisser le F1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44675"/>
            <a:ext cx="39243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Hybride complet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75200" y="1841500"/>
            <a:ext cx="5257800" cy="254000"/>
          </a:xfrm>
          <a:prstGeom prst="roundRect">
            <a:avLst>
              <a:gd name="adj" fmla="val 15000"/>
            </a:avLst>
          </a:prstGeom>
          <a:solidFill>
            <a:srgbClr val="2A6FB0"/>
          </a:solidFill>
          <a:ln/>
        </p:spPr>
      </p:sp>
      <p:sp>
        <p:nvSpPr>
          <p:cNvPr id="6" name="Text 4"/>
          <p:cNvSpPr/>
          <p:nvPr/>
        </p:nvSpPr>
        <p:spPr>
          <a:xfrm>
            <a:off x="10185400" y="1844675"/>
            <a:ext cx="41529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0,92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2800" y="2212975"/>
            <a:ext cx="39243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filtre « marge étroite »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75200" y="2209800"/>
            <a:ext cx="4629150" cy="254000"/>
          </a:xfrm>
          <a:prstGeom prst="roundRect">
            <a:avLst>
              <a:gd name="adj" fmla="val 15000"/>
            </a:avLst>
          </a:prstGeom>
          <a:solidFill>
            <a:srgbClr val="B7C3CF"/>
          </a:solidFill>
          <a:ln/>
        </p:spPr>
      </p:sp>
      <p:sp>
        <p:nvSpPr>
          <p:cNvPr id="9" name="Text 7"/>
          <p:cNvSpPr/>
          <p:nvPr/>
        </p:nvSpPr>
        <p:spPr>
          <a:xfrm>
            <a:off x="9556750" y="2212975"/>
            <a:ext cx="41529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0,81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2800" y="2581275"/>
            <a:ext cx="39243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règles d'Aziz (R19-R24)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775200" y="2578100"/>
            <a:ext cx="4572000" cy="254000"/>
          </a:xfrm>
          <a:prstGeom prst="roundRect">
            <a:avLst>
              <a:gd name="adj" fmla="val 15000"/>
            </a:avLst>
          </a:prstGeom>
          <a:solidFill>
            <a:srgbClr val="B7C3CF"/>
          </a:solidFill>
          <a:ln/>
        </p:spPr>
      </p:sp>
      <p:sp>
        <p:nvSpPr>
          <p:cNvPr id="12" name="Text 10"/>
          <p:cNvSpPr/>
          <p:nvPr/>
        </p:nvSpPr>
        <p:spPr>
          <a:xfrm>
            <a:off x="9499600" y="2581275"/>
            <a:ext cx="41529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0,80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2949575"/>
            <a:ext cx="39243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table ATC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75200" y="2946400"/>
            <a:ext cx="4057650" cy="254000"/>
          </a:xfrm>
          <a:prstGeom prst="roundRect">
            <a:avLst>
              <a:gd name="adj" fmla="val 15000"/>
            </a:avLst>
          </a:prstGeom>
          <a:solidFill>
            <a:srgbClr val="B7C3CF"/>
          </a:solidFill>
          <a:ln/>
        </p:spPr>
      </p:sp>
      <p:sp>
        <p:nvSpPr>
          <p:cNvPr id="15" name="Text 13"/>
          <p:cNvSpPr/>
          <p:nvPr/>
        </p:nvSpPr>
        <p:spPr>
          <a:xfrm>
            <a:off x="8985250" y="2949575"/>
            <a:ext cx="41529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3317875"/>
            <a:ext cx="39243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filtre anti-fatigue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75200" y="3314700"/>
            <a:ext cx="3314700" cy="254000"/>
          </a:xfrm>
          <a:prstGeom prst="roundRect">
            <a:avLst>
              <a:gd name="adj" fmla="val 15000"/>
            </a:avLst>
          </a:prstGeom>
          <a:solidFill>
            <a:srgbClr val="B7C3CF"/>
          </a:solidFill>
          <a:ln/>
        </p:spPr>
      </p:sp>
      <p:sp>
        <p:nvSpPr>
          <p:cNvPr id="18" name="Text 16"/>
          <p:cNvSpPr/>
          <p:nvPr/>
        </p:nvSpPr>
        <p:spPr>
          <a:xfrm>
            <a:off x="8242300" y="3317875"/>
            <a:ext cx="41529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0,58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2800" y="3686175"/>
            <a:ext cx="39243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Graphe seul (G1-G3)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775200" y="3683000"/>
            <a:ext cx="1771650" cy="254000"/>
          </a:xfrm>
          <a:prstGeom prst="roundRect">
            <a:avLst>
              <a:gd name="adj" fmla="val 15000"/>
            </a:avLst>
          </a:prstGeom>
          <a:solidFill>
            <a:srgbClr val="B7C3CF"/>
          </a:solidFill>
          <a:ln/>
        </p:spPr>
      </p:sp>
      <p:sp>
        <p:nvSpPr>
          <p:cNvPr id="21" name="Text 19"/>
          <p:cNvSpPr/>
          <p:nvPr/>
        </p:nvSpPr>
        <p:spPr>
          <a:xfrm>
            <a:off x="6699250" y="3686175"/>
            <a:ext cx="41529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0,31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12800" y="4057650"/>
            <a:ext cx="10566400" cy="0"/>
          </a:xfrm>
          <a:prstGeom prst="line">
            <a:avLst/>
          </a:prstGeom>
          <a:noFill/>
          <a:ln w="12700">
            <a:solidFill>
              <a:srgbClr val="C9D2DC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812800" y="4181475"/>
            <a:ext cx="39243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D98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Référence : liste de paires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775200" y="4178300"/>
            <a:ext cx="3200400" cy="254000"/>
          </a:xfrm>
          <a:prstGeom prst="roundRect">
            <a:avLst>
              <a:gd name="adj" fmla="val 15000"/>
            </a:avLst>
          </a:prstGeom>
          <a:solidFill>
            <a:srgbClr val="F2C9A0"/>
          </a:solidFill>
          <a:ln/>
        </p:spPr>
      </p:sp>
      <p:sp>
        <p:nvSpPr>
          <p:cNvPr id="25" name="Text 23"/>
          <p:cNvSpPr/>
          <p:nvPr/>
        </p:nvSpPr>
        <p:spPr>
          <a:xfrm>
            <a:off x="8128000" y="4181475"/>
            <a:ext cx="41529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D98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12800" y="4686300"/>
            <a:ext cx="10883392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filtre anti-fatigue : rappel 0,94, mais 70 fausses alertes pour 40 ordonnances.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12800" y="624205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sur le jeu fusionné · 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A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ÉVALUATION CROISÉE, AVANT LA FUSION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3950"/>
            <a:ext cx="10883392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Chaque version était meilleure sur son propre jeu de test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368550"/>
          <a:ext cx="7607300" cy="1317724"/>
        </p:xfrm>
        <a:graphic>
          <a:graphicData uri="http://schemas.openxmlformats.org/drawingml/2006/table">
            <a:tbl>
              <a:tblPr/>
              <a:tblGrid>
                <a:gridCol w="304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2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2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 de la version…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 le jeu d'Imane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 le jeu d'Aziz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d'Imane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d'Aziz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5975" y="3994249"/>
            <a:ext cx="5175250" cy="1200150"/>
          </a:xfrm>
          <a:prstGeom prst="roundRect">
            <a:avLst>
              <a:gd name="adj" fmla="val 6085"/>
            </a:avLst>
          </a:prstGeom>
          <a:solidFill>
            <a:srgbClr val="FFFFFF"/>
          </a:solidFill>
          <a:ln w="6350">
            <a:solidFill>
              <a:srgbClr val="C9D2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22350" y="4200624"/>
            <a:ext cx="4905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Leçon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22350" y="4492724"/>
            <a:ext cx="4905375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jeu de test écrit par l'auteur des règles surestime la performance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00775" y="3994249"/>
            <a:ext cx="5175250" cy="1200150"/>
          </a:xfrm>
          <a:prstGeom prst="roundRect">
            <a:avLst>
              <a:gd name="adj" fmla="val 6085"/>
            </a:avLst>
          </a:prstGeom>
          <a:solidFill>
            <a:srgbClr val="FFFFFF"/>
          </a:solidFill>
          <a:ln w="6350">
            <a:solidFill>
              <a:srgbClr val="C9D2D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7150" y="4200624"/>
            <a:ext cx="4905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7150" y="4492724"/>
            <a:ext cx="4905375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d'Imane + règles et ordonnances d'Aziz ; F1 0,98 sur ses ordonnances, donc optimiste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2800" y="624205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Vérification d'ordonnance hybride · 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A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 D'ERREURS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3950"/>
            <a:ext cx="10883392" cy="488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8 erreurs, chacune attribuée à sa brique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95475"/>
            <a:ext cx="5175250" cy="1187450"/>
          </a:xfrm>
          <a:prstGeom prst="roundRect">
            <a:avLst>
              <a:gd name="adj" fmla="val 6150"/>
            </a:avLst>
          </a:prstGeom>
          <a:solidFill>
            <a:srgbClr val="FFFFFF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2350" y="2101850"/>
            <a:ext cx="4905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Filtre anti-fatigue · 3 oublis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2350" y="2406650"/>
            <a:ext cx="49053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allopurinol + azathioprine : le graphe savait (cible commune XDH), mais le signal de niveau 1 est masqué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00775" y="1895475"/>
            <a:ext cx="5175250" cy="1187450"/>
          </a:xfrm>
          <a:prstGeom prst="roundRect">
            <a:avLst>
              <a:gd name="adj" fmla="val 6150"/>
            </a:avLst>
          </a:prstGeom>
          <a:solidFill>
            <a:srgbClr val="FFFFFF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7150" y="2101850"/>
            <a:ext cx="4905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 manquante · 3 oublis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7150" y="2406650"/>
            <a:ext cx="49053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digoxine + furosémide (hypokaliémie), simvastatine + amlodipine : rien dans les règles ni le graphe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5975" y="3292475"/>
            <a:ext cx="5175250" cy="1187450"/>
          </a:xfrm>
          <a:prstGeom prst="roundRect">
            <a:avLst>
              <a:gd name="adj" fmla="val 6150"/>
            </a:avLst>
          </a:prstGeom>
          <a:solidFill>
            <a:srgbClr val="FFFFFF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2350" y="3498850"/>
            <a:ext cx="4905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Graphe : classe trop large · 1 fausse alerte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22350" y="3803650"/>
            <a:ext cx="49053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aspirine classée AINS ; à dose antiagrégante, l'interaction AINS + IEC ne s'applique pas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00775" y="3292475"/>
            <a:ext cx="5175250" cy="1187450"/>
          </a:xfrm>
          <a:prstGeom prst="roundRect">
            <a:avLst>
              <a:gd name="adj" fmla="val 6150"/>
            </a:avLst>
          </a:prstGeom>
          <a:solidFill>
            <a:srgbClr val="FFFFFF"/>
          </a:solidFill>
          <a:ln w="6350">
            <a:solidFill>
              <a:srgbClr val="D8DE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7150" y="3498850"/>
            <a:ext cx="4905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Graphe : règle G1 · 1 fausse alerte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7150" y="3803650"/>
            <a:ext cx="49053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oméprazole + warfarine : le graphe ne code pas la force de l'inhibition enzymatique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2800" y="624205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Bleu : oublis · orange : fausses alertes · 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A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 · PROBLOG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3950"/>
            <a:ext cx="10883392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Des règles pondérées pour classer les alertes par probabilité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2359025"/>
            <a:ext cx="3380284" cy="1422400"/>
          </a:xfrm>
          <a:prstGeom prst="roundRect">
            <a:avLst>
              <a:gd name="adj" fmla="val 5134"/>
            </a:avLst>
          </a:prstGeom>
          <a:solidFill>
            <a:srgbClr val="FFFFFF"/>
          </a:solidFill>
          <a:ln w="6350">
            <a:solidFill>
              <a:srgbClr val="C9D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2350" y="2565400"/>
            <a:ext cx="305656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000" b="1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0,93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22350" y="3327400"/>
            <a:ext cx="305656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sur 152 paires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05809" y="2359025"/>
            <a:ext cx="3380284" cy="1422400"/>
          </a:xfrm>
          <a:prstGeom prst="roundRect">
            <a:avLst>
              <a:gd name="adj" fmla="val 5134"/>
            </a:avLst>
          </a:prstGeom>
          <a:solidFill>
            <a:srgbClr val="FFFFFF"/>
          </a:solidFill>
          <a:ln w="6350">
            <a:solidFill>
              <a:srgbClr val="C9D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2184" y="2565400"/>
            <a:ext cx="305656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000" b="1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0,07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612184" y="3327400"/>
            <a:ext cx="305656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erreur de calibration (ECE)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95642" y="2359025"/>
            <a:ext cx="3380383" cy="1422400"/>
          </a:xfrm>
          <a:prstGeom prst="roundRect">
            <a:avLst>
              <a:gd name="adj" fmla="val 5134"/>
            </a:avLst>
          </a:prstGeom>
          <a:solidFill>
            <a:srgbClr val="FFFFFF"/>
          </a:solidFill>
          <a:ln w="6350">
            <a:solidFill>
              <a:srgbClr val="C9D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02017" y="2565400"/>
            <a:ext cx="3056662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000" b="1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47 / 48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202017" y="3327400"/>
            <a:ext cx="3056662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vraies alertes gardées au seuil 0,5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4089400"/>
            <a:ext cx="1088339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Poids fixés </a:t>
            </a:r>
            <a:r>
              <a:rPr 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</a:t>
            </a:r>
            <a:r>
              <a:rPr lang="en-US" sz="15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l'évaluation : 0,95 à 0,60 pour une règle experte selon son niveau, 0,40 ou 0,15 pour G1. La pondération ordonne les alertes plus qu'elle ne les change ; la tranche 0,2-0,4 est surestimée.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12800" y="624205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Vérification d'ordonnance hybride · 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A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LIMITES ET SUITE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23950"/>
            <a:ext cx="10883392" cy="488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Une absence d'alerte n'est jamais une garantie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92300"/>
            <a:ext cx="5284724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0082" y="2266950"/>
            <a:ext cx="517982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6718" indent="-1567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Graphe incomplet et statique (Hetionet 2017)</a:t>
            </a:r>
            <a:endParaRPr lang="en-US" sz="1400" dirty="0"/>
          </a:p>
          <a:p>
            <a:pPr marL="156718" indent="-1567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dose, ni patient, ni intensité des inhibiteurs</a:t>
            </a:r>
            <a:endParaRPr lang="en-US" sz="1400" dirty="0"/>
          </a:p>
          <a:p>
            <a:pPr marL="156718" indent="-1567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Vérité terrain du binôme : 16 niveaux à confirmer</a:t>
            </a:r>
            <a:endParaRPr lang="en-US" sz="1400" dirty="0"/>
          </a:p>
          <a:p>
            <a:pPr marL="156718" indent="-1567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Filtre et règles R19-R24 ajoutés en voyant le test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248400" y="1892300"/>
            <a:ext cx="5284724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345682" y="2266950"/>
            <a:ext cx="5179822" cy="1358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6718" indent="-1567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par un pharmacien, jeu de test indépendant</a:t>
            </a:r>
            <a:endParaRPr lang="en-US" sz="1400" dirty="0"/>
          </a:p>
          <a:p>
            <a:pPr marL="156718" indent="-1567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Coder la dose et la force des inhibiteurs</a:t>
            </a:r>
            <a:endParaRPr lang="en-US" sz="1400" dirty="0"/>
          </a:p>
          <a:p>
            <a:pPr marL="156718" indent="-1567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Apprendre les poids ProbLog</a:t>
            </a:r>
            <a:endParaRPr lang="en-US" sz="1400" dirty="0"/>
          </a:p>
          <a:p>
            <a:pPr marL="156718" indent="-1567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Interactions candidates par embeddings (TransE), comme hypothèses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2800" y="6242050"/>
            <a:ext cx="1088339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Vérification d'ordonnance hybride · 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A6FB0"/>
          </a:solidFill>
          <a:ln/>
        </p:spPr>
      </p:sp>
      <p:sp>
        <p:nvSpPr>
          <p:cNvPr id="3" name="Text 1"/>
          <p:cNvSpPr/>
          <p:nvPr/>
        </p:nvSpPr>
        <p:spPr>
          <a:xfrm>
            <a:off x="812800" y="1958975"/>
            <a:ext cx="10883392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100" dirty="0">
                <a:solidFill>
                  <a:srgbClr val="2A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RÉSUMÉ</a:t>
            </a:r>
            <a:endParaRPr lang="en-US" sz="14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2460625"/>
            <a:ext cx="10883392" cy="1155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4000" b="1" i="0" dirty="0">
                <a:solidFill>
                  <a:srgbClr val="1B2A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Les règles donnent la gravité et la fiabilité, le graphe la généralisation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12800" y="3844925"/>
            <a:ext cx="108833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0,92 contre 0,56 pour la référence · 1,25 alerte par ordonnance · chaque alerte expliquée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12800" y="4422775"/>
            <a:ext cx="1056640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2800" y="4632325"/>
            <a:ext cx="216783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 — questions 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980630" y="4632325"/>
            <a:ext cx="750736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et notebooks : </a:t>
            </a:r>
            <a:r>
              <a:rPr lang="en-US" sz="1400" u="sng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github.com/Imane-Guihia/Verification-Ordonnance-Hybride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enance — Vérification d'ordonnance hybride">
  <a:themeElements>
    <a:clrScheme name="Soutenance — Vérification d'ordonnance hybride">
      <a:dk1>
        <a:srgbClr val="1B2A3A"/>
      </a:dk1>
      <a:lt1>
        <a:srgbClr val="FBFBF8"/>
      </a:lt1>
      <a:dk2>
        <a:srgbClr val="535E6A"/>
      </a:dk2>
      <a:lt2>
        <a:srgbClr val="E5E6E5"/>
      </a:lt2>
      <a:accent1>
        <a:srgbClr val="2A6FB0"/>
      </a:accent1>
      <a:accent2>
        <a:srgbClr val="D9822B"/>
      </a:accent2>
      <a:accent3>
        <a:srgbClr val="F2C9A0"/>
      </a:accent3>
      <a:accent4>
        <a:srgbClr val="4A5568"/>
      </a:accent4>
      <a:accent5>
        <a:srgbClr val="7A8594"/>
      </a:accent5>
      <a:accent6>
        <a:srgbClr val="B7C3CF"/>
      </a:accent6>
      <a:hlink>
        <a:srgbClr val="0563C1"/>
      </a:hlink>
      <a:folHlink>
        <a:srgbClr val="954F72"/>
      </a:folHlink>
    </a:clrScheme>
    <a:fontScheme name="Soutenance — Vérification d'ordonnance hybrid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Grand écran</PresentationFormat>
  <Paragraphs>0</Paragraphs>
  <Slides>14</Slides>
  <Notes>14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5" baseType="lpstr">
      <vt:lpstr>Soutenance — Vérification d'ordonnance hybride</vt:lpstr>
      <vt:lpstr>Vérification d'ordonnance par graphe et règles</vt:lpstr>
      <vt:lpstr>Trouver les vraies interactions sans noyer le prescripteur</vt:lpstr>
      <vt:lpstr>Hetionet est riche, mais incomplet pour notre usage</vt:lpstr>
      <vt:lpstr>Deux familles de règles, un filtre, des alertes expliquées</vt:lpstr>
      <vt:lpstr>24 règles expertes sourcées, 3 règles tirées du graphe</vt:lpstr>
      <vt:lpstr>Warfarine + ibuprofène : la règle, sa source et sa preuve</vt:lpstr>
      <vt:lpstr>40 ordonnances, 54 paires à risque, une référence non hybride</vt:lpstr>
      <vt:lpstr>L'hybride trouve 48 des 54 interactions, avec 2 fausses alertes</vt:lpstr>
      <vt:lpstr>Chaque brique retirée fait baisser le F1</vt:lpstr>
      <vt:lpstr>Chaque version était meilleure sur son propre jeu de test</vt:lpstr>
      <vt:lpstr>8 erreurs, chacune attribuée à sa brique</vt:lpstr>
      <vt:lpstr>Des règles pondérées pour classer les alertes par probabilité</vt:lpstr>
      <vt:lpstr>Une absence d'alerte n'est jamais une garantie</vt:lpstr>
      <vt:lpstr>Les règles donnent la gravité et la fiabilité, le graphe la généralisation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— Vérification d'ordonnance hybride</dc:title>
  <dc:subject/>
  <dc:creator/>
  <cp:lastModifiedBy/>
  <cp:revision>4</cp:revision>
  <dcterms:created xsi:type="dcterms:W3CDTF">2026-10-11T10:40:54Z</dcterms:created>
  <dcterms:modified xsi:type="dcterms:W3CDTF">2026-10-11T10:56:21Z</dcterms:modified>
</cp:coreProperties>
</file>